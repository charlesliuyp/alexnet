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4.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5.xml" ContentType="application/vnd.openxmlformats-officedocument.presentationml.notesSlide+xml"/>
  <Override PartName="/ppt/comments/comment1.xml" ContentType="application/vnd.openxmlformats-officedocument.presentationml.comment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6.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7.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8.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9.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0.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1.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2.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3.xml" ContentType="application/vnd.openxmlformats-officedocument.presentationml.notesSlide+xml"/>
  <Override PartName="/ppt/comments/comment2.xml" ContentType="application/vnd.openxmlformats-officedocument.presentationml.comment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14.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5.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16.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17.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18.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9.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20.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22.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23.xml" ContentType="application/vnd.openxmlformats-officedocument.presentationml.notesSlide+xml"/>
  <Override PartName="/ppt/comments/comment3.xml" ContentType="application/vnd.openxmlformats-officedocument.presentationml.comment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9" r:id="rId2"/>
    <p:sldId id="262" r:id="rId3"/>
    <p:sldId id="268" r:id="rId4"/>
    <p:sldId id="307" r:id="rId5"/>
    <p:sldId id="298" r:id="rId6"/>
    <p:sldId id="295" r:id="rId7"/>
    <p:sldId id="265" r:id="rId8"/>
    <p:sldId id="319" r:id="rId9"/>
    <p:sldId id="316" r:id="rId10"/>
    <p:sldId id="343" r:id="rId11"/>
    <p:sldId id="271" r:id="rId12"/>
    <p:sldId id="292" r:id="rId13"/>
    <p:sldId id="280" r:id="rId14"/>
    <p:sldId id="310" r:id="rId15"/>
    <p:sldId id="274" r:id="rId16"/>
    <p:sldId id="301" r:id="rId17"/>
    <p:sldId id="313" r:id="rId18"/>
    <p:sldId id="304" r:id="rId19"/>
    <p:sldId id="277" r:id="rId20"/>
    <p:sldId id="322" r:id="rId21"/>
    <p:sldId id="362" r:id="rId22"/>
    <p:sldId id="283" r:id="rId23"/>
    <p:sldId id="342" r:id="rId24"/>
    <p:sldId id="344" r:id="rId25"/>
    <p:sldId id="345" r:id="rId26"/>
    <p:sldId id="325" r:id="rId27"/>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liuyp" initials="c"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93" d="100"/>
          <a:sy n="93" d="100"/>
        </p:scale>
        <p:origin x="692" y="76"/>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E:\&#21016;&#23431;&#40527;\&#22823;&#23398;\&#23398;&#20064;\&#27604;&#36187;\&#25361;&#25112;&#26479;\&#24037;&#20316;&#31807;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E:\&#21016;&#23431;&#40527;\&#22823;&#23398;\&#23398;&#20064;\&#27604;&#36187;\&#25361;&#25112;&#26479;\&#24037;&#20316;&#31807;11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E:\&#21016;&#23431;&#40527;\&#22823;&#23398;\&#23398;&#20064;\&#27604;&#36187;\&#25361;&#25112;&#26479;\&#24037;&#20316;&#31807;111.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E:\&#21016;&#23431;&#40527;\&#22823;&#23398;\&#23398;&#20064;\&#27604;&#36187;\&#25361;&#25112;&#26479;\&#24037;&#20316;&#31807;11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a:t>市场对比</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barChart>
        <c:barDir val="col"/>
        <c:grouping val="clustered"/>
        <c:varyColors val="0"/>
        <c:ser>
          <c:idx val="0"/>
          <c:order val="0"/>
          <c:tx>
            <c:strRef>
              <c:f>[工作簿1.xlsx]Sheet1!$C$49</c:f>
              <c:strCache>
                <c:ptCount val="1"/>
                <c:pt idx="0">
                  <c:v>河南兆迪公司</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[工作簿1.xlsx]Sheet1!$C$50:$C$51</c:f>
              <c:numCache>
                <c:formatCode>0.00%</c:formatCode>
                <c:ptCount val="2"/>
                <c:pt idx="0">
                  <c:v>0.8</c:v>
                </c:pt>
                <c:pt idx="1">
                  <c:v>0.75</c:v>
                </c:pt>
              </c:numCache>
            </c:numRef>
          </c:val>
          <c:extLst>
            <c:ext xmlns:c16="http://schemas.microsoft.com/office/drawing/2014/chart" uri="{C3380CC4-5D6E-409C-BE32-E72D297353CC}">
              <c16:uniqueId val="{00000000-646C-42BE-AFF9-3D2B09895511}"/>
            </c:ext>
          </c:extLst>
        </c:ser>
        <c:ser>
          <c:idx val="1"/>
          <c:order val="1"/>
          <c:tx>
            <c:strRef>
              <c:f>[工作簿1.xlsx]Sheet1!$D$49</c:f>
              <c:strCache>
                <c:ptCount val="1"/>
                <c:pt idx="0">
                  <c:v>深圳卫捕士公司 </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[工作簿1.xlsx]Sheet1!$D$50:$D$51</c:f>
              <c:numCache>
                <c:formatCode>0.00%</c:formatCode>
                <c:ptCount val="2"/>
                <c:pt idx="0">
                  <c:v>0.65</c:v>
                </c:pt>
                <c:pt idx="1">
                  <c:v>0.82</c:v>
                </c:pt>
              </c:numCache>
            </c:numRef>
          </c:val>
          <c:extLst>
            <c:ext xmlns:c16="http://schemas.microsoft.com/office/drawing/2014/chart" uri="{C3380CC4-5D6E-409C-BE32-E72D297353CC}">
              <c16:uniqueId val="{00000001-646C-42BE-AFF9-3D2B09895511}"/>
            </c:ext>
          </c:extLst>
        </c:ser>
        <c:ser>
          <c:idx val="2"/>
          <c:order val="2"/>
          <c:tx>
            <c:strRef>
              <c:f>[工作簿1.xlsx]Sheet1!$E$49</c:f>
              <c:strCache>
                <c:ptCount val="1"/>
                <c:pt idx="0">
                  <c:v>杭州睿智公司</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[工作簿1.xlsx]Sheet1!$E$50:$E$51</c:f>
              <c:numCache>
                <c:formatCode>0.00%</c:formatCode>
                <c:ptCount val="2"/>
                <c:pt idx="0">
                  <c:v>0.86</c:v>
                </c:pt>
                <c:pt idx="1">
                  <c:v>0.88</c:v>
                </c:pt>
              </c:numCache>
            </c:numRef>
          </c:val>
          <c:extLst>
            <c:ext xmlns:c16="http://schemas.microsoft.com/office/drawing/2014/chart" uri="{C3380CC4-5D6E-409C-BE32-E72D297353CC}">
              <c16:uniqueId val="{00000002-646C-42BE-AFF9-3D2B09895511}"/>
            </c:ext>
          </c:extLst>
        </c:ser>
        <c:ser>
          <c:idx val="3"/>
          <c:order val="3"/>
          <c:tx>
            <c:strRef>
              <c:f>[工作簿1.xlsx]Sheet1!$F$49</c:f>
              <c:strCache>
                <c:ptCount val="1"/>
                <c:pt idx="0">
                  <c:v>病虫害识别系统</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[工作簿1.xlsx]Sheet1!$F$50:$F$51</c:f>
              <c:numCache>
                <c:formatCode>0.00%</c:formatCode>
                <c:ptCount val="2"/>
                <c:pt idx="0">
                  <c:v>0.996</c:v>
                </c:pt>
                <c:pt idx="1">
                  <c:v>0.998</c:v>
                </c:pt>
              </c:numCache>
            </c:numRef>
          </c:val>
          <c:extLst>
            <c:ext xmlns:c16="http://schemas.microsoft.com/office/drawing/2014/chart" uri="{C3380CC4-5D6E-409C-BE32-E72D297353CC}">
              <c16:uniqueId val="{00000003-646C-42BE-AFF9-3D2B09895511}"/>
            </c:ext>
          </c:extLst>
        </c:ser>
        <c:dLbls>
          <c:showLegendKey val="0"/>
          <c:showVal val="1"/>
          <c:showCatName val="0"/>
          <c:showSerName val="0"/>
          <c:showPercent val="0"/>
          <c:showBubbleSize val="0"/>
        </c:dLbls>
        <c:gapWidth val="246"/>
        <c:overlap val="-28"/>
        <c:axId val="795662346"/>
        <c:axId val="287847405"/>
      </c:barChart>
      <c:catAx>
        <c:axId val="795662346"/>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287847405"/>
        <c:crosses val="autoZero"/>
        <c:auto val="1"/>
        <c:lblAlgn val="ctr"/>
        <c:lblOffset val="100"/>
        <c:noMultiLvlLbl val="0"/>
      </c:catAx>
      <c:valAx>
        <c:axId val="287847405"/>
        <c:scaling>
          <c:orientation val="minMax"/>
        </c:scaling>
        <c:delete val="0"/>
        <c:axPos val="l"/>
        <c:majorGridlines>
          <c:spPr>
            <a:ln w="9525" cap="flat" cmpd="sng" algn="ctr">
              <a:solidFill>
                <a:schemeClr val="lt1">
                  <a:lumMod val="90200"/>
                </a:schemeClr>
              </a:solidFill>
              <a:round/>
            </a:ln>
            <a:effectLst/>
          </c:spPr>
        </c:majorGridlines>
        <c:numFmt formatCode="0.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95662346"/>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ltLang="en-US"/>
          </a:p>
        </c:rich>
      </c:tx>
      <c:layout>
        <c:manualLayout>
          <c:xMode val="edge"/>
          <c:yMode val="edge"/>
          <c:x val="0.40464849607479902"/>
          <c:y val="2.8539717773902001E-2"/>
        </c:manualLayout>
      </c:layout>
      <c:overlay val="0"/>
      <c:spPr>
        <a:noFill/>
        <a:ln>
          <a:noFill/>
        </a:ln>
        <a:effectLst/>
      </c:spPr>
    </c:title>
    <c:autoTitleDeleted val="0"/>
    <c:plotArea>
      <c:layout/>
      <c:barChart>
        <c:barDir val="col"/>
        <c:grouping val="clustered"/>
        <c:varyColors val="0"/>
        <c:ser>
          <c:idx val="0"/>
          <c:order val="0"/>
          <c:tx>
            <c:strRef>
              <c:f>[工作簿111.xlsx]Sheet1!$G$2</c:f>
              <c:strCache>
                <c:ptCount val="1"/>
                <c:pt idx="0">
                  <c:v>回报率</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f>'[工作簿1 的副本.xlsx]Sheet1'!$B$3:$B$9</c:f>
              <c:numCache>
                <c:formatCode>General</c:formatCode>
                <c:ptCount val="7"/>
                <c:pt idx="0">
                  <c:v>2024</c:v>
                </c:pt>
                <c:pt idx="1">
                  <c:v>2025</c:v>
                </c:pt>
                <c:pt idx="2">
                  <c:v>2026</c:v>
                </c:pt>
                <c:pt idx="3">
                  <c:v>2027</c:v>
                </c:pt>
                <c:pt idx="4">
                  <c:v>2028</c:v>
                </c:pt>
                <c:pt idx="5">
                  <c:v>2029</c:v>
                </c:pt>
                <c:pt idx="6">
                  <c:v>2030</c:v>
                </c:pt>
              </c:numCache>
            </c:numRef>
          </c:cat>
          <c:val>
            <c:numRef>
              <c:f>'[工作簿1 的副本.xlsx]Sheet1'!$G$3:$G$9</c:f>
              <c:numCache>
                <c:formatCode>0%</c:formatCode>
                <c:ptCount val="7"/>
                <c:pt idx="0">
                  <c:v>-0.218181818181818</c:v>
                </c:pt>
                <c:pt idx="1">
                  <c:v>-0.19402985074626899</c:v>
                </c:pt>
                <c:pt idx="2">
                  <c:v>5.5555555555555601E-2</c:v>
                </c:pt>
                <c:pt idx="3">
                  <c:v>0.118279569892473</c:v>
                </c:pt>
                <c:pt idx="4">
                  <c:v>0.21782178217821799</c:v>
                </c:pt>
                <c:pt idx="5">
                  <c:v>0.23469387755102</c:v>
                </c:pt>
                <c:pt idx="6">
                  <c:v>0.24545454545454501</c:v>
                </c:pt>
              </c:numCache>
            </c:numRef>
          </c:val>
          <c:extLst>
            <c:ext xmlns:c16="http://schemas.microsoft.com/office/drawing/2014/chart" uri="{C3380CC4-5D6E-409C-BE32-E72D297353CC}">
              <c16:uniqueId val="{00000000-8D9F-42E2-9622-89833747BEF9}"/>
            </c:ext>
          </c:extLst>
        </c:ser>
        <c:dLbls>
          <c:showLegendKey val="0"/>
          <c:showVal val="1"/>
          <c:showCatName val="0"/>
          <c:showSerName val="0"/>
          <c:showPercent val="0"/>
          <c:showBubbleSize val="0"/>
        </c:dLbls>
        <c:gapWidth val="150"/>
        <c:overlap val="-25"/>
        <c:axId val="2064819376"/>
        <c:axId val="2064832336"/>
        <c:extLst>
          <c:ext xmlns:c15="http://schemas.microsoft.com/office/drawing/2012/chart" uri="{02D57815-91ED-43cb-92C2-25804820EDAC}">
            <c15:filteredBarSeries>
              <c15:ser>
                <c:idx val="1"/>
                <c:order val="1"/>
                <c:tx>
                  <c:strRef>
                    <c:extLst>
                      <c:ext uri="{02D57815-91ED-43cb-92C2-25804820EDAC}">
                        <c15:formulaRef>
                          <c15:sqref>[工作簿111.xlsx]Sheet1!$C$1:$C$2</c15:sqref>
                        </c15:formulaRef>
                      </c:ext>
                    </c:extLst>
                    <c:strCache>
                      <c:ptCount val="1"/>
                      <c:pt idx="0">
                        <c:v>3-5年预计收入图 支出</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{550000,670000,900000,930000,1010000,980000,1100000}</c15:sqref>
                        </c15:formulaRef>
                      </c:ext>
                    </c:extLst>
                    <c:numCache>
                      <c:formatCode>General</c:formatCode>
                      <c:ptCount val="7"/>
                      <c:pt idx="0">
                        <c:v>550000</c:v>
                      </c:pt>
                      <c:pt idx="1">
                        <c:v>670000</c:v>
                      </c:pt>
                      <c:pt idx="2">
                        <c:v>900000</c:v>
                      </c:pt>
                      <c:pt idx="3">
                        <c:v>930000</c:v>
                      </c:pt>
                      <c:pt idx="4">
                        <c:v>1010000</c:v>
                      </c:pt>
                      <c:pt idx="5">
                        <c:v>980000</c:v>
                      </c:pt>
                      <c:pt idx="6">
                        <c:v>1100000</c:v>
                      </c:pt>
                    </c:numCache>
                  </c:numRef>
                </c:val>
                <c:extLst>
                  <c:ext xmlns:c16="http://schemas.microsoft.com/office/drawing/2014/chart" uri="{C3380CC4-5D6E-409C-BE32-E72D297353CC}">
                    <c16:uniqueId val="{00000001-8D9F-42E2-9622-89833747BEF9}"/>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[工作簿111.xlsx]Sheet1!$D$1:$D$2</c15:sqref>
                        </c15:formulaRef>
                      </c:ext>
                    </c:extLst>
                    <c:strCache>
                      <c:ptCount val="1"/>
                      <c:pt idx="0">
                        <c:v>3-5年预计收入图 收入</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{430000,540000,950000,1040000,1230000,1210000,1370000}</c15:sqref>
                        </c15:formulaRef>
                      </c:ext>
                    </c:extLst>
                    <c:numCache>
                      <c:formatCode>General</c:formatCode>
                      <c:ptCount val="7"/>
                      <c:pt idx="0">
                        <c:v>430000</c:v>
                      </c:pt>
                      <c:pt idx="1">
                        <c:v>540000</c:v>
                      </c:pt>
                      <c:pt idx="2">
                        <c:v>950000</c:v>
                      </c:pt>
                      <c:pt idx="3">
                        <c:v>1040000</c:v>
                      </c:pt>
                      <c:pt idx="4">
                        <c:v>1230000</c:v>
                      </c:pt>
                      <c:pt idx="5">
                        <c:v>1210000</c:v>
                      </c:pt>
                      <c:pt idx="6">
                        <c:v>1370000</c:v>
                      </c:pt>
                    </c:numCache>
                  </c:numRef>
                </c:val>
                <c:extLst>
                  <c:ext xmlns:c16="http://schemas.microsoft.com/office/drawing/2014/chart" uri="{C3380CC4-5D6E-409C-BE32-E72D297353CC}">
                    <c16:uniqueId val="{00000002-8D9F-42E2-9622-89833747BEF9}"/>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[工作簿111.xlsx]Sheet1!$E$1:$E$2</c15:sqref>
                        </c15:formulaRef>
                      </c:ext>
                    </c:extLst>
                    <c:strCache>
                      <c:ptCount val="1"/>
                      <c:pt idx="0">
                        <c:v>3-5年预计收入图 盈利</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{-120000,-130000,50000,110000,220000,230000,270000}</c15:sqref>
                        </c15:formulaRef>
                      </c:ext>
                    </c:extLst>
                    <c:numCache>
                      <c:formatCode>General</c:formatCode>
                      <c:ptCount val="7"/>
                      <c:pt idx="0">
                        <c:v>-120000</c:v>
                      </c:pt>
                      <c:pt idx="1">
                        <c:v>-130000</c:v>
                      </c:pt>
                      <c:pt idx="2">
                        <c:v>50000</c:v>
                      </c:pt>
                      <c:pt idx="3">
                        <c:v>110000</c:v>
                      </c:pt>
                      <c:pt idx="4">
                        <c:v>220000</c:v>
                      </c:pt>
                      <c:pt idx="5">
                        <c:v>230000</c:v>
                      </c:pt>
                      <c:pt idx="6">
                        <c:v>270000</c:v>
                      </c:pt>
                    </c:numCache>
                  </c:numRef>
                </c:val>
                <c:extLst>
                  <c:ext xmlns:c16="http://schemas.microsoft.com/office/drawing/2014/chart" uri="{C3380CC4-5D6E-409C-BE32-E72D297353CC}">
                    <c16:uniqueId val="{00000003-8D9F-42E2-9622-89833747BEF9}"/>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[工作簿111.xlsx]Sheet1!$F$1:$F$2</c15:sqref>
                        </c15:formulaRef>
                      </c:ext>
                    </c:extLst>
                    <c:strCache>
                      <c:ptCount val="1"/>
                      <c:pt idx="0">
                        <c:v>3-5年预计收入图 结余</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c15:sqref>
                        </c15:formulaRef>
                      </c:ext>
                    </c:extLst>
                  </c:numRef>
                </c:val>
                <c:extLst>
                  <c:ext xmlns:c16="http://schemas.microsoft.com/office/drawing/2014/chart" uri="{C3380CC4-5D6E-409C-BE32-E72D297353CC}">
                    <c16:uniqueId val="{00000004-8D9F-42E2-9622-89833747BEF9}"/>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[工作簿111.xlsx]Sheet1!$G$1:$G$2</c15:sqref>
                        </c15:formulaRef>
                      </c:ext>
                    </c:extLst>
                    <c:strCache>
                      <c:ptCount val="1"/>
                      <c:pt idx="0">
                        <c:v>3-5年预计收入图 回报率</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{-0.218181818181818,-0.194029850746269,0.0555555555555556,0.118279569892473,0.217821782178218,0.23469387755102,0.245454545454545}</c15:sqref>
                        </c15:formulaRef>
                      </c:ext>
                    </c:extLst>
                    <c:numCache>
                      <c:formatCode>0%</c:formatCode>
                      <c:ptCount val="7"/>
                      <c:pt idx="0">
                        <c:v>-0.218181818181818</c:v>
                      </c:pt>
                      <c:pt idx="1">
                        <c:v>-0.19402985074626899</c:v>
                      </c:pt>
                      <c:pt idx="2">
                        <c:v>5.5555555555555601E-2</c:v>
                      </c:pt>
                      <c:pt idx="3">
                        <c:v>0.118279569892473</c:v>
                      </c:pt>
                      <c:pt idx="4">
                        <c:v>0.21782178217821799</c:v>
                      </c:pt>
                      <c:pt idx="5">
                        <c:v>0.23469387755102</c:v>
                      </c:pt>
                      <c:pt idx="6">
                        <c:v>0.24545454545454501</c:v>
                      </c:pt>
                    </c:numCache>
                  </c:numRef>
                </c:val>
                <c:extLst>
                  <c:ext xmlns:c16="http://schemas.microsoft.com/office/drawing/2014/chart" uri="{C3380CC4-5D6E-409C-BE32-E72D297353CC}">
                    <c16:uniqueId val="{00000005-8D9F-42E2-9622-89833747BEF9}"/>
                  </c:ext>
                </c:extLst>
              </c15:ser>
            </c15:filteredBarSeries>
          </c:ext>
        </c:extLst>
      </c:barChart>
      <c:catAx>
        <c:axId val="20648193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2064832336"/>
        <c:crosses val="autoZero"/>
        <c:auto val="1"/>
        <c:lblAlgn val="ctr"/>
        <c:lblOffset val="100"/>
        <c:noMultiLvlLbl val="0"/>
      </c:catAx>
      <c:valAx>
        <c:axId val="2064832336"/>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out"/>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206481937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ltLang="en-US"/>
          </a:p>
        </c:rich>
      </c:tx>
      <c:overlay val="0"/>
      <c:spPr>
        <a:noFill/>
        <a:ln>
          <a:noFill/>
        </a:ln>
        <a:effectLst/>
      </c:spPr>
    </c:title>
    <c:autoTitleDeleted val="0"/>
    <c:plotArea>
      <c:layout/>
      <c:barChart>
        <c:barDir val="col"/>
        <c:grouping val="clustered"/>
        <c:varyColors val="0"/>
        <c:ser>
          <c:idx val="1"/>
          <c:order val="1"/>
          <c:tx>
            <c:strRef>
              <c:f>[工作簿111.xlsx]Sheet1!$C$2</c:f>
              <c:strCache>
                <c:ptCount val="1"/>
                <c:pt idx="0">
                  <c:v>支出</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trendline>
            <c:spPr>
              <a:ln w="19050" cap="rnd" cmpd="sng" algn="ctr">
                <a:solidFill>
                  <a:schemeClr val="accent2"/>
                </a:solidFill>
                <a:prstDash val="sysDot"/>
                <a:round/>
              </a:ln>
              <a:effectLst/>
            </c:spPr>
            <c:trendlineType val="linear"/>
            <c:dispRSqr val="0"/>
            <c:dispEq val="0"/>
          </c:trendline>
          <c:cat>
            <c:numRef>
              <c:f>'[工作簿1 的副本.xlsx]Sheet1'!$B$3:$B$9</c:f>
              <c:numCache>
                <c:formatCode>General</c:formatCode>
                <c:ptCount val="7"/>
                <c:pt idx="0">
                  <c:v>2024</c:v>
                </c:pt>
                <c:pt idx="1">
                  <c:v>2025</c:v>
                </c:pt>
                <c:pt idx="2">
                  <c:v>2026</c:v>
                </c:pt>
                <c:pt idx="3">
                  <c:v>2027</c:v>
                </c:pt>
                <c:pt idx="4">
                  <c:v>2028</c:v>
                </c:pt>
                <c:pt idx="5">
                  <c:v>2029</c:v>
                </c:pt>
                <c:pt idx="6">
                  <c:v>2030</c:v>
                </c:pt>
              </c:numCache>
            </c:numRef>
          </c:cat>
          <c:val>
            <c:numRef>
              <c:f>'[工作簿1 的副本.xlsx]Sheet1'!$C$3:$C$9</c:f>
              <c:numCache>
                <c:formatCode>General</c:formatCode>
                <c:ptCount val="7"/>
                <c:pt idx="0">
                  <c:v>550000</c:v>
                </c:pt>
                <c:pt idx="1">
                  <c:v>670000</c:v>
                </c:pt>
                <c:pt idx="2">
                  <c:v>900000</c:v>
                </c:pt>
                <c:pt idx="3">
                  <c:v>930000</c:v>
                </c:pt>
                <c:pt idx="4">
                  <c:v>1010000</c:v>
                </c:pt>
                <c:pt idx="5">
                  <c:v>980000</c:v>
                </c:pt>
                <c:pt idx="6">
                  <c:v>1100000</c:v>
                </c:pt>
              </c:numCache>
            </c:numRef>
          </c:val>
          <c:extLst>
            <c:ext xmlns:c16="http://schemas.microsoft.com/office/drawing/2014/chart" uri="{C3380CC4-5D6E-409C-BE32-E72D297353CC}">
              <c16:uniqueId val="{00000001-0C5F-4CAC-ADEF-D3A6B2A2C708}"/>
            </c:ext>
          </c:extLst>
        </c:ser>
        <c:dLbls>
          <c:showLegendKey val="0"/>
          <c:showVal val="1"/>
          <c:showCatName val="0"/>
          <c:showSerName val="0"/>
          <c:showPercent val="0"/>
          <c:showBubbleSize val="0"/>
        </c:dLbls>
        <c:gapWidth val="246"/>
        <c:overlap val="-28"/>
        <c:axId val="730854693"/>
        <c:axId val="775969015"/>
        <c:extLst>
          <c:ext xmlns:c15="http://schemas.microsoft.com/office/drawing/2012/chart" uri="{02D57815-91ED-43cb-92C2-25804820EDAC}">
            <c15:filteredBarSeries>
              <c15:ser>
                <c:idx val="0"/>
                <c:order val="0"/>
                <c:tx>
                  <c:strRef>
                    <c:extLst>
                      <c:ext uri="{02D57815-91ED-43cb-92C2-25804820EDAC}">
                        <c15:formulaRef>
                          <c15:sqref>[工作簿111.xlsx]Sheet1!$B$2</c15:sqref>
                        </c15:formulaRef>
                      </c:ext>
                    </c:extLst>
                    <c:strCache>
                      <c:ptCount val="1"/>
                      <c:pt idx="0">
                        <c:v>年份</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{2024,2025,2026,2027,2028,2029,2030}</c15:sqref>
                        </c15:formulaRef>
                      </c:ext>
                    </c:extLst>
                    <c:numCache>
                      <c:formatCode>General</c:formatCode>
                      <c:ptCount val="7"/>
                      <c:pt idx="0">
                        <c:v>2024</c:v>
                      </c:pt>
                      <c:pt idx="1">
                        <c:v>2025</c:v>
                      </c:pt>
                      <c:pt idx="2">
                        <c:v>2026</c:v>
                      </c:pt>
                      <c:pt idx="3">
                        <c:v>2027</c:v>
                      </c:pt>
                      <c:pt idx="4">
                        <c:v>2028</c:v>
                      </c:pt>
                      <c:pt idx="5">
                        <c:v>2029</c:v>
                      </c:pt>
                      <c:pt idx="6">
                        <c:v>2030</c:v>
                      </c:pt>
                    </c:numCache>
                  </c:numRef>
                </c:val>
                <c:extLst>
                  <c:ext xmlns:c16="http://schemas.microsoft.com/office/drawing/2014/chart" uri="{C3380CC4-5D6E-409C-BE32-E72D297353CC}">
                    <c16:uniqueId val="{00000002-0C5F-4CAC-ADEF-D3A6B2A2C708}"/>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[工作簿111.xlsx]Sheet1!$D$2</c15:sqref>
                        </c15:formulaRef>
                      </c:ext>
                    </c:extLst>
                    <c:strCache>
                      <c:ptCount val="1"/>
                      <c:pt idx="0">
                        <c:v>收入</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{430000,540000,950000,1040000,1230000,1210000,1370000}</c15:sqref>
                        </c15:formulaRef>
                      </c:ext>
                    </c:extLst>
                    <c:numCache>
                      <c:formatCode>General</c:formatCode>
                      <c:ptCount val="7"/>
                      <c:pt idx="0">
                        <c:v>430000</c:v>
                      </c:pt>
                      <c:pt idx="1">
                        <c:v>540000</c:v>
                      </c:pt>
                      <c:pt idx="2">
                        <c:v>950000</c:v>
                      </c:pt>
                      <c:pt idx="3">
                        <c:v>1040000</c:v>
                      </c:pt>
                      <c:pt idx="4">
                        <c:v>1230000</c:v>
                      </c:pt>
                      <c:pt idx="5">
                        <c:v>1210000</c:v>
                      </c:pt>
                      <c:pt idx="6">
                        <c:v>1370000</c:v>
                      </c:pt>
                    </c:numCache>
                  </c:numRef>
                </c:val>
                <c:extLst>
                  <c:ext xmlns:c16="http://schemas.microsoft.com/office/drawing/2014/chart" uri="{C3380CC4-5D6E-409C-BE32-E72D297353CC}">
                    <c16:uniqueId val="{00000003-0C5F-4CAC-ADEF-D3A6B2A2C708}"/>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[工作簿111.xlsx]Sheet1!$E$2</c15:sqref>
                        </c15:formulaRef>
                      </c:ext>
                    </c:extLst>
                    <c:strCache>
                      <c:ptCount val="1"/>
                      <c:pt idx="0">
                        <c:v>盈利</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{-120000,-130000,50000,110000,220000,230000,270000}</c15:sqref>
                        </c15:formulaRef>
                      </c:ext>
                    </c:extLst>
                    <c:numCache>
                      <c:formatCode>General</c:formatCode>
                      <c:ptCount val="7"/>
                      <c:pt idx="0">
                        <c:v>-120000</c:v>
                      </c:pt>
                      <c:pt idx="1">
                        <c:v>-130000</c:v>
                      </c:pt>
                      <c:pt idx="2">
                        <c:v>50000</c:v>
                      </c:pt>
                      <c:pt idx="3">
                        <c:v>110000</c:v>
                      </c:pt>
                      <c:pt idx="4">
                        <c:v>220000</c:v>
                      </c:pt>
                      <c:pt idx="5">
                        <c:v>230000</c:v>
                      </c:pt>
                      <c:pt idx="6">
                        <c:v>270000</c:v>
                      </c:pt>
                    </c:numCache>
                  </c:numRef>
                </c:val>
                <c:extLst>
                  <c:ext xmlns:c16="http://schemas.microsoft.com/office/drawing/2014/chart" uri="{C3380CC4-5D6E-409C-BE32-E72D297353CC}">
                    <c16:uniqueId val="{00000004-0C5F-4CAC-ADEF-D3A6B2A2C708}"/>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[工作簿111.xlsx]Sheet1!$F$2</c15:sqref>
                        </c15:formulaRef>
                      </c:ext>
                    </c:extLst>
                    <c:strCache>
                      <c:ptCount val="1"/>
                      <c:pt idx="0">
                        <c:v>结余</c:v>
                      </c:pt>
                    </c:strCache>
                  </c:strRef>
                </c:tx>
                <c:spPr>
                  <a:solidFill>
                    <a:schemeClr val="accent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c15:sqref>
                        </c15:formulaRef>
                      </c:ext>
                    </c:extLst>
                  </c:numRef>
                </c:val>
                <c:extLst>
                  <c:ext xmlns:c16="http://schemas.microsoft.com/office/drawing/2014/chart" uri="{C3380CC4-5D6E-409C-BE32-E72D297353CC}">
                    <c16:uniqueId val="{00000005-0C5F-4CAC-ADEF-D3A6B2A2C708}"/>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[工作簿111.xlsx]Sheet1!$G$2</c15:sqref>
                        </c15:formulaRef>
                      </c:ext>
                    </c:extLst>
                    <c:strCache>
                      <c:ptCount val="1"/>
                      <c:pt idx="0">
                        <c:v>回报率</c:v>
                      </c:pt>
                    </c:strCache>
                  </c:strRef>
                </c:tx>
                <c:spPr>
                  <a:solidFill>
                    <a:schemeClr val="accent6"/>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extLst xmlns:c15="http://schemas.microsoft.com/office/drawing/2012/chart">
                      <c:ext xmlns:c15="http://schemas.microsoft.com/office/drawing/2012/chart" uri="{02D57815-91ED-43cb-92C2-25804820EDAC}">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xmlns:c15="http://schemas.microsoft.com/office/drawing/2012/chart">
                      <c:ext xmlns:c15="http://schemas.microsoft.com/office/drawing/2012/chart" uri="{02D57815-91ED-43cb-92C2-25804820EDAC}">
                        <c15:formulaRef>
                          <c15:sqref>{-0.218181818181818,-0.194029850746269,0.0555555555555556,0.118279569892473,0.217821782178218,0.23469387755102,0.245454545454545}</c15:sqref>
                        </c15:formulaRef>
                      </c:ext>
                    </c:extLst>
                    <c:numCache>
                      <c:formatCode>0%</c:formatCode>
                      <c:ptCount val="7"/>
                      <c:pt idx="0">
                        <c:v>-0.218181818181818</c:v>
                      </c:pt>
                      <c:pt idx="1">
                        <c:v>-0.19402985074626899</c:v>
                      </c:pt>
                      <c:pt idx="2">
                        <c:v>5.5555555555555601E-2</c:v>
                      </c:pt>
                      <c:pt idx="3">
                        <c:v>0.118279569892473</c:v>
                      </c:pt>
                      <c:pt idx="4">
                        <c:v>0.21782178217821799</c:v>
                      </c:pt>
                      <c:pt idx="5">
                        <c:v>0.23469387755102</c:v>
                      </c:pt>
                      <c:pt idx="6">
                        <c:v>0.24545454545454501</c:v>
                      </c:pt>
                    </c:numCache>
                  </c:numRef>
                </c:val>
                <c:extLst>
                  <c:ext xmlns:c16="http://schemas.microsoft.com/office/drawing/2014/chart" uri="{C3380CC4-5D6E-409C-BE32-E72D297353CC}">
                    <c16:uniqueId val="{00000006-0C5F-4CAC-ADEF-D3A6B2A2C708}"/>
                  </c:ext>
                </c:extLst>
              </c15:ser>
            </c15:filteredBarSeries>
          </c:ext>
        </c:extLst>
      </c:barChart>
      <c:catAx>
        <c:axId val="730854693"/>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75969015"/>
        <c:crosses val="autoZero"/>
        <c:auto val="1"/>
        <c:lblAlgn val="ctr"/>
        <c:lblOffset val="100"/>
        <c:noMultiLvlLbl val="0"/>
      </c:catAx>
      <c:valAx>
        <c:axId val="775969015"/>
        <c:scaling>
          <c:orientation val="minMax"/>
        </c:scaling>
        <c:delete val="0"/>
        <c:axPos val="l"/>
        <c:majorGridlines>
          <c:spPr>
            <a:ln w="9525" cap="flat" cmpd="sng" algn="ctr">
              <a:solidFill>
                <a:schemeClr val="lt1">
                  <a:lumMod val="902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30854693"/>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a:t>财务预报图</a:t>
            </a:r>
          </a:p>
        </c:rich>
      </c:tx>
      <c:overlay val="0"/>
      <c:spPr>
        <a:noFill/>
        <a:ln>
          <a:noFill/>
        </a:ln>
        <a:effectLst/>
      </c:spPr>
      <c:txPr>
        <a:bodyPr rot="0" spcFirstLastPara="0" vertOverflow="ellipsis" vert="horz" wrap="square" anchor="ctr" anchorCtr="1" forceAA="0"/>
        <a:lstStyle/>
        <a:p>
          <a:pPr defTabSz="914400">
            <a:defRPr lang="zh-CN"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title>
    <c:autoTitleDeleted val="0"/>
    <c:plotArea>
      <c:layout>
        <c:manualLayout>
          <c:layoutTarget val="inner"/>
          <c:xMode val="edge"/>
          <c:yMode val="edge"/>
          <c:x val="8.3277777777777798E-2"/>
          <c:y val="0.280092592592593"/>
          <c:w val="0.88616666666666699"/>
          <c:h val="0.57763888888888903"/>
        </c:manualLayout>
      </c:layout>
      <c:barChart>
        <c:barDir val="col"/>
        <c:grouping val="clustered"/>
        <c:varyColors val="0"/>
        <c:ser>
          <c:idx val="0"/>
          <c:order val="0"/>
          <c:tx>
            <c:strRef>
              <c:f>[工作簿111.xlsx]Sheet1!$F$2</c:f>
              <c:strCache>
                <c:ptCount val="1"/>
                <c:pt idx="0">
                  <c:v>盈利</c:v>
                </c:pt>
              </c:strCache>
            </c:strRef>
          </c:tx>
          <c:spPr>
            <a:solidFill>
              <a:srgbClr val="365B7C"/>
            </a:solidFill>
            <a:ln>
              <a:noFill/>
            </a:ln>
            <a:effectLst/>
          </c:spPr>
          <c:invertIfNegative val="0"/>
          <c:val>
            <c:numRef>
              <c:f>[工作簿111.xlsx]Sheet1!$F$3:$F$9</c:f>
              <c:numCache>
                <c:formatCode>General</c:formatCode>
                <c:ptCount val="7"/>
                <c:pt idx="0">
                  <c:v>-120000</c:v>
                </c:pt>
                <c:pt idx="1">
                  <c:v>-130000</c:v>
                </c:pt>
                <c:pt idx="2">
                  <c:v>50000</c:v>
                </c:pt>
                <c:pt idx="3">
                  <c:v>110000</c:v>
                </c:pt>
                <c:pt idx="4">
                  <c:v>220000</c:v>
                </c:pt>
                <c:pt idx="5">
                  <c:v>230000</c:v>
                </c:pt>
                <c:pt idx="6">
                  <c:v>270000</c:v>
                </c:pt>
              </c:numCache>
            </c:numRef>
          </c:val>
          <c:extLst>
            <c:ext xmlns:c16="http://schemas.microsoft.com/office/drawing/2014/chart" uri="{C3380CC4-5D6E-409C-BE32-E72D297353CC}">
              <c16:uniqueId val="{00000000-03D6-47FD-9CE0-E4A8BB04AC46}"/>
            </c:ext>
          </c:extLst>
        </c:ser>
        <c:dLbls>
          <c:showLegendKey val="0"/>
          <c:showVal val="0"/>
          <c:showCatName val="0"/>
          <c:showSerName val="0"/>
          <c:showPercent val="0"/>
          <c:showBubbleSize val="0"/>
        </c:dLbls>
        <c:gapWidth val="219"/>
        <c:overlap val="-27"/>
        <c:axId val="730854693"/>
        <c:axId val="775969015"/>
      </c:barChart>
      <c:lineChart>
        <c:grouping val="standard"/>
        <c:varyColors val="0"/>
        <c:ser>
          <c:idx val="1"/>
          <c:order val="1"/>
          <c:tx>
            <c:strRef>
              <c:f>[工作簿111.xlsx]Sheet1!$G$2</c:f>
              <c:strCache>
                <c:ptCount val="1"/>
                <c:pt idx="0">
                  <c:v>盈 利</c:v>
                </c:pt>
              </c:strCache>
            </c:strRef>
          </c:tx>
          <c:spPr>
            <a:ln w="28575" cap="rnd">
              <a:solidFill>
                <a:schemeClr val="accent2"/>
              </a:solidFill>
              <a:round/>
            </a:ln>
            <a:effectLst/>
          </c:spPr>
          <c:marker>
            <c:symbol val="none"/>
          </c:marker>
          <c:val>
            <c:numRef>
              <c:f>[工作簿111.xlsx]Sheet1!$G$3:$G$9</c:f>
              <c:numCache>
                <c:formatCode>General</c:formatCode>
                <c:ptCount val="7"/>
                <c:pt idx="0">
                  <c:v>-120000</c:v>
                </c:pt>
                <c:pt idx="1">
                  <c:v>-130000</c:v>
                </c:pt>
                <c:pt idx="2">
                  <c:v>50000</c:v>
                </c:pt>
                <c:pt idx="3">
                  <c:v>110000</c:v>
                </c:pt>
                <c:pt idx="4">
                  <c:v>220000</c:v>
                </c:pt>
                <c:pt idx="5">
                  <c:v>230000</c:v>
                </c:pt>
                <c:pt idx="6">
                  <c:v>270000</c:v>
                </c:pt>
              </c:numCache>
            </c:numRef>
          </c:val>
          <c:smooth val="0"/>
          <c:extLst>
            <c:ext xmlns:c16="http://schemas.microsoft.com/office/drawing/2014/chart" uri="{C3380CC4-5D6E-409C-BE32-E72D297353CC}">
              <c16:uniqueId val="{00000001-03D6-47FD-9CE0-E4A8BB04AC46}"/>
            </c:ext>
          </c:extLst>
        </c:ser>
        <c:dLbls>
          <c:showLegendKey val="0"/>
          <c:showVal val="0"/>
          <c:showCatName val="0"/>
          <c:showSerName val="0"/>
          <c:showPercent val="0"/>
          <c:showBubbleSize val="0"/>
        </c:dLbls>
        <c:marker val="1"/>
        <c:smooth val="0"/>
        <c:axId val="730854693"/>
        <c:axId val="775969015"/>
      </c:lineChart>
      <c:catAx>
        <c:axId val="73085469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775969015"/>
        <c:crosses val="autoZero"/>
        <c:auto val="1"/>
        <c:lblAlgn val="ctr"/>
        <c:lblOffset val="100"/>
        <c:noMultiLvlLbl val="0"/>
      </c:catAx>
      <c:valAx>
        <c:axId val="775969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730854693"/>
        <c:crosses val="autoZero"/>
        <c:crossBetween val="between"/>
      </c:valAx>
      <c:spPr>
        <a:noFill/>
        <a:ln>
          <a:noFill/>
        </a:ln>
        <a:effectLst/>
      </c:spPr>
    </c:plotArea>
    <c:legend>
      <c:legendPos val="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a:outerShdw blurRad="63500" dist="37357" dir="2700000" sx="0" sy="0" rotWithShape="0">
        <a:scrgbClr r="0" g="0" b="0"/>
      </a:outerShdw>
    </a:effectLst>
  </c:spPr>
  <c:txPr>
    <a:bodyPr/>
    <a:lstStyle/>
    <a:p>
      <a:pPr>
        <a:defRPr 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4-04-09T18:52:58.713" idx="4">
    <p:pos x="10" y="10"/>
    <p:text>12</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4-04-09T18:52:49.318" idx="3">
    <p:pos x="10" y="10"/>
    <p:text>14</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4-04-09T19:29:43.700" idx="6">
    <p:pos x="10" y="10"/>
    <p:text>1)3-5年预计收入图
100w 2-3年回本
回报率 20%
汇报周期 2-2.5年（24-30年
2.1)财务支出图
有升降
2.2)财务预报图
前两年 支出&gt;收入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91F18-C764-4B4C-A49B-948C30CF2968}" type="datetimeFigureOut">
              <a:rPr lang="zh-CN" altLang="en-US" smtClean="0"/>
              <a:t>2024/9/8</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850CD4-8AD4-4DE0-96F1-67A2075E356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2024/4/5 18:37:49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r>
              <a:rPr lang="zh-CN" altLang="en-US"/>
              <a:t>Generate By BIYOO ChatPPT.
HomePage：www.chat-ppt.com
AIGC 2024/4/9 13:13:56 [ID-0]
[AI生成内容仅供参考，请注意甄别准确性]</a:t>
            </a:r>
          </a:p>
        </p:txBody>
      </p:sp>
      <p:sp>
        <p:nvSpPr>
          <p:cNvPr id="4" name="灯片编号占位符 3"/>
          <p:cNvSpPr>
            <a:spLocks noGrp="1"/>
          </p:cNvSpPr>
          <p:nvPr>
            <p:ph type="sldNum" sz="quarter" idx="5"/>
          </p:nvPr>
        </p:nvSpPr>
        <p:spPr/>
        <p:txBody>
          <a:bodyPr/>
          <a:lstStyle/>
          <a:p>
            <a:fld id="{466BFC6C-AC6F-4B45-AEB6-063C38173DC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A83B0827-E7DA-46B1-8B8A-9FD091136380}" type="datetimeFigureOut">
              <a:rPr lang="en-US" smtClean="0"/>
              <a:t>9/8/2024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CB32D521-D098-4D26-B073-D333369BD700}" type="datetimeFigureOut">
              <a:rPr lang="en-US" smtClean="0"/>
              <a:t>9/8/2024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1A5F8300-898F-4A12-AF24-8B6F8B72C0B0}" type="datetimeFigureOut">
              <a:rPr lang="en-US" smtClean="0"/>
              <a:t>9/8/2024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85E118A3-A215-4AE5-9AFB-7656A824DC98}" type="datetimeFigureOut">
              <a:rPr lang="en-US" smtClean="0"/>
              <a:t>9/8/2024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154727F5-F41D-4891-ADDF-9A3110D68789}" type="datetimeFigureOut">
              <a:rPr lang="en-US" smtClean="0"/>
              <a:t>9/8/2024</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4986E8C5-077E-4B78-A7A9-90A99EAA052F}" type="datetimeFigureOut">
              <a:rPr lang="en-US" smtClean="0"/>
              <a:t>9/8/2024</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7DC1CEA4-4BE5-48F3-82C5-9A7B3F75C6E0}" type="datetimeFigureOut">
              <a:rPr lang="en-US" smtClean="0"/>
              <a:t>9/8/2024</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62506C1E-4D9A-4E40-B0AE-56BA561197FD}" type="datetimeFigureOut">
              <a:rPr lang="en-US" smtClean="0"/>
              <a:t>9/8/2024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2EE670D9-7894-4588-A31C-91BD12CC3EE8}" type="datetimeFigureOut">
              <a:rPr lang="en-US" smtClean="0"/>
              <a:t>9/8/2024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F14B86B0-A83A-4ABA-BDB3-3DCAA0B71CBC}" type="datetimeFigureOut">
              <a:rPr lang="en-US" smtClean="0"/>
              <a:t>9/8/2024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DBE9C4A-73CD-4642-8250-B5D900F6F1C7}" type="datetimeFigureOut">
              <a:rPr lang="en-US" smtClean="0"/>
              <a:t>9/8/2024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9/8/2024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xml"/><Relationship Id="rId7" Type="http://schemas.openxmlformats.org/officeDocument/2006/relationships/notesSlide" Target="../notesSlides/notesSlide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7.xml"/><Relationship Id="rId5" Type="http://schemas.openxmlformats.org/officeDocument/2006/relationships/tags" Target="../tags/tag6.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18" Type="http://schemas.openxmlformats.org/officeDocument/2006/relationships/tags" Target="../tags/tag24.xml"/><Relationship Id="rId26" Type="http://schemas.openxmlformats.org/officeDocument/2006/relationships/tags" Target="../tags/tag32.xml"/><Relationship Id="rId3" Type="http://schemas.openxmlformats.org/officeDocument/2006/relationships/tags" Target="../tags/tag9.xml"/><Relationship Id="rId21" Type="http://schemas.openxmlformats.org/officeDocument/2006/relationships/tags" Target="../tags/tag27.xml"/><Relationship Id="rId7" Type="http://schemas.openxmlformats.org/officeDocument/2006/relationships/tags" Target="../tags/tag13.xml"/><Relationship Id="rId12" Type="http://schemas.openxmlformats.org/officeDocument/2006/relationships/tags" Target="../tags/tag18.xml"/><Relationship Id="rId17" Type="http://schemas.openxmlformats.org/officeDocument/2006/relationships/tags" Target="../tags/tag23.xml"/><Relationship Id="rId25" Type="http://schemas.openxmlformats.org/officeDocument/2006/relationships/tags" Target="../tags/tag31.xml"/><Relationship Id="rId2" Type="http://schemas.openxmlformats.org/officeDocument/2006/relationships/tags" Target="../tags/tag8.xml"/><Relationship Id="rId16" Type="http://schemas.openxmlformats.org/officeDocument/2006/relationships/tags" Target="../tags/tag22.xml"/><Relationship Id="rId20" Type="http://schemas.openxmlformats.org/officeDocument/2006/relationships/tags" Target="../tags/tag26.xml"/><Relationship Id="rId29" Type="http://schemas.openxmlformats.org/officeDocument/2006/relationships/tags" Target="../tags/tag35.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24" Type="http://schemas.openxmlformats.org/officeDocument/2006/relationships/tags" Target="../tags/tag30.xml"/><Relationship Id="rId32" Type="http://schemas.openxmlformats.org/officeDocument/2006/relationships/image" Target="../media/image3.png"/><Relationship Id="rId5" Type="http://schemas.openxmlformats.org/officeDocument/2006/relationships/tags" Target="../tags/tag11.xml"/><Relationship Id="rId15" Type="http://schemas.openxmlformats.org/officeDocument/2006/relationships/tags" Target="../tags/tag21.xml"/><Relationship Id="rId23" Type="http://schemas.openxmlformats.org/officeDocument/2006/relationships/tags" Target="../tags/tag29.xml"/><Relationship Id="rId28" Type="http://schemas.openxmlformats.org/officeDocument/2006/relationships/tags" Target="../tags/tag34.xml"/><Relationship Id="rId10" Type="http://schemas.openxmlformats.org/officeDocument/2006/relationships/tags" Target="../tags/tag16.xml"/><Relationship Id="rId19" Type="http://schemas.openxmlformats.org/officeDocument/2006/relationships/tags" Target="../tags/tag25.xml"/><Relationship Id="rId31" Type="http://schemas.openxmlformats.org/officeDocument/2006/relationships/notesSlide" Target="../notesSlides/notesSlide2.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 Id="rId22" Type="http://schemas.openxmlformats.org/officeDocument/2006/relationships/tags" Target="../tags/tag28.xml"/><Relationship Id="rId27" Type="http://schemas.openxmlformats.org/officeDocument/2006/relationships/tags" Target="../tags/tag33.xml"/><Relationship Id="rId30"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8.xml"/><Relationship Id="rId7" Type="http://schemas.openxmlformats.org/officeDocument/2006/relationships/notesSlide" Target="../notesSlides/notesSlide3.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Layout" Target="../slideLayouts/slideLayout7.xml"/><Relationship Id="rId5" Type="http://schemas.openxmlformats.org/officeDocument/2006/relationships/tags" Target="../tags/tag40.xml"/><Relationship Id="rId4" Type="http://schemas.openxmlformats.org/officeDocument/2006/relationships/tags" Target="../tags/tag39.xml"/></Relationships>
</file>

<file path=ppt/slides/_rels/slide4.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image" Target="../media/image6.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image" Target="../media/image5.png"/><Relationship Id="rId5" Type="http://schemas.openxmlformats.org/officeDocument/2006/relationships/tags" Target="../tags/tag45.xml"/><Relationship Id="rId10" Type="http://schemas.openxmlformats.org/officeDocument/2006/relationships/notesSlide" Target="../notesSlides/notesSlide4.xml"/><Relationship Id="rId4" Type="http://schemas.openxmlformats.org/officeDocument/2006/relationships/tags" Target="../tags/tag44.xml"/><Relationship Id="rId9"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1.xml"/><Relationship Id="rId7" Type="http://schemas.openxmlformats.org/officeDocument/2006/relationships/notesSlide" Target="../notesSlides/notesSlide5.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Layout" Target="../slideLayouts/slideLayout7.xml"/><Relationship Id="rId5" Type="http://schemas.openxmlformats.org/officeDocument/2006/relationships/tags" Target="../tags/tag53.xml"/><Relationship Id="rId10" Type="http://schemas.openxmlformats.org/officeDocument/2006/relationships/comments" Target="../comments/comment1.xml"/><Relationship Id="rId4" Type="http://schemas.openxmlformats.org/officeDocument/2006/relationships/tags" Target="../tags/tag52.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tags" Target="../tags/tag71.xml"/><Relationship Id="rId3" Type="http://schemas.openxmlformats.org/officeDocument/2006/relationships/tags" Target="../tags/tag56.xml"/><Relationship Id="rId21" Type="http://schemas.openxmlformats.org/officeDocument/2006/relationships/tags" Target="../tags/tag74.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24" Type="http://schemas.openxmlformats.org/officeDocument/2006/relationships/notesSlide" Target="../notesSlides/notesSlide6.xml"/><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slideLayout" Target="../slideLayouts/slideLayout7.xml"/><Relationship Id="rId10" Type="http://schemas.openxmlformats.org/officeDocument/2006/relationships/tags" Target="../tags/tag63.xml"/><Relationship Id="rId19" Type="http://schemas.openxmlformats.org/officeDocument/2006/relationships/tags" Target="../tags/tag72.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tags" Target="../tags/tag75.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78.xml"/><Relationship Id="rId7" Type="http://schemas.openxmlformats.org/officeDocument/2006/relationships/notesSlide" Target="../notesSlides/notesSlide7.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slideLayout" Target="../slideLayouts/slideLayout7.xml"/><Relationship Id="rId5" Type="http://schemas.openxmlformats.org/officeDocument/2006/relationships/tags" Target="../tags/tag80.xml"/><Relationship Id="rId4" Type="http://schemas.openxmlformats.org/officeDocument/2006/relationships/tags" Target="../tags/tag79.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83.xml"/><Relationship Id="rId7" Type="http://schemas.openxmlformats.org/officeDocument/2006/relationships/slideLayout" Target="../slideLayouts/slideLayout7.xml"/><Relationship Id="rId12" Type="http://schemas.openxmlformats.org/officeDocument/2006/relationships/image" Target="../media/image10.jpe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9.jpeg"/><Relationship Id="rId5" Type="http://schemas.openxmlformats.org/officeDocument/2006/relationships/tags" Target="../tags/tag85.xml"/><Relationship Id="rId10" Type="http://schemas.openxmlformats.org/officeDocument/2006/relationships/image" Target="../media/image8.jpeg"/><Relationship Id="rId4" Type="http://schemas.openxmlformats.org/officeDocument/2006/relationships/tags" Target="../tags/tag84.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image" Target="../media/image12.png"/><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image" Target="../media/image11.jpeg"/><Relationship Id="rId2" Type="http://schemas.openxmlformats.org/officeDocument/2006/relationships/tags" Target="../tags/tag88.xml"/><Relationship Id="rId16" Type="http://schemas.openxmlformats.org/officeDocument/2006/relationships/notesSlide" Target="../notesSlides/notesSlide9.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slideLayout" Target="../slideLayouts/slideLayout7.xml"/><Relationship Id="rId10" Type="http://schemas.openxmlformats.org/officeDocument/2006/relationships/tags" Target="../tags/tag96.xml"/><Relationship Id="rId19" Type="http://schemas.openxmlformats.org/officeDocument/2006/relationships/image" Target="../media/image13.jpeg"/><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103.xml"/><Relationship Id="rId7" Type="http://schemas.openxmlformats.org/officeDocument/2006/relationships/slideLayout" Target="../slideLayouts/slideLayout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09.xml"/><Relationship Id="rId7" Type="http://schemas.openxmlformats.org/officeDocument/2006/relationships/notesSlide" Target="../notesSlides/notesSlide11.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slideLayout" Target="../slideLayouts/slideLayout7.xml"/><Relationship Id="rId5" Type="http://schemas.openxmlformats.org/officeDocument/2006/relationships/tags" Target="../tags/tag111.xml"/><Relationship Id="rId4" Type="http://schemas.openxmlformats.org/officeDocument/2006/relationships/tags" Target="../tags/tag110.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image" Target="../media/image15.png"/><Relationship Id="rId5" Type="http://schemas.openxmlformats.org/officeDocument/2006/relationships/tags" Target="../tags/tag116.xml"/><Relationship Id="rId10" Type="http://schemas.openxmlformats.org/officeDocument/2006/relationships/image" Target="../media/image5.png"/><Relationship Id="rId4" Type="http://schemas.openxmlformats.org/officeDocument/2006/relationships/tags" Target="../tags/tag115.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1.xml"/><Relationship Id="rId7" Type="http://schemas.openxmlformats.org/officeDocument/2006/relationships/image" Target="../media/image5.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tags" Target="../tags/tag122.xml"/><Relationship Id="rId9" Type="http://schemas.openxmlformats.org/officeDocument/2006/relationships/comments" Target="../comments/comment2.xml"/></Relationships>
</file>

<file path=ppt/slides/_rels/slide14.xml.rels><?xml version="1.0" encoding="UTF-8" standalone="yes"?>
<Relationships xmlns="http://schemas.openxmlformats.org/package/2006/relationships"><Relationship Id="rId3" Type="http://schemas.openxmlformats.org/officeDocument/2006/relationships/tags" Target="../tags/tag125.xml"/><Relationship Id="rId7" Type="http://schemas.openxmlformats.org/officeDocument/2006/relationships/image" Target="../media/image17.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tags" Target="../tags/tag126.xml"/></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9.xml"/><Relationship Id="rId7" Type="http://schemas.openxmlformats.org/officeDocument/2006/relationships/notesSlide" Target="../notesSlides/notesSlide15.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Layout" Target="../slideLayouts/slideLayout7.xml"/><Relationship Id="rId5" Type="http://schemas.openxmlformats.org/officeDocument/2006/relationships/tags" Target="../tags/tag131.xml"/><Relationship Id="rId4" Type="http://schemas.openxmlformats.org/officeDocument/2006/relationships/tags" Target="../tags/tag130.xml"/></Relationships>
</file>

<file path=ppt/slides/_rels/slide16.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image" Target="../media/image5.png"/><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notesSlide" Target="../notesSlides/notesSlide16.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slideLayout" Target="../slideLayouts/slideLayout7.xml"/><Relationship Id="rId5" Type="http://schemas.openxmlformats.org/officeDocument/2006/relationships/tags" Target="../tags/tag136.xml"/><Relationship Id="rId10" Type="http://schemas.openxmlformats.org/officeDocument/2006/relationships/tags" Target="../tags/tag141.xml"/><Relationship Id="rId4" Type="http://schemas.openxmlformats.org/officeDocument/2006/relationships/tags" Target="../tags/tag135.xml"/><Relationship Id="rId9" Type="http://schemas.openxmlformats.org/officeDocument/2006/relationships/tags" Target="../tags/tag140.xml"/></Relationships>
</file>

<file path=ppt/slides/_rels/slide17.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image" Target="../media/image18.jpeg"/><Relationship Id="rId3" Type="http://schemas.openxmlformats.org/officeDocument/2006/relationships/tags" Target="../tags/tag144.xml"/><Relationship Id="rId7" Type="http://schemas.openxmlformats.org/officeDocument/2006/relationships/tags" Target="../tags/tag148.xml"/><Relationship Id="rId12" Type="http://schemas.openxmlformats.org/officeDocument/2006/relationships/image" Target="../media/image5.png"/><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notesSlide" Target="../notesSlides/notesSlide17.xml"/><Relationship Id="rId5" Type="http://schemas.openxmlformats.org/officeDocument/2006/relationships/tags" Target="../tags/tag146.xml"/><Relationship Id="rId10" Type="http://schemas.openxmlformats.org/officeDocument/2006/relationships/slideLayout" Target="../slideLayouts/slideLayout7.xml"/><Relationship Id="rId4" Type="http://schemas.openxmlformats.org/officeDocument/2006/relationships/tags" Target="../tags/tag145.xml"/><Relationship Id="rId9" Type="http://schemas.openxmlformats.org/officeDocument/2006/relationships/tags" Target="../tags/tag150.xml"/></Relationships>
</file>

<file path=ppt/slides/_rels/slide18.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tags" Target="../tags/tag163.xml"/><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tags" Target="../tags/tag162.xml"/><Relationship Id="rId2" Type="http://schemas.openxmlformats.org/officeDocument/2006/relationships/tags" Target="../tags/tag152.xml"/><Relationship Id="rId16" Type="http://schemas.openxmlformats.org/officeDocument/2006/relationships/notesSlide" Target="../notesSlides/notesSlide18.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tags" Target="../tags/tag161.xml"/><Relationship Id="rId5" Type="http://schemas.openxmlformats.org/officeDocument/2006/relationships/tags" Target="../tags/tag155.xml"/><Relationship Id="rId15" Type="http://schemas.openxmlformats.org/officeDocument/2006/relationships/slideLayout" Target="../slideLayouts/slideLayout7.xml"/><Relationship Id="rId10" Type="http://schemas.openxmlformats.org/officeDocument/2006/relationships/tags" Target="../tags/tag160.xml"/><Relationship Id="rId4" Type="http://schemas.openxmlformats.org/officeDocument/2006/relationships/tags" Target="../tags/tag154.xml"/><Relationship Id="rId9" Type="http://schemas.openxmlformats.org/officeDocument/2006/relationships/tags" Target="../tags/tag159.xml"/><Relationship Id="rId14" Type="http://schemas.openxmlformats.org/officeDocument/2006/relationships/tags" Target="../tags/tag164.xml"/></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67.xml"/><Relationship Id="rId7" Type="http://schemas.openxmlformats.org/officeDocument/2006/relationships/notesSlide" Target="../notesSlides/notesSlide19.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slideLayout" Target="../slideLayouts/slideLayout7.xml"/><Relationship Id="rId5" Type="http://schemas.openxmlformats.org/officeDocument/2006/relationships/tags" Target="../tags/tag169.xml"/><Relationship Id="rId4" Type="http://schemas.openxmlformats.org/officeDocument/2006/relationships/tags" Target="../tags/tag168.xml"/></Relationships>
</file>

<file path=ppt/slides/_rels/slide20.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image" Target="../media/image20.png"/><Relationship Id="rId3" Type="http://schemas.openxmlformats.org/officeDocument/2006/relationships/tags" Target="../tags/tag172.xml"/><Relationship Id="rId7" Type="http://schemas.openxmlformats.org/officeDocument/2006/relationships/tags" Target="../tags/tag176.xml"/><Relationship Id="rId12" Type="http://schemas.openxmlformats.org/officeDocument/2006/relationships/image" Target="../media/image19.png"/><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image" Target="../media/image5.png"/><Relationship Id="rId5" Type="http://schemas.openxmlformats.org/officeDocument/2006/relationships/tags" Target="../tags/tag174.xml"/><Relationship Id="rId10" Type="http://schemas.openxmlformats.org/officeDocument/2006/relationships/notesSlide" Target="../notesSlides/notesSlide20.xml"/><Relationship Id="rId4" Type="http://schemas.openxmlformats.org/officeDocument/2006/relationships/tags" Target="../tags/tag173.xml"/><Relationship Id="rId9" Type="http://schemas.openxmlformats.org/officeDocument/2006/relationships/slideLayout" Target="../slideLayouts/slideLayout7.xml"/><Relationship Id="rId1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180.xml"/><Relationship Id="rId7" Type="http://schemas.openxmlformats.org/officeDocument/2006/relationships/image" Target="../media/image5.png"/><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tags" Target="../tags/tag181.xml"/></Relationships>
</file>

<file path=ppt/slides/_rels/slide22.xml.rels><?xml version="1.0" encoding="UTF-8" standalone="yes"?>
<Relationships xmlns="http://schemas.openxmlformats.org/package/2006/relationships"><Relationship Id="rId8" Type="http://schemas.openxmlformats.org/officeDocument/2006/relationships/tags" Target="../tags/tag189.xml"/><Relationship Id="rId3" Type="http://schemas.openxmlformats.org/officeDocument/2006/relationships/tags" Target="../tags/tag184.xml"/><Relationship Id="rId7" Type="http://schemas.openxmlformats.org/officeDocument/2006/relationships/tags" Target="../tags/tag188.xml"/><Relationship Id="rId12" Type="http://schemas.openxmlformats.org/officeDocument/2006/relationships/notesSlide" Target="../notesSlides/notesSlide22.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tags" Target="../tags/tag187.xml"/><Relationship Id="rId11" Type="http://schemas.openxmlformats.org/officeDocument/2006/relationships/slideLayout" Target="../slideLayouts/slideLayout7.xml"/><Relationship Id="rId5" Type="http://schemas.openxmlformats.org/officeDocument/2006/relationships/tags" Target="../tags/tag186.xml"/><Relationship Id="rId10" Type="http://schemas.openxmlformats.org/officeDocument/2006/relationships/tags" Target="../tags/tag191.xml"/><Relationship Id="rId4" Type="http://schemas.openxmlformats.org/officeDocument/2006/relationships/tags" Target="../tags/tag185.xml"/><Relationship Id="rId9" Type="http://schemas.openxmlformats.org/officeDocument/2006/relationships/tags" Target="../tags/tag190.xml"/></Relationships>
</file>

<file path=ppt/slides/_rels/slide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94.xml"/><Relationship Id="rId7" Type="http://schemas.openxmlformats.org/officeDocument/2006/relationships/notesSlide" Target="../notesSlides/notesSlide23.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7.xml"/><Relationship Id="rId5" Type="http://schemas.openxmlformats.org/officeDocument/2006/relationships/tags" Target="../tags/tag196.xml"/><Relationship Id="rId4" Type="http://schemas.openxmlformats.org/officeDocument/2006/relationships/tags" Target="../tags/tag195.xml"/><Relationship Id="rId9" Type="http://schemas.openxmlformats.org/officeDocument/2006/relationships/comments" Target="../comments/comment3.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image" Target="../media/image5.png"/><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notesSlide" Target="../notesSlides/notesSlide24.xml"/><Relationship Id="rId5" Type="http://schemas.openxmlformats.org/officeDocument/2006/relationships/slideLayout" Target="../slideLayouts/slideLayout7.xml"/><Relationship Id="rId4" Type="http://schemas.openxmlformats.org/officeDocument/2006/relationships/tags" Target="../tags/tag2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1969135" y="-99695"/>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custDataLst>
              <p:tags r:id="rId2"/>
            </p:custDataLst>
          </p:nvPr>
        </p:nvSpPr>
        <p:spPr>
          <a:xfrm flipH="1">
            <a:off x="-96520" y="-27305"/>
            <a:ext cx="12292965" cy="6858000"/>
          </a:xfrm>
          <a:prstGeom prst="rect">
            <a:avLst/>
          </a:prstGeom>
          <a:gradFill>
            <a:gsLst>
              <a:gs pos="41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 name="Text1"/>
          <p:cNvSpPr txBox="1"/>
          <p:nvPr>
            <p:custDataLst>
              <p:tags r:id="rId3"/>
            </p:custDataLst>
          </p:nvPr>
        </p:nvSpPr>
        <p:spPr>
          <a:xfrm>
            <a:off x="2927648" y="974725"/>
            <a:ext cx="8983682" cy="2412365"/>
          </a:xfrm>
          <a:prstGeom prst="rect">
            <a:avLst/>
          </a:prstGeom>
          <a:noFill/>
        </p:spPr>
        <p:txBody>
          <a:bodyPr wrap="square" lIns="0" tIns="0" rIns="0" bIns="0" rtlCol="0" anchor="b" anchorCtr="0">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7200" b="1" dirty="0" err="1">
                <a:solidFill>
                  <a:schemeClr val="tx2"/>
                </a:solidFill>
                <a:latin typeface="微软雅黑" panose="020B0503020204020204" pitchFamily="34" charset="-122"/>
                <a:ea typeface="微软雅黑" panose="020B0503020204020204" pitchFamily="34" charset="-122"/>
              </a:rPr>
              <a:t>构建智能病虫害识别</a:t>
            </a:r>
            <a:endParaRPr lang="en-US" altLang="zh-CN" sz="7200" b="1" dirty="0">
              <a:solidFill>
                <a:schemeClr val="tx2"/>
              </a:solidFill>
              <a:latin typeface="微软雅黑" panose="020B0503020204020204" pitchFamily="34" charset="-122"/>
              <a:ea typeface="微软雅黑" panose="020B0503020204020204" pitchFamily="34" charset="-122"/>
            </a:endParaRPr>
          </a:p>
          <a:p>
            <a:pPr algn="r"/>
            <a:r>
              <a:rPr lang="en-US" altLang="zh-CN" sz="7200" b="1" dirty="0" err="1">
                <a:solidFill>
                  <a:schemeClr val="tx2"/>
                </a:solidFill>
                <a:latin typeface="微软雅黑" panose="020B0503020204020204" pitchFamily="34" charset="-122"/>
                <a:ea typeface="微软雅黑" panose="020B0503020204020204" pitchFamily="34" charset="-122"/>
              </a:rPr>
              <a:t>系统提升农业生产效率</a:t>
            </a:r>
            <a:endParaRPr lang="en-US" altLang="zh-CN" sz="7200" b="1" dirty="0">
              <a:solidFill>
                <a:schemeClr val="tx2"/>
              </a:solidFill>
              <a:latin typeface="微软雅黑" panose="020B0503020204020204" pitchFamily="34" charset="-122"/>
              <a:ea typeface="微软雅黑" panose="020B0503020204020204" pitchFamily="34" charset="-122"/>
            </a:endParaRPr>
          </a:p>
        </p:txBody>
      </p:sp>
      <p:sp>
        <p:nvSpPr>
          <p:cNvPr id="3" name="Text2"/>
          <p:cNvSpPr txBox="1"/>
          <p:nvPr>
            <p:custDataLst>
              <p:tags r:id="rId4"/>
            </p:custDataLst>
          </p:nvPr>
        </p:nvSpPr>
        <p:spPr>
          <a:xfrm>
            <a:off x="4452586" y="4046221"/>
            <a:ext cx="7051829" cy="1055730"/>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600">
                <a:solidFill>
                  <a:schemeClr val="tx2"/>
                </a:solidFill>
                <a:latin typeface="微软雅黑" panose="020B0503020204020204" pitchFamily="34" charset="-122"/>
                <a:ea typeface="微软雅黑" panose="020B0503020204020204" pitchFamily="34" charset="-122"/>
              </a:rPr>
              <a:t>Building an intelligent pest and disease identification system to improve agricultural production efficiency</a:t>
            </a:r>
          </a:p>
        </p:txBody>
      </p:sp>
      <p:sp>
        <p:nvSpPr>
          <p:cNvPr id="4" name="Text4"/>
          <p:cNvSpPr txBox="1"/>
          <p:nvPr>
            <p:custDataLst>
              <p:tags r:id="rId5"/>
            </p:custDataLst>
          </p:nvPr>
        </p:nvSpPr>
        <p:spPr>
          <a:xfrm>
            <a:off x="6957373" y="5638519"/>
            <a:ext cx="4179816" cy="455881"/>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altLang="zh-CN" sz="1600" dirty="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endParaRPr>
          </a:p>
        </p:txBody>
      </p:sp>
      <p:grpSp>
        <p:nvGrpSpPr>
          <p:cNvPr id="16" name="组合 9"/>
          <p:cNvGrpSpPr/>
          <p:nvPr/>
        </p:nvGrpSpPr>
        <p:grpSpPr>
          <a:xfrm>
            <a:off x="10827194" y="273494"/>
            <a:ext cx="1069740" cy="874586"/>
            <a:chOff x="10827194" y="273494"/>
            <a:chExt cx="1069740" cy="874586"/>
          </a:xfrm>
        </p:grpSpPr>
        <p:cxnSp>
          <p:nvCxnSpPr>
            <p:cNvPr id="18"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7" name="组合 12"/>
          <p:cNvGrpSpPr/>
          <p:nvPr/>
        </p:nvGrpSpPr>
        <p:grpSpPr>
          <a:xfrm rot="10800000">
            <a:off x="357314" y="5598985"/>
            <a:ext cx="1069740" cy="874586"/>
            <a:chOff x="10827194" y="273494"/>
            <a:chExt cx="1069740" cy="874586"/>
          </a:xfrm>
        </p:grpSpPr>
        <p:cxnSp>
          <p:nvCxnSpPr>
            <p:cNvPr id="20"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2" name="组合 6"/>
          <p:cNvGrpSpPr/>
          <p:nvPr/>
        </p:nvGrpSpPr>
        <p:grpSpPr>
          <a:xfrm>
            <a:off x="11605395" y="461528"/>
            <a:ext cx="213997" cy="502990"/>
            <a:chOff x="11544718" y="249019"/>
            <a:chExt cx="268663" cy="631478"/>
          </a:xfrm>
          <a:solidFill>
            <a:schemeClr val="tx2"/>
          </a:solidFill>
        </p:grpSpPr>
        <p:sp>
          <p:nvSpPr>
            <p:cNvPr id="39"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0"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1"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2"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3"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4"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5"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6"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0" name="组合 1"/>
          <p:cNvGrpSpPr/>
          <p:nvPr/>
        </p:nvGrpSpPr>
        <p:grpSpPr>
          <a:xfrm rot="16200000">
            <a:off x="1351349" y="5341299"/>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8"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9"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1"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hape1"/>
          <p:cNvPicPr>
            <a:picLocks noChangeAspect="1" noChangeArrowheads="1"/>
          </p:cNvPicPr>
          <p:nvPr>
            <p:custDataLst>
              <p:tags r:id="rId2"/>
            </p:custDataLst>
          </p:nvPr>
        </p:nvPicPr>
        <p:blipFill>
          <a:blip r:embed="rId32">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custDataLst>
              <p:tags r:id="rId3"/>
            </p:custDataLst>
          </p:nvPr>
        </p:nvSpPr>
        <p:spPr>
          <a:xfrm rot="16200000">
            <a:off x="2639695" y="-2620010"/>
            <a:ext cx="6863715" cy="12192635"/>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5" name="矩形 4"/>
          <p:cNvSpPr/>
          <p:nvPr>
            <p:custDataLst>
              <p:tags r:id="rId4"/>
            </p:custDataLst>
          </p:nvPr>
        </p:nvSpPr>
        <p:spPr>
          <a:xfrm>
            <a:off x="258445" y="1890395"/>
            <a:ext cx="11689715" cy="4728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bg1"/>
              </a:solidFill>
            </a:endParaRPr>
          </a:p>
        </p:txBody>
      </p:sp>
      <p:sp>
        <p:nvSpPr>
          <p:cNvPr id="10" name="文本框 9"/>
          <p:cNvSpPr txBox="1"/>
          <p:nvPr>
            <p:custDataLst>
              <p:tags r:id="rId5"/>
            </p:custDataLst>
          </p:nvPr>
        </p:nvSpPr>
        <p:spPr>
          <a:xfrm>
            <a:off x="676395" y="370222"/>
            <a:ext cx="1522796" cy="752840"/>
          </a:xfrm>
          <a:prstGeom prst="rect">
            <a:avLst/>
          </a:prstGeom>
          <a:noFill/>
        </p:spPr>
        <p:txBody>
          <a:bodyPr wrap="square"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400" b="1">
                <a:solidFill>
                  <a:schemeClr val="tx2"/>
                </a:solidFill>
                <a:latin typeface="微软雅黑" panose="020B0503020204020204" pitchFamily="34" charset="-122"/>
                <a:ea typeface="微软雅黑" panose="020B0503020204020204" pitchFamily="34" charset="-122"/>
              </a:rPr>
              <a:t>目录</a:t>
            </a:r>
          </a:p>
        </p:txBody>
      </p:sp>
      <p:sp>
        <p:nvSpPr>
          <p:cNvPr id="11" name="文本框 10"/>
          <p:cNvSpPr txBox="1"/>
          <p:nvPr>
            <p:custDataLst>
              <p:tags r:id="rId6"/>
            </p:custDataLst>
          </p:nvPr>
        </p:nvSpPr>
        <p:spPr>
          <a:xfrm>
            <a:off x="676395" y="1170563"/>
            <a:ext cx="1522796" cy="351693"/>
          </a:xfrm>
          <a:prstGeom prst="rect">
            <a:avLst/>
          </a:prstGeom>
          <a:noFill/>
        </p:spPr>
        <p:txBody>
          <a:bodyPr wrap="square" rtlCol="0">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a:solidFill>
                  <a:schemeClr val="tx2"/>
                </a:solidFill>
                <a:latin typeface="微软雅黑" panose="020B0503020204020204" pitchFamily="34" charset="-122"/>
                <a:ea typeface="微软雅黑" panose="020B0503020204020204" pitchFamily="34" charset="-122"/>
              </a:rPr>
              <a:t>Content</a:t>
            </a:r>
            <a:endParaRPr lang="en-US" altLang="zh-CN" sz="2000" i="1">
              <a:solidFill>
                <a:schemeClr val="tx2"/>
              </a:solidFill>
              <a:latin typeface="微软雅黑" panose="020B0503020204020204" pitchFamily="34" charset="-122"/>
              <a:ea typeface="微软雅黑" panose="020B0503020204020204" pitchFamily="34" charset="-122"/>
            </a:endParaRPr>
          </a:p>
        </p:txBody>
      </p:sp>
      <p:grpSp>
        <p:nvGrpSpPr>
          <p:cNvPr id="12" name="Text3"/>
          <p:cNvGrpSpPr/>
          <p:nvPr>
            <p:custDataLst>
              <p:tags r:id="rId7"/>
            </p:custDataLst>
          </p:nvPr>
        </p:nvGrpSpPr>
        <p:grpSpPr>
          <a:xfrm>
            <a:off x="679914" y="2450224"/>
            <a:ext cx="5289081" cy="640467"/>
            <a:chOff x="448969" y="2064196"/>
            <a:chExt cx="5289081" cy="640467"/>
          </a:xfrm>
        </p:grpSpPr>
        <p:sp>
          <p:nvSpPr>
            <p:cNvPr id="13" name="Text1"/>
            <p:cNvSpPr txBox="1"/>
            <p:nvPr>
              <p:custDataLst>
                <p:tags r:id="rId28"/>
              </p:custDataLst>
            </p:nvPr>
          </p:nvSpPr>
          <p:spPr>
            <a:xfrm>
              <a:off x="1182663" y="206419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a:latin typeface="微软雅黑" panose="020B0503020204020204" pitchFamily="34" charset="-122"/>
                  <a:ea typeface="微软雅黑" panose="020B0503020204020204" pitchFamily="34" charset="-122"/>
                  <a:sym typeface="+mn-ea"/>
                </a:rPr>
                <a:t>项目背景与创新点</a:t>
              </a:r>
            </a:p>
          </p:txBody>
        </p:sp>
        <p:sp>
          <p:nvSpPr>
            <p:cNvPr id="14" name="Text2"/>
            <p:cNvSpPr txBox="1"/>
            <p:nvPr>
              <p:custDataLst>
                <p:tags r:id="rId29"/>
              </p:custDataLst>
            </p:nvPr>
          </p:nvSpPr>
          <p:spPr>
            <a:xfrm>
              <a:off x="448969" y="2109691"/>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01</a:t>
              </a:r>
            </a:p>
          </p:txBody>
        </p:sp>
      </p:grpSp>
      <p:sp>
        <p:nvSpPr>
          <p:cNvPr id="15" name="矩形 14"/>
          <p:cNvSpPr/>
          <p:nvPr>
            <p:custDataLst>
              <p:tags r:id="rId8"/>
            </p:custDataLst>
          </p:nvPr>
        </p:nvSpPr>
        <p:spPr>
          <a:xfrm>
            <a:off x="0" y="370222"/>
            <a:ext cx="405114" cy="1031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nvGrpSpPr>
          <p:cNvPr id="16" name="Text6"/>
          <p:cNvGrpSpPr/>
          <p:nvPr>
            <p:custDataLst>
              <p:tags r:id="rId9"/>
            </p:custDataLst>
          </p:nvPr>
        </p:nvGrpSpPr>
        <p:grpSpPr>
          <a:xfrm>
            <a:off x="6167574" y="2450224"/>
            <a:ext cx="5322101" cy="640467"/>
            <a:chOff x="448969" y="2109266"/>
            <a:chExt cx="5322101" cy="640467"/>
          </a:xfrm>
        </p:grpSpPr>
        <p:sp>
          <p:nvSpPr>
            <p:cNvPr id="17" name="Text4"/>
            <p:cNvSpPr txBox="1"/>
            <p:nvPr>
              <p:custDataLst>
                <p:tags r:id="rId26"/>
              </p:custDataLst>
            </p:nvPr>
          </p:nvSpPr>
          <p:spPr>
            <a:xfrm>
              <a:off x="1215683" y="210926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pitchFamily="34" charset="-122"/>
                  <a:ea typeface="微软雅黑" panose="020B0503020204020204" pitchFamily="34" charset="-122"/>
                  <a:sym typeface="+mn-ea"/>
                </a:rPr>
                <a:t>产品介绍</a:t>
              </a:r>
            </a:p>
          </p:txBody>
        </p:sp>
        <p:sp>
          <p:nvSpPr>
            <p:cNvPr id="18" name="Text5"/>
            <p:cNvSpPr txBox="1"/>
            <p:nvPr>
              <p:custDataLst>
                <p:tags r:id="rId27"/>
              </p:custDataLst>
            </p:nvPr>
          </p:nvSpPr>
          <p:spPr>
            <a:xfrm>
              <a:off x="448969" y="2154760"/>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02</a:t>
              </a:r>
            </a:p>
          </p:txBody>
        </p:sp>
      </p:grpSp>
      <p:grpSp>
        <p:nvGrpSpPr>
          <p:cNvPr id="19" name="Text9"/>
          <p:cNvGrpSpPr/>
          <p:nvPr>
            <p:custDataLst>
              <p:tags r:id="rId10"/>
            </p:custDataLst>
          </p:nvPr>
        </p:nvGrpSpPr>
        <p:grpSpPr>
          <a:xfrm>
            <a:off x="679914" y="3471691"/>
            <a:ext cx="5289081" cy="640080"/>
            <a:chOff x="448969" y="2064196"/>
            <a:chExt cx="5289081" cy="640467"/>
          </a:xfrm>
        </p:grpSpPr>
        <p:sp>
          <p:nvSpPr>
            <p:cNvPr id="20" name="Text7"/>
            <p:cNvSpPr txBox="1"/>
            <p:nvPr>
              <p:custDataLst>
                <p:tags r:id="rId24"/>
              </p:custDataLst>
            </p:nvPr>
          </p:nvSpPr>
          <p:spPr>
            <a:xfrm>
              <a:off x="1182663" y="206419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a:latin typeface="微软雅黑" panose="020B0503020204020204" pitchFamily="34" charset="-122"/>
                  <a:ea typeface="微软雅黑" panose="020B0503020204020204" pitchFamily="34" charset="-122"/>
                  <a:sym typeface="+mn-ea"/>
                </a:rPr>
                <a:t>系统设计原理与操作</a:t>
              </a:r>
            </a:p>
          </p:txBody>
        </p:sp>
        <p:sp>
          <p:nvSpPr>
            <p:cNvPr id="21" name="Text8"/>
            <p:cNvSpPr txBox="1"/>
            <p:nvPr>
              <p:custDataLst>
                <p:tags r:id="rId25"/>
              </p:custDataLst>
            </p:nvPr>
          </p:nvSpPr>
          <p:spPr>
            <a:xfrm>
              <a:off x="448969" y="2109250"/>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03</a:t>
              </a:r>
            </a:p>
          </p:txBody>
        </p:sp>
      </p:grpSp>
      <p:grpSp>
        <p:nvGrpSpPr>
          <p:cNvPr id="22" name="Text12"/>
          <p:cNvGrpSpPr/>
          <p:nvPr>
            <p:custDataLst>
              <p:tags r:id="rId11"/>
            </p:custDataLst>
          </p:nvPr>
        </p:nvGrpSpPr>
        <p:grpSpPr>
          <a:xfrm>
            <a:off x="6167574" y="3471691"/>
            <a:ext cx="5321908" cy="640080"/>
            <a:chOff x="448969" y="2077626"/>
            <a:chExt cx="5321908" cy="640467"/>
          </a:xfrm>
        </p:grpSpPr>
        <p:sp>
          <p:nvSpPr>
            <p:cNvPr id="23" name="Text10"/>
            <p:cNvSpPr txBox="1"/>
            <p:nvPr>
              <p:custDataLst>
                <p:tags r:id="rId22"/>
              </p:custDataLst>
            </p:nvPr>
          </p:nvSpPr>
          <p:spPr>
            <a:xfrm>
              <a:off x="1215490" y="207762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dirty="0">
                  <a:latin typeface="微软雅黑" panose="020B0503020204020204" pitchFamily="34" charset="-122"/>
                  <a:ea typeface="微软雅黑" panose="020B0503020204020204" pitchFamily="34" charset="-122"/>
                  <a:sym typeface="+mn-ea"/>
                </a:rPr>
                <a:t>商业计划与模式</a:t>
              </a:r>
              <a:endParaRPr lang="en-US" altLang="zh-CN" dirty="0">
                <a:latin typeface="微软雅黑" panose="020B0503020204020204" pitchFamily="34" charset="-122"/>
                <a:ea typeface="微软雅黑" panose="020B0503020204020204" pitchFamily="34" charset="-122"/>
                <a:sym typeface="+mn-ea"/>
              </a:endParaRPr>
            </a:p>
          </p:txBody>
        </p:sp>
        <p:sp>
          <p:nvSpPr>
            <p:cNvPr id="24" name="Text11"/>
            <p:cNvSpPr txBox="1"/>
            <p:nvPr>
              <p:custDataLst>
                <p:tags r:id="rId23"/>
              </p:custDataLst>
            </p:nvPr>
          </p:nvSpPr>
          <p:spPr>
            <a:xfrm>
              <a:off x="448969" y="2123121"/>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accent1"/>
                  </a:solidFill>
                  <a:latin typeface="微软雅黑" panose="020B0503020204020204" pitchFamily="34" charset="-122"/>
                  <a:ea typeface="微软雅黑" panose="020B0503020204020204" pitchFamily="34" charset="-122"/>
                </a:rPr>
                <a:t>04</a:t>
              </a:r>
            </a:p>
          </p:txBody>
        </p:sp>
      </p:grpSp>
      <p:grpSp>
        <p:nvGrpSpPr>
          <p:cNvPr id="25" name="Text15"/>
          <p:cNvGrpSpPr/>
          <p:nvPr>
            <p:custDataLst>
              <p:tags r:id="rId12"/>
            </p:custDataLst>
          </p:nvPr>
        </p:nvGrpSpPr>
        <p:grpSpPr>
          <a:xfrm>
            <a:off x="679914" y="4492771"/>
            <a:ext cx="5289081" cy="640080"/>
            <a:chOff x="448969" y="2064196"/>
            <a:chExt cx="5289081" cy="640467"/>
          </a:xfrm>
        </p:grpSpPr>
        <p:sp>
          <p:nvSpPr>
            <p:cNvPr id="26" name="Text13"/>
            <p:cNvSpPr txBox="1"/>
            <p:nvPr>
              <p:custDataLst>
                <p:tags r:id="rId20"/>
              </p:custDataLst>
            </p:nvPr>
          </p:nvSpPr>
          <p:spPr>
            <a:xfrm>
              <a:off x="1182663" y="206419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dirty="0">
                  <a:latin typeface="微软雅黑" panose="020B0503020204020204" pitchFamily="34" charset="-122"/>
                  <a:ea typeface="微软雅黑" panose="020B0503020204020204" pitchFamily="34" charset="-122"/>
                  <a:sym typeface="+mn-ea"/>
                </a:rPr>
                <a:t>产业项目优势分析</a:t>
              </a:r>
              <a:endParaRPr lang="en-US" altLang="zh-CN" dirty="0">
                <a:latin typeface="微软雅黑" panose="020B0503020204020204" pitchFamily="34" charset="-122"/>
                <a:ea typeface="微软雅黑" panose="020B0503020204020204" pitchFamily="34" charset="-122"/>
                <a:sym typeface="+mn-ea"/>
              </a:endParaRPr>
            </a:p>
          </p:txBody>
        </p:sp>
        <p:sp>
          <p:nvSpPr>
            <p:cNvPr id="27" name="Text14"/>
            <p:cNvSpPr txBox="1"/>
            <p:nvPr>
              <p:custDataLst>
                <p:tags r:id="rId21"/>
              </p:custDataLst>
            </p:nvPr>
          </p:nvSpPr>
          <p:spPr>
            <a:xfrm>
              <a:off x="448969" y="2109250"/>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05</a:t>
              </a:r>
            </a:p>
          </p:txBody>
        </p:sp>
      </p:grpSp>
      <p:grpSp>
        <p:nvGrpSpPr>
          <p:cNvPr id="31" name="组合 1"/>
          <p:cNvGrpSpPr/>
          <p:nvPr>
            <p:custDataLst>
              <p:tags r:id="rId13"/>
            </p:custDataLst>
          </p:nvPr>
        </p:nvGrpSpPr>
        <p:grpSpPr>
          <a:xfrm rot="16200000">
            <a:off x="1351349" y="5002209"/>
            <a:ext cx="253673" cy="1598686"/>
            <a:chOff x="11650379" y="272776"/>
            <a:chExt cx="253673" cy="1598686"/>
          </a:xfrm>
        </p:grpSpPr>
        <p:grpSp>
          <p:nvGrpSpPr>
            <p:cNvPr id="35" name="组合 2"/>
            <p:cNvGrpSpPr/>
            <p:nvPr/>
          </p:nvGrpSpPr>
          <p:grpSpPr>
            <a:xfrm>
              <a:off x="11650379" y="272776"/>
              <a:ext cx="253673" cy="422549"/>
              <a:chOff x="11650379" y="272776"/>
              <a:chExt cx="253673" cy="422549"/>
            </a:xfrm>
          </p:grpSpPr>
          <p:sp>
            <p:nvSpPr>
              <p:cNvPr id="36" name="椭圆 4"/>
              <p:cNvSpPr/>
              <p:nvPr>
                <p:custDataLst>
                  <p:tags r:id="rId18"/>
                </p:custDataLst>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37" name="椭圆 5"/>
              <p:cNvSpPr/>
              <p:nvPr>
                <p:custDataLst>
                  <p:tags r:id="rId19"/>
                </p:custDataLst>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38" name="直接连接符 3"/>
            <p:cNvCxnSpPr/>
            <p:nvPr>
              <p:custDataLst>
                <p:tags r:id="rId17"/>
              </p:custDataLst>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2" name="组合 6"/>
          <p:cNvGrpSpPr/>
          <p:nvPr/>
        </p:nvGrpSpPr>
        <p:grpSpPr>
          <a:xfrm>
            <a:off x="11605395" y="461528"/>
            <a:ext cx="213997" cy="502990"/>
            <a:chOff x="11544718" y="249019"/>
            <a:chExt cx="268663" cy="631478"/>
          </a:xfrm>
          <a:solidFill>
            <a:schemeClr val="tx2"/>
          </a:solidFill>
        </p:grpSpPr>
        <p:sp>
          <p:nvSpPr>
            <p:cNvPr id="39"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0"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1"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2"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3"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4"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5"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6"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33" name="组合 9"/>
          <p:cNvGrpSpPr/>
          <p:nvPr/>
        </p:nvGrpSpPr>
        <p:grpSpPr>
          <a:xfrm>
            <a:off x="10827194" y="273494"/>
            <a:ext cx="1069740" cy="874586"/>
            <a:chOff x="10827194" y="273494"/>
            <a:chExt cx="1069740" cy="874586"/>
          </a:xfrm>
        </p:grpSpPr>
        <p:cxnSp>
          <p:nvCxnSpPr>
            <p:cNvPr id="47"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8"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4" name="组合 12"/>
          <p:cNvGrpSpPr/>
          <p:nvPr/>
        </p:nvGrpSpPr>
        <p:grpSpPr>
          <a:xfrm rot="10800000">
            <a:off x="357314" y="5598985"/>
            <a:ext cx="1069740" cy="874586"/>
            <a:chOff x="10827194" y="273494"/>
            <a:chExt cx="1069740" cy="874586"/>
          </a:xfrm>
        </p:grpSpPr>
        <p:cxnSp>
          <p:nvCxnSpPr>
            <p:cNvPr id="49"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 name="Text12"/>
          <p:cNvGrpSpPr/>
          <p:nvPr>
            <p:custDataLst>
              <p:tags r:id="rId14"/>
            </p:custDataLst>
          </p:nvPr>
        </p:nvGrpSpPr>
        <p:grpSpPr>
          <a:xfrm>
            <a:off x="6167574" y="4492771"/>
            <a:ext cx="5364453" cy="640080"/>
            <a:chOff x="448969" y="2087792"/>
            <a:chExt cx="5364453" cy="640467"/>
          </a:xfrm>
        </p:grpSpPr>
        <p:sp>
          <p:nvSpPr>
            <p:cNvPr id="6" name="Text10"/>
            <p:cNvSpPr txBox="1"/>
            <p:nvPr>
              <p:custDataLst>
                <p:tags r:id="rId15"/>
              </p:custDataLst>
            </p:nvPr>
          </p:nvSpPr>
          <p:spPr>
            <a:xfrm>
              <a:off x="1258035" y="2087792"/>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dirty="0">
                  <a:latin typeface="微软雅黑" panose="020B0503020204020204" pitchFamily="34" charset="-122"/>
                  <a:ea typeface="微软雅黑" panose="020B0503020204020204" pitchFamily="34" charset="-122"/>
                  <a:sym typeface="+mn-ea"/>
                </a:rPr>
                <a:t>战略规划</a:t>
              </a:r>
            </a:p>
          </p:txBody>
        </p:sp>
        <p:sp>
          <p:nvSpPr>
            <p:cNvPr id="7" name="Text11"/>
            <p:cNvSpPr txBox="1"/>
            <p:nvPr>
              <p:custDataLst>
                <p:tags r:id="rId16"/>
              </p:custDataLst>
            </p:nvPr>
          </p:nvSpPr>
          <p:spPr>
            <a:xfrm>
              <a:off x="448969" y="2133287"/>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accent1"/>
                  </a:solidFill>
                  <a:latin typeface="微软雅黑" panose="020B0503020204020204" pitchFamily="34" charset="-122"/>
                  <a:ea typeface="微软雅黑" panose="020B0503020204020204" pitchFamily="34" charset="-122"/>
                </a:rPr>
                <a:t>06</a:t>
              </a:r>
            </a:p>
          </p:txBody>
        </p:sp>
      </p:grpSp>
    </p:spTree>
    <p:custDataLst>
      <p:tags r:id="rId1"/>
    </p:custDataLst>
  </p:cSld>
  <p:clrMapOvr>
    <a:masterClrMapping/>
  </p:clrMapOvr>
  <p:transition spd="slow">
    <p:wheel spokes="8"/>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项目背景与创新点</a:t>
            </a: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Project Background and Innovation Points</a:t>
            </a: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01</a:t>
            </a:r>
          </a:p>
        </p:txBody>
      </p:sp>
      <p:grpSp>
        <p:nvGrpSpPr>
          <p:cNvPr id="10" name="组合 1"/>
          <p:cNvGrpSpPr/>
          <p:nvPr/>
        </p:nvGrpSpPr>
        <p:grpSpPr>
          <a:xfrm rot="16200000">
            <a:off x="1351349" y="5341299"/>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Shape1"/>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
          <p:cNvSpPr/>
          <p:nvPr/>
        </p:nvSpPr>
        <p:spPr>
          <a:xfrm rot="10800000" flipH="1"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平滑4"/>
          <p:cNvSpPr/>
          <p:nvPr>
            <p:custDataLst>
              <p:tags r:id="rId2"/>
            </p:custDataLst>
          </p:nvPr>
        </p:nvSpPr>
        <p:spPr>
          <a:xfrm>
            <a:off x="9104244" y="0"/>
            <a:ext cx="308775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13" name="平滑3"/>
          <p:cNvSpPr/>
          <p:nvPr>
            <p:custDataLst>
              <p:tags r:id="rId3"/>
            </p:custDataLst>
          </p:nvPr>
        </p:nvSpPr>
        <p:spPr>
          <a:xfrm>
            <a:off x="9104244" y="753716"/>
            <a:ext cx="2675282" cy="5350565"/>
          </a:xfrm>
          <a:custGeom>
            <a:avLst/>
            <a:gdLst>
              <a:gd name="connsiteX0" fmla="*/ 0 w 2675282"/>
              <a:gd name="connsiteY0" fmla="*/ 0 h 5350565"/>
              <a:gd name="connsiteX1" fmla="*/ 2675282 w 2675282"/>
              <a:gd name="connsiteY1" fmla="*/ 2675283 h 5350565"/>
              <a:gd name="connsiteX2" fmla="*/ 0 w 2675282"/>
              <a:gd name="connsiteY2" fmla="*/ 5350565 h 5350565"/>
              <a:gd name="connsiteX3" fmla="*/ 0 w 2675282"/>
              <a:gd name="connsiteY3" fmla="*/ 5112617 h 5350565"/>
              <a:gd name="connsiteX4" fmla="*/ 2437336 w 2675282"/>
              <a:gd name="connsiteY4" fmla="*/ 2675280 h 5350565"/>
              <a:gd name="connsiteX5" fmla="*/ 0 w 2675282"/>
              <a:gd name="connsiteY5" fmla="*/ 237944 h 53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5282" h="5350565">
                <a:moveTo>
                  <a:pt x="0" y="0"/>
                </a:moveTo>
                <a:cubicBezTo>
                  <a:pt x="1477518" y="0"/>
                  <a:pt x="2675282" y="1197765"/>
                  <a:pt x="2675282" y="2675283"/>
                </a:cubicBezTo>
                <a:cubicBezTo>
                  <a:pt x="2675282" y="4152801"/>
                  <a:pt x="1477518" y="5350565"/>
                  <a:pt x="0" y="5350565"/>
                </a:cubicBezTo>
                <a:lnTo>
                  <a:pt x="0" y="5112617"/>
                </a:lnTo>
                <a:cubicBezTo>
                  <a:pt x="1346104" y="5112617"/>
                  <a:pt x="2437336" y="4021385"/>
                  <a:pt x="2437336" y="2675280"/>
                </a:cubicBezTo>
                <a:cubicBezTo>
                  <a:pt x="2437336" y="1329176"/>
                  <a:pt x="1346104" y="237944"/>
                  <a:pt x="0" y="237944"/>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6" name="Shape2"/>
          <p:cNvSpPr/>
          <p:nvPr>
            <p:custDataLst>
              <p:tags r:id="rId4"/>
            </p:custDataLst>
          </p:nvPr>
        </p:nvSpPr>
        <p:spPr>
          <a:xfrm>
            <a:off x="6863715" y="1176020"/>
            <a:ext cx="4494530" cy="4494530"/>
          </a:xfrm>
          <a:prstGeom prst="ellipse">
            <a:avLst/>
          </a:prstGeom>
          <a:blipFill rotWithShape="1">
            <a:blip r:embed="rId1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lvl="0" algn="ctr">
              <a:buClrTx/>
              <a:buSzTx/>
              <a:buFontTx/>
            </a:pPr>
            <a:endParaRPr lang="zh-CN" altLang="en-US">
              <a:latin typeface="微软雅黑" panose="020B0503020204020204" pitchFamily="34" charset="-122"/>
              <a:ea typeface="微软雅黑" panose="020B0503020204020204" pitchFamily="34" charset="-122"/>
              <a:sym typeface="+mn-ea"/>
            </a:endParaRPr>
          </a:p>
        </p:txBody>
      </p:sp>
      <p:grpSp>
        <p:nvGrpSpPr>
          <p:cNvPr id="3" name="组合 2"/>
          <p:cNvGrpSpPr/>
          <p:nvPr/>
        </p:nvGrpSpPr>
        <p:grpSpPr>
          <a:xfrm>
            <a:off x="7822677" y="6246785"/>
            <a:ext cx="1113155" cy="434975"/>
            <a:chOff x="1913" y="8875"/>
            <a:chExt cx="1753" cy="685"/>
          </a:xfrm>
        </p:grpSpPr>
        <p:sp>
          <p:nvSpPr>
            <p:cNvPr id="9" name="Freeform 2"/>
            <p:cNvSpPr/>
            <p:nvPr>
              <p:custDataLst>
                <p:tags r:id="rId7"/>
              </p:custDataLst>
            </p:nvPr>
          </p:nvSpPr>
          <p:spPr>
            <a:xfrm flipH="1">
              <a:off x="1913" y="8875"/>
              <a:ext cx="1753" cy="685"/>
            </a:xfrm>
            <a:custGeom>
              <a:avLst/>
              <a:gdLst>
                <a:gd name="connsiteX0" fmla="*/ 1319235 w 1451229"/>
                <a:gd name="connsiteY0" fmla="*/ 0 h 524534"/>
                <a:gd name="connsiteX1" fmla="*/ 791206 w 1451229"/>
                <a:gd name="connsiteY1" fmla="*/ 0 h 524534"/>
                <a:gd name="connsiteX2" fmla="*/ 512084 w 1451229"/>
                <a:gd name="connsiteY2" fmla="*/ 0 h 524534"/>
                <a:gd name="connsiteX3" fmla="*/ 512084 w 1451229"/>
                <a:gd name="connsiteY3" fmla="*/ 1 h 524534"/>
                <a:gd name="connsiteX4" fmla="*/ 132006 w 1451229"/>
                <a:gd name="connsiteY4" fmla="*/ 1 h 524534"/>
                <a:gd name="connsiteX5" fmla="*/ 0 w 1451229"/>
                <a:gd name="connsiteY5" fmla="*/ 132008 h 524534"/>
                <a:gd name="connsiteX6" fmla="*/ 0 w 1451229"/>
                <a:gd name="connsiteY6" fmla="*/ 217271 h 524534"/>
                <a:gd name="connsiteX7" fmla="*/ 0 w 1451229"/>
                <a:gd name="connsiteY7" fmla="*/ 307266 h 524534"/>
                <a:gd name="connsiteX8" fmla="*/ 0 w 1451229"/>
                <a:gd name="connsiteY8" fmla="*/ 392529 h 524534"/>
                <a:gd name="connsiteX9" fmla="*/ 105403 w 1451229"/>
                <a:gd name="connsiteY9" fmla="*/ 521853 h 524534"/>
                <a:gd name="connsiteX10" fmla="*/ 131994 w 1451229"/>
                <a:gd name="connsiteY10" fmla="*/ 524534 h 524534"/>
                <a:gd name="connsiteX11" fmla="*/ 660023 w 1451229"/>
                <a:gd name="connsiteY11" fmla="*/ 524534 h 524534"/>
                <a:gd name="connsiteX12" fmla="*/ 939145 w 1451229"/>
                <a:gd name="connsiteY12" fmla="*/ 524534 h 524534"/>
                <a:gd name="connsiteX13" fmla="*/ 939145 w 1451229"/>
                <a:gd name="connsiteY13" fmla="*/ 524533 h 524534"/>
                <a:gd name="connsiteX14" fmla="*/ 1319222 w 1451229"/>
                <a:gd name="connsiteY14" fmla="*/ 524533 h 524534"/>
                <a:gd name="connsiteX15" fmla="*/ 1451229 w 1451229"/>
                <a:gd name="connsiteY15" fmla="*/ 392526 h 524534"/>
                <a:gd name="connsiteX16" fmla="*/ 1451229 w 1451229"/>
                <a:gd name="connsiteY16" fmla="*/ 307263 h 524534"/>
                <a:gd name="connsiteX17" fmla="*/ 1451229 w 1451229"/>
                <a:gd name="connsiteY17" fmla="*/ 217268 h 524534"/>
                <a:gd name="connsiteX18" fmla="*/ 1451229 w 1451229"/>
                <a:gd name="connsiteY18" fmla="*/ 132005 h 524534"/>
                <a:gd name="connsiteX19" fmla="*/ 1345826 w 1451229"/>
                <a:gd name="connsiteY19" fmla="*/ 2681 h 52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1229" h="524534">
                  <a:moveTo>
                    <a:pt x="1319235" y="0"/>
                  </a:moveTo>
                  <a:lnTo>
                    <a:pt x="791206" y="0"/>
                  </a:lnTo>
                  <a:lnTo>
                    <a:pt x="512084" y="0"/>
                  </a:lnTo>
                  <a:lnTo>
                    <a:pt x="512084" y="1"/>
                  </a:lnTo>
                  <a:lnTo>
                    <a:pt x="132006" y="1"/>
                  </a:lnTo>
                  <a:cubicBezTo>
                    <a:pt x="59101" y="1"/>
                    <a:pt x="0" y="59102"/>
                    <a:pt x="0" y="132008"/>
                  </a:cubicBezTo>
                  <a:lnTo>
                    <a:pt x="0" y="217271"/>
                  </a:lnTo>
                  <a:lnTo>
                    <a:pt x="0" y="307266"/>
                  </a:lnTo>
                  <a:lnTo>
                    <a:pt x="0" y="392529"/>
                  </a:lnTo>
                  <a:cubicBezTo>
                    <a:pt x="0" y="456321"/>
                    <a:pt x="45250" y="509544"/>
                    <a:pt x="105403" y="521853"/>
                  </a:cubicBezTo>
                  <a:lnTo>
                    <a:pt x="131994" y="524534"/>
                  </a:lnTo>
                  <a:lnTo>
                    <a:pt x="660023" y="524534"/>
                  </a:lnTo>
                  <a:lnTo>
                    <a:pt x="939145" y="524534"/>
                  </a:lnTo>
                  <a:lnTo>
                    <a:pt x="939145" y="524533"/>
                  </a:lnTo>
                  <a:lnTo>
                    <a:pt x="1319222" y="524533"/>
                  </a:lnTo>
                  <a:cubicBezTo>
                    <a:pt x="1392128" y="524533"/>
                    <a:pt x="1451229" y="465432"/>
                    <a:pt x="1451229" y="392526"/>
                  </a:cubicBezTo>
                  <a:lnTo>
                    <a:pt x="1451229" y="307263"/>
                  </a:lnTo>
                  <a:lnTo>
                    <a:pt x="1451229" y="217268"/>
                  </a:lnTo>
                  <a:lnTo>
                    <a:pt x="1451229" y="132005"/>
                  </a:lnTo>
                  <a:cubicBezTo>
                    <a:pt x="1451229" y="68213"/>
                    <a:pt x="1405979" y="14990"/>
                    <a:pt x="1345826" y="2681"/>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10" name="装饰文本"/>
            <p:cNvSpPr txBox="1"/>
            <p:nvPr>
              <p:custDataLst>
                <p:tags r:id="rId8"/>
              </p:custDataLst>
            </p:nvPr>
          </p:nvSpPr>
          <p:spPr>
            <a:xfrm>
              <a:off x="2001" y="9036"/>
              <a:ext cx="1611" cy="33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 spc="200">
                  <a:latin typeface="微软雅黑" panose="020B0503020204020204" pitchFamily="34" charset="-122"/>
                  <a:ea typeface="微软雅黑" panose="020B0503020204020204" pitchFamily="34" charset="-122"/>
                  <a:cs typeface="Poppins" pitchFamily="2" charset="77"/>
                  <a:sym typeface="思源黑体 CN" panose="020B0500000000000000" pitchFamily="34" charset="-122"/>
                </a:rPr>
                <a:t>Learn more</a:t>
              </a:r>
            </a:p>
          </p:txBody>
        </p:sp>
      </p:grpSp>
      <p:sp>
        <p:nvSpPr>
          <p:cNvPr id="11" name="Text1"/>
          <p:cNvSpPr txBox="1"/>
          <p:nvPr>
            <p:custDataLst>
              <p:tags r:id="rId5"/>
            </p:custDataLst>
          </p:nvPr>
        </p:nvSpPr>
        <p:spPr>
          <a:xfrm>
            <a:off x="479149" y="188414"/>
            <a:ext cx="5975357" cy="1295771"/>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基于AI的智能化解决方案</a:t>
            </a:r>
          </a:p>
        </p:txBody>
      </p:sp>
      <p:sp>
        <p:nvSpPr>
          <p:cNvPr id="12" name="Text2"/>
          <p:cNvSpPr txBox="1"/>
          <p:nvPr>
            <p:custDataLst>
              <p:tags r:id="rId6"/>
            </p:custDataLst>
          </p:nvPr>
        </p:nvSpPr>
        <p:spPr>
          <a:xfrm>
            <a:off x="479425" y="1700530"/>
            <a:ext cx="6315710" cy="4300220"/>
          </a:xfrm>
          <a:prstGeom prst="rect">
            <a:avLst/>
          </a:prstGeom>
          <a:noFill/>
          <a:ln>
            <a:noFill/>
          </a:ln>
        </p:spPr>
        <p:txBody>
          <a:bodyPr spcFirstLastPara="1" wrap="square" lIns="60950" tIns="30466" rIns="60950" bIns="30466"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1.智能识别提高诊断效率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利用AI技术，智能病虫害识别系统能在3秒内完成诊断，比传统方法快5倍，显著提高诊断效率。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2.准确度高减少误判</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基于深度学习模型的识别系统，准确率可达95%，大幅减少人工诊断的误判率。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3.实时监测预防病害</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智能系统能实时监测作物生长情况，提前预警潜在病害，为农业生产提供及时防控手段。</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4.降低农药使用保护生态</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准确识别病虫害，减少不必要农药喷洒，降低对环境的污染，促进农业生产可持续发展。</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1">
                                            <p:txEl>
                                              <p:pRg st="0" end="0"/>
                                            </p:txEl>
                                          </p:spTgt>
                                        </p:tgtEl>
                                      </p:cBhvr>
                                    </p:animEffect>
                                  </p:childTnLst>
                                </p:cTn>
                              </p:par>
                              <p:par>
                                <p:cTn id="9" presetID="22" presetClass="entr" presetSubtype="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500"/>
                            </p:stCondLst>
                            <p:childTnLst>
                              <p:par>
                                <p:cTn id="13" presetID="12" presetClass="entr" presetSubtype="8" fill="hold" grpId="0" nodeType="after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additive="base">
                                        <p:cTn id="15" dur="500"/>
                                        <p:tgtEl>
                                          <p:spTgt spid="12">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12">
                                            <p:txEl>
                                              <p:pRg st="0" end="0"/>
                                            </p:txEl>
                                          </p:spTgt>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 calcmode="lin" valueType="num">
                                      <p:cBhvr additive="base">
                                        <p:cTn id="20" dur="500"/>
                                        <p:tgtEl>
                                          <p:spTgt spid="12">
                                            <p:txEl>
                                              <p:pRg st="1" end="1"/>
                                            </p:txEl>
                                          </p:spTgt>
                                        </p:tgtEl>
                                        <p:attrNameLst>
                                          <p:attrName>ppt_x</p:attrName>
                                        </p:attrNameLst>
                                      </p:cBhvr>
                                      <p:tavLst>
                                        <p:tav tm="0">
                                          <p:val>
                                            <p:strVal val="#ppt_x-#ppt_w*1.125000"/>
                                          </p:val>
                                        </p:tav>
                                        <p:tav tm="100000">
                                          <p:val>
                                            <p:strVal val="#ppt_x"/>
                                          </p:val>
                                        </p:tav>
                                      </p:tavLst>
                                    </p:anim>
                                    <p:animEffect transition="in" filter="wipe(right)">
                                      <p:cBhvr>
                                        <p:cTn id="21" dur="500"/>
                                        <p:tgtEl>
                                          <p:spTgt spid="12">
                                            <p:txEl>
                                              <p:pRg st="1" end="1"/>
                                            </p:txEl>
                                          </p:spTgt>
                                        </p:tgtEl>
                                      </p:cBhvr>
                                    </p:animEffect>
                                  </p:childTnLst>
                                </p:cTn>
                              </p:par>
                            </p:childTnLst>
                          </p:cTn>
                        </p:par>
                        <p:par>
                          <p:cTn id="22" fill="hold">
                            <p:stCondLst>
                              <p:cond delay="1500"/>
                            </p:stCondLst>
                            <p:childTnLst>
                              <p:par>
                                <p:cTn id="23" presetID="12" presetClass="entr" presetSubtype="8" fill="hold" grpId="0" nodeType="after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anim calcmode="lin" valueType="num">
                                      <p:cBhvr additive="base">
                                        <p:cTn id="25" dur="500"/>
                                        <p:tgtEl>
                                          <p:spTgt spid="12">
                                            <p:txEl>
                                              <p:pRg st="2" end="2"/>
                                            </p:txEl>
                                          </p:spTgt>
                                        </p:tgtEl>
                                        <p:attrNameLst>
                                          <p:attrName>ppt_x</p:attrName>
                                        </p:attrNameLst>
                                      </p:cBhvr>
                                      <p:tavLst>
                                        <p:tav tm="0">
                                          <p:val>
                                            <p:strVal val="#ppt_x-#ppt_w*1.125000"/>
                                          </p:val>
                                        </p:tav>
                                        <p:tav tm="100000">
                                          <p:val>
                                            <p:strVal val="#ppt_x"/>
                                          </p:val>
                                        </p:tav>
                                      </p:tavLst>
                                    </p:anim>
                                    <p:animEffect transition="in" filter="wipe(right)">
                                      <p:cBhvr>
                                        <p:cTn id="26" dur="500"/>
                                        <p:tgtEl>
                                          <p:spTgt spid="12">
                                            <p:txEl>
                                              <p:pRg st="2" end="2"/>
                                            </p:txEl>
                                          </p:spTgt>
                                        </p:tgtEl>
                                      </p:cBhvr>
                                    </p:animEffect>
                                  </p:childTnLst>
                                </p:cTn>
                              </p:par>
                            </p:childTnLst>
                          </p:cTn>
                        </p:par>
                        <p:par>
                          <p:cTn id="27" fill="hold">
                            <p:stCondLst>
                              <p:cond delay="2000"/>
                            </p:stCondLst>
                            <p:childTnLst>
                              <p:par>
                                <p:cTn id="28" presetID="12" presetClass="entr" presetSubtype="8" fill="hold" grpId="0" nodeType="afterEffect">
                                  <p:stCondLst>
                                    <p:cond delay="0"/>
                                  </p:stCondLst>
                                  <p:childTnLst>
                                    <p:set>
                                      <p:cBhvr>
                                        <p:cTn id="29" dur="1" fill="hold">
                                          <p:stCondLst>
                                            <p:cond delay="0"/>
                                          </p:stCondLst>
                                        </p:cTn>
                                        <p:tgtEl>
                                          <p:spTgt spid="12">
                                            <p:txEl>
                                              <p:pRg st="3" end="3"/>
                                            </p:txEl>
                                          </p:spTgt>
                                        </p:tgtEl>
                                        <p:attrNameLst>
                                          <p:attrName>style.visibility</p:attrName>
                                        </p:attrNameLst>
                                      </p:cBhvr>
                                      <p:to>
                                        <p:strVal val="visible"/>
                                      </p:to>
                                    </p:set>
                                    <p:anim calcmode="lin" valueType="num">
                                      <p:cBhvr additive="base">
                                        <p:cTn id="30" dur="500"/>
                                        <p:tgtEl>
                                          <p:spTgt spid="12">
                                            <p:txEl>
                                              <p:pRg st="3" end="3"/>
                                            </p:txEl>
                                          </p:spTgt>
                                        </p:tgtEl>
                                        <p:attrNameLst>
                                          <p:attrName>ppt_x</p:attrName>
                                        </p:attrNameLst>
                                      </p:cBhvr>
                                      <p:tavLst>
                                        <p:tav tm="0">
                                          <p:val>
                                            <p:strVal val="#ppt_x-#ppt_w*1.125000"/>
                                          </p:val>
                                        </p:tav>
                                        <p:tav tm="100000">
                                          <p:val>
                                            <p:strVal val="#ppt_x"/>
                                          </p:val>
                                        </p:tav>
                                      </p:tavLst>
                                    </p:anim>
                                    <p:animEffect transition="in" filter="wipe(right)">
                                      <p:cBhvr>
                                        <p:cTn id="31" dur="500"/>
                                        <p:tgtEl>
                                          <p:spTgt spid="12">
                                            <p:txEl>
                                              <p:pRg st="3" end="3"/>
                                            </p:txEl>
                                          </p:spTgt>
                                        </p:tgtEl>
                                      </p:cBhvr>
                                    </p:animEffect>
                                  </p:childTnLst>
                                </p:cTn>
                              </p:par>
                            </p:childTnLst>
                          </p:cTn>
                        </p:par>
                        <p:par>
                          <p:cTn id="32" fill="hold">
                            <p:stCondLst>
                              <p:cond delay="2500"/>
                            </p:stCondLst>
                            <p:childTnLst>
                              <p:par>
                                <p:cTn id="33" presetID="12" presetClass="entr" presetSubtype="8" fill="hold" grpId="0" nodeType="after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 calcmode="lin" valueType="num">
                                      <p:cBhvr additive="base">
                                        <p:cTn id="35" dur="500"/>
                                        <p:tgtEl>
                                          <p:spTgt spid="12">
                                            <p:txEl>
                                              <p:pRg st="4" end="4"/>
                                            </p:txEl>
                                          </p:spTgt>
                                        </p:tgtEl>
                                        <p:attrNameLst>
                                          <p:attrName>ppt_x</p:attrName>
                                        </p:attrNameLst>
                                      </p:cBhvr>
                                      <p:tavLst>
                                        <p:tav tm="0">
                                          <p:val>
                                            <p:strVal val="#ppt_x-#ppt_w*1.125000"/>
                                          </p:val>
                                        </p:tav>
                                        <p:tav tm="100000">
                                          <p:val>
                                            <p:strVal val="#ppt_x"/>
                                          </p:val>
                                        </p:tav>
                                      </p:tavLst>
                                    </p:anim>
                                    <p:animEffect transition="in" filter="wipe(right)">
                                      <p:cBhvr>
                                        <p:cTn id="36" dur="500"/>
                                        <p:tgtEl>
                                          <p:spTgt spid="12">
                                            <p:txEl>
                                              <p:pRg st="4" end="4"/>
                                            </p:txEl>
                                          </p:spTgt>
                                        </p:tgtEl>
                                      </p:cBhvr>
                                    </p:animEffect>
                                  </p:childTnLst>
                                </p:cTn>
                              </p:par>
                            </p:childTnLst>
                          </p:cTn>
                        </p:par>
                        <p:par>
                          <p:cTn id="37" fill="hold">
                            <p:stCondLst>
                              <p:cond delay="3000"/>
                            </p:stCondLst>
                            <p:childTnLst>
                              <p:par>
                                <p:cTn id="38" presetID="12" presetClass="entr" presetSubtype="8" fill="hold" grpId="0" nodeType="afterEffect">
                                  <p:stCondLst>
                                    <p:cond delay="0"/>
                                  </p:stCondLst>
                                  <p:childTnLst>
                                    <p:set>
                                      <p:cBhvr>
                                        <p:cTn id="39" dur="1" fill="hold">
                                          <p:stCondLst>
                                            <p:cond delay="0"/>
                                          </p:stCondLst>
                                        </p:cTn>
                                        <p:tgtEl>
                                          <p:spTgt spid="12">
                                            <p:txEl>
                                              <p:pRg st="5" end="5"/>
                                            </p:txEl>
                                          </p:spTgt>
                                        </p:tgtEl>
                                        <p:attrNameLst>
                                          <p:attrName>style.visibility</p:attrName>
                                        </p:attrNameLst>
                                      </p:cBhvr>
                                      <p:to>
                                        <p:strVal val="visible"/>
                                      </p:to>
                                    </p:set>
                                    <p:anim calcmode="lin" valueType="num">
                                      <p:cBhvr additive="base">
                                        <p:cTn id="40" dur="500"/>
                                        <p:tgtEl>
                                          <p:spTgt spid="12">
                                            <p:txEl>
                                              <p:pRg st="5" end="5"/>
                                            </p:txEl>
                                          </p:spTgt>
                                        </p:tgtEl>
                                        <p:attrNameLst>
                                          <p:attrName>ppt_x</p:attrName>
                                        </p:attrNameLst>
                                      </p:cBhvr>
                                      <p:tavLst>
                                        <p:tav tm="0">
                                          <p:val>
                                            <p:strVal val="#ppt_x-#ppt_w*1.125000"/>
                                          </p:val>
                                        </p:tav>
                                        <p:tav tm="100000">
                                          <p:val>
                                            <p:strVal val="#ppt_x"/>
                                          </p:val>
                                        </p:tav>
                                      </p:tavLst>
                                    </p:anim>
                                    <p:animEffect transition="in" filter="wipe(right)">
                                      <p:cBhvr>
                                        <p:cTn id="41" dur="500"/>
                                        <p:tgtEl>
                                          <p:spTgt spid="12">
                                            <p:txEl>
                                              <p:pRg st="5" end="5"/>
                                            </p:txEl>
                                          </p:spTgt>
                                        </p:tgtEl>
                                      </p:cBhvr>
                                    </p:animEffect>
                                  </p:childTnLst>
                                </p:cTn>
                              </p:par>
                            </p:childTnLst>
                          </p:cTn>
                        </p:par>
                        <p:par>
                          <p:cTn id="42" fill="hold">
                            <p:stCondLst>
                              <p:cond delay="3500"/>
                            </p:stCondLst>
                            <p:childTnLst>
                              <p:par>
                                <p:cTn id="43" presetID="12" presetClass="entr" presetSubtype="8" fill="hold" grpId="0" nodeType="afterEffect">
                                  <p:stCondLst>
                                    <p:cond delay="0"/>
                                  </p:stCondLst>
                                  <p:childTnLst>
                                    <p:set>
                                      <p:cBhvr>
                                        <p:cTn id="44" dur="1" fill="hold">
                                          <p:stCondLst>
                                            <p:cond delay="0"/>
                                          </p:stCondLst>
                                        </p:cTn>
                                        <p:tgtEl>
                                          <p:spTgt spid="12">
                                            <p:txEl>
                                              <p:pRg st="6" end="6"/>
                                            </p:txEl>
                                          </p:spTgt>
                                        </p:tgtEl>
                                        <p:attrNameLst>
                                          <p:attrName>style.visibility</p:attrName>
                                        </p:attrNameLst>
                                      </p:cBhvr>
                                      <p:to>
                                        <p:strVal val="visible"/>
                                      </p:to>
                                    </p:set>
                                    <p:anim calcmode="lin" valueType="num">
                                      <p:cBhvr additive="base">
                                        <p:cTn id="45" dur="500"/>
                                        <p:tgtEl>
                                          <p:spTgt spid="12">
                                            <p:txEl>
                                              <p:pRg st="6" end="6"/>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12">
                                            <p:txEl>
                                              <p:pRg st="6" end="6"/>
                                            </p:txEl>
                                          </p:spTgt>
                                        </p:tgtEl>
                                      </p:cBhvr>
                                    </p:animEffect>
                                  </p:childTnLst>
                                </p:cTn>
                              </p:par>
                            </p:childTnLst>
                          </p:cTn>
                        </p:par>
                        <p:par>
                          <p:cTn id="47" fill="hold">
                            <p:stCondLst>
                              <p:cond delay="4000"/>
                            </p:stCondLst>
                            <p:childTnLst>
                              <p:par>
                                <p:cTn id="48" presetID="12" presetClass="entr" presetSubtype="8" fill="hold" grpId="0" nodeType="afterEffect">
                                  <p:stCondLst>
                                    <p:cond delay="0"/>
                                  </p:stCondLst>
                                  <p:childTnLst>
                                    <p:set>
                                      <p:cBhvr>
                                        <p:cTn id="49" dur="1" fill="hold">
                                          <p:stCondLst>
                                            <p:cond delay="0"/>
                                          </p:stCondLst>
                                        </p:cTn>
                                        <p:tgtEl>
                                          <p:spTgt spid="12">
                                            <p:txEl>
                                              <p:pRg st="7" end="7"/>
                                            </p:txEl>
                                          </p:spTgt>
                                        </p:tgtEl>
                                        <p:attrNameLst>
                                          <p:attrName>style.visibility</p:attrName>
                                        </p:attrNameLst>
                                      </p:cBhvr>
                                      <p:to>
                                        <p:strVal val="visible"/>
                                      </p:to>
                                    </p:set>
                                    <p:anim calcmode="lin" valueType="num">
                                      <p:cBhvr additive="base">
                                        <p:cTn id="50" dur="500"/>
                                        <p:tgtEl>
                                          <p:spTgt spid="12">
                                            <p:txEl>
                                              <p:pRg st="7" end="7"/>
                                            </p:txEl>
                                          </p:spTgt>
                                        </p:tgtEl>
                                        <p:attrNameLst>
                                          <p:attrName>ppt_x</p:attrName>
                                        </p:attrNameLst>
                                      </p:cBhvr>
                                      <p:tavLst>
                                        <p:tav tm="0">
                                          <p:val>
                                            <p:strVal val="#ppt_x-#ppt_w*1.125000"/>
                                          </p:val>
                                        </p:tav>
                                        <p:tav tm="100000">
                                          <p:val>
                                            <p:strVal val="#ppt_x"/>
                                          </p:val>
                                        </p:tav>
                                      </p:tavLst>
                                    </p:anim>
                                    <p:animEffect transition="in" filter="wipe(right)">
                                      <p:cBhvr>
                                        <p:cTn id="51"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1" grpId="0" build="allAtOnce" bldLvl="0"/>
      <p:bldP spid="11" grpId="1"/>
      <p:bldP spid="12" grpId="0" build="p"/>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98"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41997"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41996" name="Group 14"/>
          <p:cNvGrpSpPr/>
          <p:nvPr/>
        </p:nvGrpSpPr>
        <p:grpSpPr>
          <a:xfrm>
            <a:off x="216612" y="283310"/>
            <a:ext cx="939800" cy="941387"/>
            <a:chOff x="8380487" y="313900"/>
            <a:chExt cx="1308758" cy="1308758"/>
          </a:xfrm>
        </p:grpSpPr>
        <p:sp>
          <p:nvSpPr>
            <p:cNvPr id="16" name="Oval 15"/>
            <p:cNvSpPr/>
            <p:nvPr>
              <p:custDataLst>
                <p:tags r:id="rId4"/>
              </p:custDataLst>
            </p:nvPr>
          </p:nvSpPr>
          <p:spPr>
            <a:xfrm>
              <a:off x="8380487" y="313900"/>
              <a:ext cx="1308758" cy="130875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ID"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Oval 16"/>
            <p:cNvSpPr/>
            <p:nvPr>
              <p:custDataLst>
                <p:tags r:id="rId5"/>
              </p:custDataLst>
            </p:nvPr>
          </p:nvSpPr>
          <p:spPr>
            <a:xfrm>
              <a:off x="8563141" y="496554"/>
              <a:ext cx="943450" cy="943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ID"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4" name="Text1"/>
          <p:cNvSpPr txBox="1"/>
          <p:nvPr>
            <p:custDataLst>
              <p:tags r:id="rId2"/>
            </p:custDataLst>
          </p:nvPr>
        </p:nvSpPr>
        <p:spPr>
          <a:xfrm>
            <a:off x="3321685" y="476885"/>
            <a:ext cx="5549265" cy="673735"/>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AlexNet模型的应用潜力</a:t>
            </a:r>
          </a:p>
        </p:txBody>
      </p:sp>
      <p:sp>
        <p:nvSpPr>
          <p:cNvPr id="5" name="Text2"/>
          <p:cNvSpPr txBox="1"/>
          <p:nvPr>
            <p:custDataLst>
              <p:tags r:id="rId3"/>
            </p:custDataLst>
          </p:nvPr>
        </p:nvSpPr>
        <p:spPr>
          <a:xfrm>
            <a:off x="6386195" y="1475105"/>
            <a:ext cx="5609590" cy="4821555"/>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1.AlexNet模型准确性高</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AlexNet模型在病虫害识别中准确率超过90%，远高于传统方法，减少误判和漏判。</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2.AlexNet模型提升识别速度</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相比传统方法，AlexNet模型识别速度提升50%，实现快速响应，降低损失。</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3.AlexNet模型降低人力成本</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利用AlexNet模型可减少人工巡查成本，节省大量人力，提高农业生产效益。</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4.AlexNet模型适应性强</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AlexNet模型适应不同环境和作物类型，为农业智能化提供强大支持。</a:t>
            </a:r>
          </a:p>
        </p:txBody>
      </p:sp>
      <p:pic>
        <p:nvPicPr>
          <p:cNvPr id="2" name="图片 1" descr="图片1"/>
          <p:cNvPicPr>
            <a:picLocks noChangeAspect="1"/>
          </p:cNvPicPr>
          <p:nvPr/>
        </p:nvPicPr>
        <p:blipFill>
          <a:blip r:embed="rId9"/>
          <a:stretch>
            <a:fillRect/>
          </a:stretch>
        </p:blipFill>
        <p:spPr>
          <a:xfrm>
            <a:off x="119380" y="1844675"/>
            <a:ext cx="6267450" cy="3525520"/>
          </a:xfrm>
          <a:prstGeom prst="rect">
            <a:avLst/>
          </a:prstGeom>
        </p:spPr>
      </p:pic>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down)">
                                      <p:cBhvr>
                                        <p:cTn id="7" dur="500"/>
                                        <p:tgtEl>
                                          <p:spTgt spid="4"/>
                                        </p:tgtEl>
                                      </p:cBhvr>
                                    </p:animEffect>
                                  </p:childTnLst>
                                </p:cTn>
                              </p:par>
                              <p:par>
                                <p:cTn id="8" presetID="1"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500"/>
                            </p:stCondLst>
                            <p:childTnLst>
                              <p:par>
                                <p:cTn id="11" presetID="5" presetClass="entr" presetSubtype="5" fill="hold" grpId="0" nodeType="after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checkerboard(down)">
                                      <p:cBhvr>
                                        <p:cTn id="13" dur="500"/>
                                        <p:tgtEl>
                                          <p:spTgt spid="5">
                                            <p:txEl>
                                              <p:pRg st="0" end="0"/>
                                            </p:txEl>
                                          </p:spTgt>
                                        </p:tgtEl>
                                      </p:cBhvr>
                                    </p:animEffect>
                                  </p:childTnLst>
                                </p:cTn>
                              </p:par>
                            </p:childTnLst>
                          </p:cTn>
                        </p:par>
                        <p:par>
                          <p:cTn id="14" fill="hold">
                            <p:stCondLst>
                              <p:cond delay="1000"/>
                            </p:stCondLst>
                            <p:childTnLst>
                              <p:par>
                                <p:cTn id="15" presetID="5" presetClass="entr" presetSubtype="5" fill="hold" grpId="0" nodeType="after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down)">
                                      <p:cBhvr>
                                        <p:cTn id="17" dur="500"/>
                                        <p:tgtEl>
                                          <p:spTgt spid="5">
                                            <p:txEl>
                                              <p:pRg st="1" end="1"/>
                                            </p:txEl>
                                          </p:spTgt>
                                        </p:tgtEl>
                                      </p:cBhvr>
                                    </p:animEffect>
                                  </p:childTnLst>
                                </p:cTn>
                              </p:par>
                            </p:childTnLst>
                          </p:cTn>
                        </p:par>
                        <p:par>
                          <p:cTn id="18" fill="hold">
                            <p:stCondLst>
                              <p:cond delay="1500"/>
                            </p:stCondLst>
                            <p:childTnLst>
                              <p:par>
                                <p:cTn id="19" presetID="5" presetClass="entr" presetSubtype="5" fill="hold" grpId="0" nodeType="after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checkerboard(down)">
                                      <p:cBhvr>
                                        <p:cTn id="21" dur="500"/>
                                        <p:tgtEl>
                                          <p:spTgt spid="5">
                                            <p:txEl>
                                              <p:pRg st="2" end="2"/>
                                            </p:txEl>
                                          </p:spTgt>
                                        </p:tgtEl>
                                      </p:cBhvr>
                                    </p:animEffect>
                                  </p:childTnLst>
                                </p:cTn>
                              </p:par>
                            </p:childTnLst>
                          </p:cTn>
                        </p:par>
                        <p:par>
                          <p:cTn id="22" fill="hold">
                            <p:stCondLst>
                              <p:cond delay="2000"/>
                            </p:stCondLst>
                            <p:childTnLst>
                              <p:par>
                                <p:cTn id="23" presetID="5" presetClass="entr" presetSubtype="5" fill="hold" grpId="0" nodeType="after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checkerboard(down)">
                                      <p:cBhvr>
                                        <p:cTn id="25" dur="500"/>
                                        <p:tgtEl>
                                          <p:spTgt spid="5">
                                            <p:txEl>
                                              <p:pRg st="3" end="3"/>
                                            </p:txEl>
                                          </p:spTgt>
                                        </p:tgtEl>
                                      </p:cBhvr>
                                    </p:animEffect>
                                  </p:childTnLst>
                                </p:cTn>
                              </p:par>
                            </p:childTnLst>
                          </p:cTn>
                        </p:par>
                        <p:par>
                          <p:cTn id="26" fill="hold">
                            <p:stCondLst>
                              <p:cond delay="2500"/>
                            </p:stCondLst>
                            <p:childTnLst>
                              <p:par>
                                <p:cTn id="27" presetID="5" presetClass="entr" presetSubtype="5" fill="hold" grpId="0" nodeType="after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checkerboard(down)">
                                      <p:cBhvr>
                                        <p:cTn id="29" dur="500"/>
                                        <p:tgtEl>
                                          <p:spTgt spid="5">
                                            <p:txEl>
                                              <p:pRg st="4" end="4"/>
                                            </p:txEl>
                                          </p:spTgt>
                                        </p:tgtEl>
                                      </p:cBhvr>
                                    </p:animEffect>
                                  </p:childTnLst>
                                </p:cTn>
                              </p:par>
                            </p:childTnLst>
                          </p:cTn>
                        </p:par>
                        <p:par>
                          <p:cTn id="30" fill="hold">
                            <p:stCondLst>
                              <p:cond delay="3000"/>
                            </p:stCondLst>
                            <p:childTnLst>
                              <p:par>
                                <p:cTn id="31" presetID="5" presetClass="entr" presetSubtype="5" fill="hold" grpId="0" nodeType="after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Effect transition="in" filter="checkerboard(down)">
                                      <p:cBhvr>
                                        <p:cTn id="33" dur="500"/>
                                        <p:tgtEl>
                                          <p:spTgt spid="5">
                                            <p:txEl>
                                              <p:pRg st="5" end="5"/>
                                            </p:txEl>
                                          </p:spTgt>
                                        </p:tgtEl>
                                      </p:cBhvr>
                                    </p:animEffect>
                                  </p:childTnLst>
                                </p:cTn>
                              </p:par>
                            </p:childTnLst>
                          </p:cTn>
                        </p:par>
                        <p:par>
                          <p:cTn id="34" fill="hold">
                            <p:stCondLst>
                              <p:cond delay="3500"/>
                            </p:stCondLst>
                            <p:childTnLst>
                              <p:par>
                                <p:cTn id="35" presetID="5" presetClass="entr" presetSubtype="5" fill="hold" grpId="0" nodeType="after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checkerboard(down)">
                                      <p:cBhvr>
                                        <p:cTn id="37" dur="500"/>
                                        <p:tgtEl>
                                          <p:spTgt spid="5">
                                            <p:txEl>
                                              <p:pRg st="6" end="6"/>
                                            </p:txEl>
                                          </p:spTgt>
                                        </p:tgtEl>
                                      </p:cBhvr>
                                    </p:animEffect>
                                  </p:childTnLst>
                                </p:cTn>
                              </p:par>
                            </p:childTnLst>
                          </p:cTn>
                        </p:par>
                        <p:par>
                          <p:cTn id="38" fill="hold">
                            <p:stCondLst>
                              <p:cond delay="4000"/>
                            </p:stCondLst>
                            <p:childTnLst>
                              <p:par>
                                <p:cTn id="39" presetID="5" presetClass="entr" presetSubtype="5" fill="hold" grpId="0" nodeType="after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checkerboard(down)">
                                      <p:cBhvr>
                                        <p:cTn id="41"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build="allAtOnce" bldLvl="0"/>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2"/>
            </p:custDataLst>
          </p:nvPr>
        </p:nvGrpSpPr>
        <p:grpSpPr>
          <a:xfrm>
            <a:off x="915670" y="1713230"/>
            <a:ext cx="4022090" cy="1955800"/>
            <a:chOff x="1442" y="2698"/>
            <a:chExt cx="6334" cy="3080"/>
          </a:xfrm>
        </p:grpSpPr>
        <p:sp>
          <p:nvSpPr>
            <p:cNvPr id="5" name="Text1"/>
            <p:cNvSpPr/>
            <p:nvPr>
              <p:custDataLst>
                <p:tags r:id="rId19"/>
              </p:custDataLst>
            </p:nvPr>
          </p:nvSpPr>
          <p:spPr>
            <a:xfrm>
              <a:off x="1442" y="2698"/>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01</a:t>
              </a:r>
              <a:endParaRPr lang="zh-CN" altLang="en-US" sz="2400" b="1">
                <a:latin typeface="微软雅黑" panose="020B0503020204020204" pitchFamily="34" charset="-122"/>
                <a:ea typeface="微软雅黑" panose="020B0503020204020204" pitchFamily="34" charset="-122"/>
              </a:endParaRPr>
            </a:p>
          </p:txBody>
        </p:sp>
        <p:sp>
          <p:nvSpPr>
            <p:cNvPr id="66" name="Text2"/>
            <p:cNvSpPr/>
            <p:nvPr>
              <p:custDataLst>
                <p:tags r:id="rId20"/>
              </p:custDataLst>
            </p:nvPr>
          </p:nvSpPr>
          <p:spPr>
            <a:xfrm>
              <a:off x="3022" y="2698"/>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76" name="Text3"/>
            <p:cNvSpPr txBox="1"/>
            <p:nvPr>
              <p:custDataLst>
                <p:tags r:id="rId21"/>
              </p:custDataLst>
            </p:nvPr>
          </p:nvSpPr>
          <p:spPr>
            <a:xfrm>
              <a:off x="3381" y="3845"/>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利用深度学习算法，智能病虫害识别系统准确率可达95%以上，极大减少人工诊断的误判率。</a:t>
              </a:r>
            </a:p>
          </p:txBody>
        </p:sp>
        <p:sp>
          <p:nvSpPr>
            <p:cNvPr id="83" name="Text4"/>
            <p:cNvSpPr txBox="1"/>
            <p:nvPr>
              <p:custDataLst>
                <p:tags r:id="rId22"/>
              </p:custDataLst>
            </p:nvPr>
          </p:nvSpPr>
          <p:spPr>
            <a:xfrm>
              <a:off x="3381" y="3026"/>
              <a:ext cx="3975" cy="62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智能识别减少误判</a:t>
              </a:r>
            </a:p>
          </p:txBody>
        </p:sp>
      </p:grpSp>
      <p:grpSp>
        <p:nvGrpSpPr>
          <p:cNvPr id="4" name="组合 3"/>
          <p:cNvGrpSpPr/>
          <p:nvPr>
            <p:custDataLst>
              <p:tags r:id="rId3"/>
            </p:custDataLst>
          </p:nvPr>
        </p:nvGrpSpPr>
        <p:grpSpPr>
          <a:xfrm>
            <a:off x="6243320" y="1713230"/>
            <a:ext cx="3996690" cy="1968500"/>
            <a:chOff x="9832" y="2698"/>
            <a:chExt cx="6294" cy="3100"/>
          </a:xfrm>
        </p:grpSpPr>
        <p:sp>
          <p:nvSpPr>
            <p:cNvPr id="40" name="Text5"/>
            <p:cNvSpPr/>
            <p:nvPr>
              <p:custDataLst>
                <p:tags r:id="rId15"/>
              </p:custDataLst>
            </p:nvPr>
          </p:nvSpPr>
          <p:spPr>
            <a:xfrm>
              <a:off x="9832" y="2698"/>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02</a:t>
              </a:r>
              <a:endParaRPr lang="zh-CN" altLang="en-US" sz="2400" b="1">
                <a:latin typeface="微软雅黑" panose="020B0503020204020204" pitchFamily="34" charset="-122"/>
                <a:ea typeface="微软雅黑" panose="020B0503020204020204" pitchFamily="34" charset="-122"/>
              </a:endParaRPr>
            </a:p>
          </p:txBody>
        </p:sp>
        <p:sp>
          <p:nvSpPr>
            <p:cNvPr id="72" name="Text6"/>
            <p:cNvSpPr/>
            <p:nvPr>
              <p:custDataLst>
                <p:tags r:id="rId16"/>
              </p:custDataLst>
            </p:nvPr>
          </p:nvSpPr>
          <p:spPr>
            <a:xfrm>
              <a:off x="11372" y="2718"/>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7" name="Text7"/>
            <p:cNvSpPr txBox="1"/>
            <p:nvPr>
              <p:custDataLst>
                <p:tags r:id="rId17"/>
              </p:custDataLst>
            </p:nvPr>
          </p:nvSpPr>
          <p:spPr>
            <a:xfrm>
              <a:off x="11771" y="3026"/>
              <a:ext cx="3975" cy="62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000" b="1">
                  <a:solidFill>
                    <a:schemeClr val="accent1">
                      <a:lumMod val="75000"/>
                    </a:schemeClr>
                  </a:solidFill>
                  <a:latin typeface="微软雅黑" panose="020B0503020204020204" pitchFamily="34" charset="-122"/>
                  <a:ea typeface="微软雅黑" panose="020B0503020204020204" pitchFamily="34" charset="-122"/>
                </a:rPr>
                <a:t>防治结合提高效率</a:t>
              </a:r>
            </a:p>
          </p:txBody>
        </p:sp>
        <p:sp>
          <p:nvSpPr>
            <p:cNvPr id="86" name="Text8"/>
            <p:cNvSpPr txBox="1"/>
            <p:nvPr>
              <p:custDataLst>
                <p:tags r:id="rId18"/>
              </p:custDataLst>
            </p:nvPr>
          </p:nvSpPr>
          <p:spPr>
            <a:xfrm>
              <a:off x="11771" y="3845"/>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结合智能识别，精准施药减少农药浪费30%，同时提高防治效果，提升农业生产效率20%。</a:t>
              </a:r>
            </a:p>
          </p:txBody>
        </p:sp>
      </p:grpSp>
      <p:grpSp>
        <p:nvGrpSpPr>
          <p:cNvPr id="6" name="组合 5"/>
          <p:cNvGrpSpPr/>
          <p:nvPr>
            <p:custDataLst>
              <p:tags r:id="rId4"/>
            </p:custDataLst>
          </p:nvPr>
        </p:nvGrpSpPr>
        <p:grpSpPr>
          <a:xfrm>
            <a:off x="1981200" y="4210050"/>
            <a:ext cx="4022090" cy="1955800"/>
            <a:chOff x="3120" y="6630"/>
            <a:chExt cx="6334" cy="3080"/>
          </a:xfrm>
        </p:grpSpPr>
        <p:sp>
          <p:nvSpPr>
            <p:cNvPr id="23" name="Text9"/>
            <p:cNvSpPr/>
            <p:nvPr>
              <p:custDataLst>
                <p:tags r:id="rId11"/>
              </p:custDataLst>
            </p:nvPr>
          </p:nvSpPr>
          <p:spPr>
            <a:xfrm>
              <a:off x="3120" y="663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03</a:t>
              </a:r>
              <a:endParaRPr lang="zh-CN" altLang="en-US" sz="2400" b="1">
                <a:latin typeface="微软雅黑" panose="020B0503020204020204" pitchFamily="34" charset="-122"/>
                <a:ea typeface="微软雅黑" panose="020B0503020204020204" pitchFamily="34" charset="-122"/>
              </a:endParaRPr>
            </a:p>
          </p:txBody>
        </p:sp>
        <p:sp>
          <p:nvSpPr>
            <p:cNvPr id="73" name="Text10"/>
            <p:cNvSpPr/>
            <p:nvPr>
              <p:custDataLst>
                <p:tags r:id="rId12"/>
              </p:custDataLst>
            </p:nvPr>
          </p:nvSpPr>
          <p:spPr>
            <a:xfrm>
              <a:off x="4700" y="6630"/>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93" name="Text11"/>
            <p:cNvSpPr txBox="1"/>
            <p:nvPr>
              <p:custDataLst>
                <p:tags r:id="rId13"/>
              </p:custDataLst>
            </p:nvPr>
          </p:nvSpPr>
          <p:spPr>
            <a:xfrm>
              <a:off x="5059" y="6958"/>
              <a:ext cx="4036" cy="62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大数据分析预防前瞻</a:t>
              </a:r>
            </a:p>
          </p:txBody>
        </p:sp>
        <p:sp>
          <p:nvSpPr>
            <p:cNvPr id="92" name="Text12"/>
            <p:cNvSpPr txBox="1"/>
            <p:nvPr>
              <p:custDataLst>
                <p:tags r:id="rId14"/>
              </p:custDataLst>
            </p:nvPr>
          </p:nvSpPr>
          <p:spPr>
            <a:xfrm>
              <a:off x="5059" y="7777"/>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系统累积数据可用于分析病虫害流行趋势，提前预警，为农业生产提供前瞻性指导。</a:t>
              </a:r>
            </a:p>
          </p:txBody>
        </p:sp>
      </p:grpSp>
      <p:grpSp>
        <p:nvGrpSpPr>
          <p:cNvPr id="7" name="组合 6"/>
          <p:cNvGrpSpPr/>
          <p:nvPr>
            <p:custDataLst>
              <p:tags r:id="rId5"/>
            </p:custDataLst>
          </p:nvPr>
        </p:nvGrpSpPr>
        <p:grpSpPr>
          <a:xfrm>
            <a:off x="7308850" y="4210050"/>
            <a:ext cx="4022090" cy="1955800"/>
            <a:chOff x="11510" y="6630"/>
            <a:chExt cx="6334" cy="3080"/>
          </a:xfrm>
        </p:grpSpPr>
        <p:sp>
          <p:nvSpPr>
            <p:cNvPr id="48" name="Text13"/>
            <p:cNvSpPr/>
            <p:nvPr>
              <p:custDataLst>
                <p:tags r:id="rId7"/>
              </p:custDataLst>
            </p:nvPr>
          </p:nvSpPr>
          <p:spPr>
            <a:xfrm>
              <a:off x="11510" y="663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04</a:t>
              </a:r>
              <a:endParaRPr lang="zh-CN" altLang="en-US" sz="2400" b="1">
                <a:latin typeface="微软雅黑" panose="020B0503020204020204" pitchFamily="34" charset="-122"/>
                <a:ea typeface="微软雅黑" panose="020B0503020204020204" pitchFamily="34" charset="-122"/>
              </a:endParaRPr>
            </a:p>
          </p:txBody>
        </p:sp>
        <p:sp>
          <p:nvSpPr>
            <p:cNvPr id="74" name="Text14"/>
            <p:cNvSpPr/>
            <p:nvPr>
              <p:custDataLst>
                <p:tags r:id="rId8"/>
              </p:custDataLst>
            </p:nvPr>
          </p:nvSpPr>
          <p:spPr>
            <a:xfrm>
              <a:off x="13090" y="6630"/>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90" name="Text15"/>
            <p:cNvSpPr txBox="1"/>
            <p:nvPr>
              <p:custDataLst>
                <p:tags r:id="rId9"/>
              </p:custDataLst>
            </p:nvPr>
          </p:nvSpPr>
          <p:spPr>
            <a:xfrm>
              <a:off x="13449" y="6958"/>
              <a:ext cx="4063" cy="628"/>
            </a:xfrm>
            <a:prstGeom prst="rect">
              <a:avLst/>
            </a:prstGeom>
            <a:noFill/>
          </p:spPr>
          <p:txBody>
            <a:bodyPr wrap="square" rtlCol="0">
              <a:normAutofit fontScale="7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创新性技术促进可持续发展</a:t>
              </a:r>
            </a:p>
          </p:txBody>
        </p:sp>
        <p:sp>
          <p:nvSpPr>
            <p:cNvPr id="89" name="Text16"/>
            <p:cNvSpPr txBox="1"/>
            <p:nvPr>
              <p:custDataLst>
                <p:tags r:id="rId10"/>
              </p:custDataLst>
            </p:nvPr>
          </p:nvSpPr>
          <p:spPr>
            <a:xfrm>
              <a:off x="13449" y="7777"/>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智能病虫害识别系统作为一种创新技术，推动农业生产向智能化、绿色化、可持续方向发展。</a:t>
              </a:r>
            </a:p>
          </p:txBody>
        </p:sp>
      </p:grpSp>
      <p:sp>
        <p:nvSpPr>
          <p:cNvPr id="2" name="Text17"/>
          <p:cNvSpPr txBox="1"/>
          <p:nvPr>
            <p:custDataLst>
              <p:tags r:id="rId6"/>
            </p:custDataLst>
          </p:nvPr>
        </p:nvSpPr>
        <p:spPr>
          <a:xfrm>
            <a:off x="347808" y="305152"/>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基于AlexNet模型的病虫害识别系统</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3" presetClass="entr" presetSubtype="16"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plus(in)">
                                      <p:cBhvr>
                                        <p:cTn id="10" dur="2000"/>
                                        <p:tgtEl>
                                          <p:spTgt spid="3"/>
                                        </p:tgtEl>
                                      </p:cBhvr>
                                    </p:animEffect>
                                  </p:childTnLst>
                                </p:cTn>
                              </p:par>
                            </p:childTnLst>
                          </p:cTn>
                        </p:par>
                        <p:par>
                          <p:cTn id="11" fill="hold">
                            <p:stCondLst>
                              <p:cond delay="2000"/>
                            </p:stCondLst>
                            <p:childTnLst>
                              <p:par>
                                <p:cTn id="12" presetID="13" presetClass="entr" presetSubtype="16"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plus(in)">
                                      <p:cBhvr>
                                        <p:cTn id="14" dur="2000"/>
                                        <p:tgtEl>
                                          <p:spTgt spid="4"/>
                                        </p:tgtEl>
                                      </p:cBhvr>
                                    </p:animEffect>
                                  </p:childTnLst>
                                </p:cTn>
                              </p:par>
                            </p:childTnLst>
                          </p:cTn>
                        </p:par>
                        <p:par>
                          <p:cTn id="15" fill="hold">
                            <p:stCondLst>
                              <p:cond delay="4000"/>
                            </p:stCondLst>
                            <p:childTnLst>
                              <p:par>
                                <p:cTn id="16" presetID="13" presetClass="entr" presetSubtype="16"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plus(in)">
                                      <p:cBhvr>
                                        <p:cTn id="18" dur="2000"/>
                                        <p:tgtEl>
                                          <p:spTgt spid="6"/>
                                        </p:tgtEl>
                                      </p:cBhvr>
                                    </p:animEffect>
                                  </p:childTnLst>
                                </p:cTn>
                              </p:par>
                            </p:childTnLst>
                          </p:cTn>
                        </p:par>
                        <p:par>
                          <p:cTn id="19" fill="hold">
                            <p:stCondLst>
                              <p:cond delay="6000"/>
                            </p:stCondLst>
                            <p:childTnLst>
                              <p:par>
                                <p:cTn id="20" presetID="13" presetClass="entr" presetSubtype="16"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plus(in)">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产品介绍</a:t>
            </a: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Product Introduction</a:t>
            </a: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02</a:t>
            </a: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Shape1"/>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 name="Shape2"/>
          <p:cNvSpPr/>
          <p:nvPr>
            <p:custDataLst>
              <p:tags r:id="rId2"/>
            </p:custDataLst>
          </p:nvPr>
        </p:nvSpPr>
        <p:spPr>
          <a:xfrm>
            <a:off x="243068" y="988196"/>
            <a:ext cx="5378950" cy="2096135"/>
          </a:xfrm>
          <a:prstGeom prst="round1Rect">
            <a:avLst>
              <a:gd name="adj" fmla="val 21357"/>
            </a:avLst>
          </a:prstGeom>
          <a:blipFill rotWithShape="1">
            <a:blip r:embed="rId10"/>
            <a:stretch>
              <a:fillRect t="-78306" b="-783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7" name="Shape3"/>
          <p:cNvSpPr/>
          <p:nvPr>
            <p:custDataLst>
              <p:tags r:id="rId3"/>
            </p:custDataLst>
          </p:nvPr>
        </p:nvSpPr>
        <p:spPr>
          <a:xfrm>
            <a:off x="243068" y="3287531"/>
            <a:ext cx="2613803" cy="2096135"/>
          </a:xfrm>
          <a:prstGeom prst="round1Rect">
            <a:avLst>
              <a:gd name="adj" fmla="val 26355"/>
            </a:avLst>
          </a:prstGeom>
          <a:blipFill rotWithShape="1">
            <a:blip r:embed="rId11"/>
            <a:stretch>
              <a:fillRect t="-12348" b="-123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8" name="Shape4"/>
          <p:cNvSpPr/>
          <p:nvPr>
            <p:custDataLst>
              <p:tags r:id="rId4"/>
            </p:custDataLst>
          </p:nvPr>
        </p:nvSpPr>
        <p:spPr>
          <a:xfrm>
            <a:off x="3008215" y="3287531"/>
            <a:ext cx="2613803" cy="2096135"/>
          </a:xfrm>
          <a:prstGeom prst="round1Rect">
            <a:avLst>
              <a:gd name="adj" fmla="val 26355"/>
            </a:avLst>
          </a:prstGeom>
          <a:blipFill rotWithShape="1">
            <a:blip r:embed="rId12"/>
            <a:stretch>
              <a:fillRect t="-12348" b="-123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5" name="Text1"/>
          <p:cNvSpPr txBox="1"/>
          <p:nvPr>
            <p:custDataLst>
              <p:tags r:id="rId5"/>
            </p:custDataLst>
          </p:nvPr>
        </p:nvSpPr>
        <p:spPr>
          <a:xfrm>
            <a:off x="6146800" y="387411"/>
            <a:ext cx="5618492" cy="1316910"/>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气候变化与灾害影响</a:t>
            </a:r>
          </a:p>
        </p:txBody>
      </p:sp>
      <p:sp>
        <p:nvSpPr>
          <p:cNvPr id="23" name="Text2"/>
          <p:cNvSpPr txBox="1"/>
          <p:nvPr>
            <p:custDataLst>
              <p:tags r:id="rId6"/>
            </p:custDataLst>
          </p:nvPr>
        </p:nvSpPr>
        <p:spPr>
          <a:xfrm>
            <a:off x="6147297" y="1884434"/>
            <a:ext cx="5625736" cy="4581247"/>
          </a:xfrm>
          <a:prstGeom prst="rect">
            <a:avLst/>
          </a:prstGeom>
          <a:noFill/>
          <a:ln>
            <a:noFill/>
          </a:ln>
        </p:spPr>
        <p:txBody>
          <a:bodyPr spcFirstLastPara="1" wrap="square" lIns="60950" tIns="30466" rIns="60950" bIns="30466"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1.智能识别减少误诊</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智能病虫害识别系统通过深度学习算法，准确率高达95%，有效减少误诊，提高防治效率。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2.农业生产成本降低</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系统自动化识别病虫害，减少人力投入，据测算，农业生产成本可降低10%-15%。</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3.适应气候变化挑战</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随着气候变化，病虫害频发，智能识别系统可快速响应，助力农业生产应对挑战。</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4.提升灾害应对能力</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在自然灾害发生时，系统可实时监测病虫害动态，及时指导灾后恢复生产，减少损失。</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strVal val="#ppt_w*0.70"/>
                                          </p:val>
                                        </p:tav>
                                        <p:tav tm="100000">
                                          <p:val>
                                            <p:strVal val="#ppt_w"/>
                                          </p:val>
                                        </p:tav>
                                      </p:tavLst>
                                    </p:anim>
                                    <p:anim calcmode="lin" valueType="num">
                                      <p:cBhvr>
                                        <p:cTn id="8" dur="1000" fill="hold"/>
                                        <p:tgtEl>
                                          <p:spTgt spid="15"/>
                                        </p:tgtEl>
                                        <p:attrNameLst>
                                          <p:attrName>ppt_h</p:attrName>
                                        </p:attrNameLst>
                                      </p:cBhvr>
                                      <p:tavLst>
                                        <p:tav tm="0">
                                          <p:val>
                                            <p:strVal val="#ppt_h"/>
                                          </p:val>
                                        </p:tav>
                                        <p:tav tm="100000">
                                          <p:val>
                                            <p:strVal val="#ppt_h"/>
                                          </p:val>
                                        </p:tav>
                                      </p:tavLst>
                                    </p:anim>
                                    <p:animEffect transition="in" filter="fade">
                                      <p:cBhvr>
                                        <p:cTn id="9" dur="1000"/>
                                        <p:tgtEl>
                                          <p:spTgt spid="15"/>
                                        </p:tgtEl>
                                      </p:cBhvr>
                                    </p:animEffect>
                                  </p:childTnLst>
                                </p:cTn>
                              </p:par>
                              <p:par>
                                <p:cTn id="10" presetID="22" presetClass="entr" presetSubtype="1"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500"/>
                                        <p:tgtEl>
                                          <p:spTgt spid="8"/>
                                        </p:tgtEl>
                                      </p:cBhvr>
                                    </p:animEffect>
                                  </p:childTnLst>
                                </p:cTn>
                              </p:par>
                            </p:childTnLst>
                          </p:cTn>
                        </p:par>
                        <p:par>
                          <p:cTn id="19" fill="hold">
                            <p:stCondLst>
                              <p:cond delay="1000"/>
                            </p:stCondLst>
                            <p:childTnLst>
                              <p:par>
                                <p:cTn id="20" presetID="14" presetClass="entr" presetSubtype="10"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randombar(horizontal)">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animBg="1"/>
      <p:bldP spid="7" grpId="1" animBg="1"/>
      <p:bldP spid="8" grpId="0" animBg="1"/>
      <p:bldP spid="8" grpId="1" animBg="1"/>
      <p:bldP spid="15" grpId="0"/>
      <p:bldP spid="15" grpId="1"/>
      <p:bldP spid="23" grpId="0"/>
      <p:bldP spid="2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Text1"/>
          <p:cNvCxnSpPr/>
          <p:nvPr>
            <p:custDataLst>
              <p:tags r:id="rId2"/>
            </p:custDataLst>
          </p:nvPr>
        </p:nvCxnSpPr>
        <p:spPr>
          <a:xfrm flipH="1">
            <a:off x="548640" y="3719195"/>
            <a:ext cx="0" cy="25749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Shape1"/>
          <p:cNvSpPr/>
          <p:nvPr>
            <p:custDataLst>
              <p:tags r:id="rId3"/>
            </p:custDataLst>
          </p:nvPr>
        </p:nvSpPr>
        <p:spPr>
          <a:xfrm>
            <a:off x="518161" y="1534160"/>
            <a:ext cx="3340732" cy="2187575"/>
          </a:xfrm>
          <a:prstGeom prst="roundRect">
            <a:avLst/>
          </a:prstGeom>
          <a:blipFill rotWithShape="1">
            <a:blip r:embed="rId17"/>
            <a:stretch>
              <a:fillRect t="-26357" b="-26357"/>
            </a:stretch>
          </a:blip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1" i="1"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4" name="Text2"/>
          <p:cNvSpPr txBox="1"/>
          <p:nvPr>
            <p:custDataLst>
              <p:tags r:id="rId4"/>
            </p:custDataLst>
          </p:nvPr>
        </p:nvSpPr>
        <p:spPr>
          <a:xfrm>
            <a:off x="790576" y="4412904"/>
            <a:ext cx="3068316" cy="1911696"/>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ts val="300"/>
              </a:spcBef>
              <a:spcAft>
                <a:spcPts val="300"/>
              </a:spcAft>
              <a:buClrTx/>
              <a:buSzTx/>
              <a:buFontTx/>
            </a:pPr>
            <a:r>
              <a:rPr lang="en-US" altLang="zh-CN" sz="1400">
                <a:solidFill>
                  <a:schemeClr val="bg2"/>
                </a:solidFill>
                <a:latin typeface="微软雅黑" panose="020B0503020204020204" pitchFamily="34" charset="-122"/>
                <a:ea typeface="微软雅黑" panose="020B0503020204020204" pitchFamily="34" charset="-122"/>
                <a:sym typeface="+mn-ea"/>
              </a:rPr>
              <a:t>传统病虫害识别依赖人工，识别效率低下，难以满足现代农业大规模、高效率的需求。据统计，人工识别病虫害的准确率约为80%，且耗时较长，影响农业生产进度。</a:t>
            </a:r>
          </a:p>
        </p:txBody>
      </p:sp>
      <p:sp>
        <p:nvSpPr>
          <p:cNvPr id="33" name="Text3"/>
          <p:cNvSpPr txBox="1"/>
          <p:nvPr>
            <p:custDataLst>
              <p:tags r:id="rId5"/>
            </p:custDataLst>
          </p:nvPr>
        </p:nvSpPr>
        <p:spPr>
          <a:xfrm>
            <a:off x="790575" y="3830955"/>
            <a:ext cx="3055615" cy="512445"/>
          </a:xfrm>
          <a:prstGeom prst="rect">
            <a:avLst/>
          </a:prstGeom>
        </p:spPr>
        <p:txBody>
          <a:bodyPr vert="horz" wrap="square" lIns="91440" tIns="45720" rIns="91440" bIns="45720" rtlCol="0" anchor="ctr" anchorCtr="0">
            <a:normAutofit/>
          </a:bodyPr>
          <a:lstStyle>
            <a:defPPr>
              <a:defRPr lang="zh-CN"/>
            </a:defPPr>
            <a:lvl1pPr marL="0" indent="0" algn="r" defTabSz="914400" rtl="0" eaLnBrk="1" latinLnBrk="0" hangingPunct="1">
              <a:lnSpc>
                <a:spcPct val="150000"/>
              </a:lnSpc>
              <a:spcBef>
                <a:spcPct val="0"/>
              </a:spcBef>
              <a:buFont typeface="Arial" panose="020B0604020202020204" pitchFamily="34" charset="0"/>
              <a:buNone/>
              <a:defRPr sz="2400" kern="1200">
                <a:solidFill>
                  <a:srgbClr val="024EAE"/>
                </a:solidFill>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00000"/>
              </a:lnSpc>
            </a:pPr>
            <a:r>
              <a:rPr lang="zh-CN" altLang="en-US" sz="2000" b="1">
                <a:solidFill>
                  <a:schemeClr val="accent1"/>
                </a:solidFill>
                <a:latin typeface="微软雅黑" panose="020B0503020204020204" pitchFamily="34" charset="-122"/>
                <a:ea typeface="微软雅黑" panose="020B0503020204020204" pitchFamily="34" charset="-122"/>
                <a:sym typeface="+mn-ea"/>
              </a:rPr>
              <a:t>传统识别方法效率低</a:t>
            </a:r>
          </a:p>
        </p:txBody>
      </p:sp>
      <p:cxnSp>
        <p:nvCxnSpPr>
          <p:cNvPr id="13" name="Text4"/>
          <p:cNvCxnSpPr/>
          <p:nvPr>
            <p:custDataLst>
              <p:tags r:id="rId6"/>
            </p:custDataLst>
          </p:nvPr>
        </p:nvCxnSpPr>
        <p:spPr>
          <a:xfrm flipH="1">
            <a:off x="4456113" y="3719195"/>
            <a:ext cx="0" cy="25749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Shape2"/>
          <p:cNvSpPr/>
          <p:nvPr>
            <p:custDataLst>
              <p:tags r:id="rId7"/>
            </p:custDataLst>
          </p:nvPr>
        </p:nvSpPr>
        <p:spPr>
          <a:xfrm>
            <a:off x="4425634" y="1534160"/>
            <a:ext cx="3340732" cy="2187575"/>
          </a:xfrm>
          <a:prstGeom prst="roundRect">
            <a:avLst/>
          </a:prstGeom>
          <a:blipFill rotWithShape="1">
            <a:blip r:embed="rId18"/>
            <a:stretch>
              <a:fillRect t="-26357" b="-26357"/>
            </a:stretch>
          </a:blip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1" i="1"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5" name="Text5"/>
          <p:cNvSpPr txBox="1"/>
          <p:nvPr>
            <p:custDataLst>
              <p:tags r:id="rId8"/>
            </p:custDataLst>
          </p:nvPr>
        </p:nvSpPr>
        <p:spPr>
          <a:xfrm>
            <a:off x="4698049" y="4412904"/>
            <a:ext cx="3068316" cy="191169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ts val="300"/>
              </a:spcBef>
              <a:spcAft>
                <a:spcPts val="300"/>
              </a:spcAft>
              <a:buClrTx/>
              <a:buSzTx/>
              <a:buFontTx/>
            </a:pPr>
            <a:r>
              <a:rPr lang="en-US" altLang="zh-CN" sz="1400">
                <a:solidFill>
                  <a:schemeClr val="bg2"/>
                </a:solidFill>
                <a:latin typeface="微软雅黑" panose="020B0503020204020204" pitchFamily="34" charset="-122"/>
                <a:ea typeface="微软雅黑" panose="020B0503020204020204" pitchFamily="34" charset="-122"/>
                <a:sym typeface="+mn-ea"/>
              </a:rPr>
              <a:t>当前防治措施中大量使用化学农药，不仅污染环境，还可能导致病虫害产生抗药性。研究显示，长期使用同种农药，害虫的抗药性会逐年增强，降低防治效果。</a:t>
            </a:r>
          </a:p>
        </p:txBody>
      </p:sp>
      <p:sp>
        <p:nvSpPr>
          <p:cNvPr id="16" name="Text6"/>
          <p:cNvSpPr txBox="1"/>
          <p:nvPr>
            <p:custDataLst>
              <p:tags r:id="rId9"/>
            </p:custDataLst>
          </p:nvPr>
        </p:nvSpPr>
        <p:spPr>
          <a:xfrm>
            <a:off x="4698048" y="3830955"/>
            <a:ext cx="3055615" cy="512445"/>
          </a:xfrm>
          <a:prstGeom prst="rect">
            <a:avLst/>
          </a:prstGeom>
        </p:spPr>
        <p:txBody>
          <a:bodyPr vert="horz" wrap="square" lIns="91440" tIns="45720" rIns="91440" bIns="45720" rtlCol="0" anchor="ctr" anchorCtr="0">
            <a:normAutofit/>
          </a:bodyPr>
          <a:lstStyle>
            <a:defPPr>
              <a:defRPr lang="zh-CN"/>
            </a:defPPr>
            <a:lvl1pPr marL="0" indent="0" algn="r" defTabSz="914400" rtl="0" eaLnBrk="1" latinLnBrk="0" hangingPunct="1">
              <a:lnSpc>
                <a:spcPct val="150000"/>
              </a:lnSpc>
              <a:spcBef>
                <a:spcPct val="0"/>
              </a:spcBef>
              <a:buFont typeface="Arial" panose="020B0604020202020204" pitchFamily="34" charset="0"/>
              <a:buNone/>
              <a:defRPr sz="2400" kern="1200">
                <a:solidFill>
                  <a:srgbClr val="024EAE"/>
                </a:solidFill>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00000"/>
              </a:lnSpc>
            </a:pPr>
            <a:r>
              <a:rPr lang="zh-CN" altLang="en-US" sz="2000" b="1">
                <a:solidFill>
                  <a:schemeClr val="accent1"/>
                </a:solidFill>
                <a:latin typeface="微软雅黑" panose="020B0503020204020204" pitchFamily="34" charset="-122"/>
                <a:ea typeface="微软雅黑" panose="020B0503020204020204" pitchFamily="34" charset="-122"/>
                <a:sym typeface="+mn-ea"/>
              </a:rPr>
              <a:t>化学防治污染环境</a:t>
            </a:r>
          </a:p>
        </p:txBody>
      </p:sp>
      <p:cxnSp>
        <p:nvCxnSpPr>
          <p:cNvPr id="18" name="Text7"/>
          <p:cNvCxnSpPr/>
          <p:nvPr>
            <p:custDataLst>
              <p:tags r:id="rId10"/>
            </p:custDataLst>
          </p:nvPr>
        </p:nvCxnSpPr>
        <p:spPr>
          <a:xfrm flipH="1">
            <a:off x="8314695" y="3719195"/>
            <a:ext cx="0" cy="25749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Shape3"/>
          <p:cNvSpPr/>
          <p:nvPr>
            <p:custDataLst>
              <p:tags r:id="rId11"/>
            </p:custDataLst>
          </p:nvPr>
        </p:nvSpPr>
        <p:spPr>
          <a:xfrm>
            <a:off x="8302628" y="1534160"/>
            <a:ext cx="3340732" cy="2187575"/>
          </a:xfrm>
          <a:prstGeom prst="roundRect">
            <a:avLst/>
          </a:prstGeom>
          <a:blipFill rotWithShape="1">
            <a:blip r:embed="rId19"/>
            <a:stretch>
              <a:fillRect t="-26357" b="-26357"/>
            </a:stretch>
          </a:blip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1" i="1"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0" name="Text8"/>
          <p:cNvSpPr txBox="1"/>
          <p:nvPr>
            <p:custDataLst>
              <p:tags r:id="rId12"/>
            </p:custDataLst>
          </p:nvPr>
        </p:nvSpPr>
        <p:spPr>
          <a:xfrm>
            <a:off x="8575043" y="4412904"/>
            <a:ext cx="3068316" cy="191169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ts val="300"/>
              </a:spcBef>
              <a:spcAft>
                <a:spcPts val="300"/>
              </a:spcAft>
              <a:buClrTx/>
              <a:buSzTx/>
              <a:buFontTx/>
            </a:pPr>
            <a:r>
              <a:rPr lang="en-US" altLang="zh-CN" sz="1400">
                <a:solidFill>
                  <a:schemeClr val="bg2"/>
                </a:solidFill>
                <a:latin typeface="微软雅黑" panose="020B0503020204020204" pitchFamily="34" charset="-122"/>
                <a:ea typeface="微软雅黑" panose="020B0503020204020204" pitchFamily="34" charset="-122"/>
                <a:sym typeface="+mn-ea"/>
              </a:rPr>
              <a:t>生物防治作为一种环保的病虫害防治方法，其成本较高，限制了其在农业生产中的广泛应用。以天敌昆虫养殖为例，其培养成本高，且不易保存，难以大规模推广。</a:t>
            </a:r>
          </a:p>
        </p:txBody>
      </p:sp>
      <p:sp>
        <p:nvSpPr>
          <p:cNvPr id="21" name="Text9"/>
          <p:cNvSpPr txBox="1"/>
          <p:nvPr>
            <p:custDataLst>
              <p:tags r:id="rId13"/>
            </p:custDataLst>
          </p:nvPr>
        </p:nvSpPr>
        <p:spPr>
          <a:xfrm>
            <a:off x="8575042" y="3830955"/>
            <a:ext cx="3055615" cy="512445"/>
          </a:xfrm>
          <a:prstGeom prst="rect">
            <a:avLst/>
          </a:prstGeom>
        </p:spPr>
        <p:txBody>
          <a:bodyPr vert="horz" wrap="square" lIns="91440" tIns="45720" rIns="91440" bIns="45720" rtlCol="0" anchor="ctr" anchorCtr="0">
            <a:normAutofit/>
          </a:bodyPr>
          <a:lstStyle>
            <a:defPPr>
              <a:defRPr lang="zh-CN"/>
            </a:defPPr>
            <a:lvl1pPr marL="0" indent="0" algn="r" defTabSz="914400" rtl="0" eaLnBrk="1" latinLnBrk="0" hangingPunct="1">
              <a:lnSpc>
                <a:spcPct val="150000"/>
              </a:lnSpc>
              <a:spcBef>
                <a:spcPct val="0"/>
              </a:spcBef>
              <a:buFont typeface="Arial" panose="020B0604020202020204" pitchFamily="34" charset="0"/>
              <a:buNone/>
              <a:defRPr sz="2400" kern="1200">
                <a:solidFill>
                  <a:srgbClr val="024EAE"/>
                </a:solidFill>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00000"/>
              </a:lnSpc>
            </a:pPr>
            <a:r>
              <a:rPr lang="zh-CN" altLang="en-US" sz="2000" b="1">
                <a:solidFill>
                  <a:schemeClr val="accent1"/>
                </a:solidFill>
                <a:latin typeface="微软雅黑" panose="020B0503020204020204" pitchFamily="34" charset="-122"/>
                <a:ea typeface="微软雅黑" panose="020B0503020204020204" pitchFamily="34" charset="-122"/>
                <a:sym typeface="+mn-ea"/>
              </a:rPr>
              <a:t>生物防治成本高昂</a:t>
            </a:r>
          </a:p>
        </p:txBody>
      </p:sp>
      <p:sp>
        <p:nvSpPr>
          <p:cNvPr id="12" name="Text10"/>
          <p:cNvSpPr txBox="1"/>
          <p:nvPr>
            <p:custDataLst>
              <p:tags r:id="rId14"/>
            </p:custDataLst>
          </p:nvPr>
        </p:nvSpPr>
        <p:spPr>
          <a:xfrm>
            <a:off x="347980" y="305435"/>
            <a:ext cx="4438650" cy="720090"/>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当前防治措施的局限性</a:t>
            </a:r>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8" fill="hold" grpId="0" nodeType="after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wheel(8)">
                                      <p:cBhvr>
                                        <p:cTn id="7" dur="500"/>
                                        <p:tgtEl>
                                          <p:spTgt spid="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wipe(left)">
                                      <p:cBhvr>
                                        <p:cTn id="14" dur="500"/>
                                        <p:tgtEl>
                                          <p:spTgt spid="3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left)">
                                      <p:cBhvr>
                                        <p:cTn id="20" dur="500"/>
                                        <p:tgtEl>
                                          <p:spTgt spid="33"/>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4" grpId="0"/>
      <p:bldP spid="34" grpId="1"/>
      <p:bldP spid="33" grpId="0"/>
      <p:bldP spid="33" grpId="1"/>
      <p:bldP spid="14" grpId="0" animBg="1"/>
      <p:bldP spid="14" grpId="1" animBg="1"/>
      <p:bldP spid="15" grpId="0"/>
      <p:bldP spid="15" grpId="1"/>
      <p:bldP spid="16" grpId="0"/>
      <p:bldP spid="16" grpId="1"/>
      <p:bldP spid="19" grpId="0" animBg="1"/>
      <p:bldP spid="19" grpId="1" animBg="1"/>
      <p:bldP spid="20" grpId="0"/>
      <p:bldP spid="20" grpId="1"/>
      <p:bldP spid="21" grpId="0"/>
      <p:bldP spid="21" grpId="1"/>
      <p:bldP spid="12" grpId="0"/>
      <p:bldP spid="1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滑5"/>
          <p:cNvSpPr/>
          <p:nvPr>
            <p:custDataLst>
              <p:tags r:id="rId2"/>
            </p:custDataLst>
          </p:nvPr>
        </p:nvSpPr>
        <p:spPr>
          <a:xfrm>
            <a:off x="10391480" y="0"/>
            <a:ext cx="18005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latin typeface="微软雅黑" panose="020B0503020204020204" pitchFamily="34" charset="-122"/>
              <a:ea typeface="微软雅黑" panose="020B0503020204020204" pitchFamily="34" charset="-122"/>
            </a:endParaRPr>
          </a:p>
        </p:txBody>
      </p:sp>
      <p:sp>
        <p:nvSpPr>
          <p:cNvPr id="11" name="!!平滑2"/>
          <p:cNvSpPr/>
          <p:nvPr>
            <p:custDataLst>
              <p:tags r:id="rId3"/>
            </p:custDataLst>
          </p:nvPr>
        </p:nvSpPr>
        <p:spPr>
          <a:xfrm rot="10800000" flipH="1">
            <a:off x="8618306" y="0"/>
            <a:ext cx="2812176" cy="1743965"/>
          </a:xfrm>
          <a:custGeom>
            <a:avLst/>
            <a:gdLst>
              <a:gd name="connsiteX0" fmla="*/ 4436793 w 4436793"/>
              <a:gd name="connsiteY0" fmla="*/ 0 h 2751468"/>
              <a:gd name="connsiteX1" fmla="*/ 3958811 w 4436793"/>
              <a:gd name="connsiteY1" fmla="*/ 0 h 2751468"/>
              <a:gd name="connsiteX2" fmla="*/ 3911635 w 4436793"/>
              <a:gd name="connsiteY2" fmla="*/ 0 h 2751468"/>
              <a:gd name="connsiteX3" fmla="*/ 3658582 w 4436793"/>
              <a:gd name="connsiteY3" fmla="*/ 0 h 2751468"/>
              <a:gd name="connsiteX4" fmla="*/ 3433653 w 4436793"/>
              <a:gd name="connsiteY4" fmla="*/ 0 h 2751468"/>
              <a:gd name="connsiteX5" fmla="*/ 3180600 w 4436793"/>
              <a:gd name="connsiteY5" fmla="*/ 0 h 2751468"/>
              <a:gd name="connsiteX6" fmla="*/ 3133424 w 4436793"/>
              <a:gd name="connsiteY6" fmla="*/ 0 h 2751468"/>
              <a:gd name="connsiteX7" fmla="*/ 2655442 w 4436793"/>
              <a:gd name="connsiteY7" fmla="*/ 0 h 2751468"/>
              <a:gd name="connsiteX8" fmla="*/ 0 w 4436793"/>
              <a:gd name="connsiteY8" fmla="*/ 2751468 h 2751468"/>
              <a:gd name="connsiteX9" fmla="*/ 477982 w 4436793"/>
              <a:gd name="connsiteY9" fmla="*/ 2751468 h 2751468"/>
              <a:gd name="connsiteX10" fmla="*/ 525158 w 4436793"/>
              <a:gd name="connsiteY10" fmla="*/ 2751468 h 2751468"/>
              <a:gd name="connsiteX11" fmla="*/ 778211 w 4436793"/>
              <a:gd name="connsiteY11" fmla="*/ 2751468 h 2751468"/>
              <a:gd name="connsiteX12" fmla="*/ 1003140 w 4436793"/>
              <a:gd name="connsiteY12" fmla="*/ 2751468 h 2751468"/>
              <a:gd name="connsiteX13" fmla="*/ 1256193 w 4436793"/>
              <a:gd name="connsiteY13" fmla="*/ 2751468 h 2751468"/>
              <a:gd name="connsiteX14" fmla="*/ 1303369 w 4436793"/>
              <a:gd name="connsiteY14" fmla="*/ 2751468 h 2751468"/>
              <a:gd name="connsiteX15" fmla="*/ 1781351 w 4436793"/>
              <a:gd name="connsiteY15" fmla="*/ 2751468 h 275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6793" h="2751468">
                <a:moveTo>
                  <a:pt x="4436793" y="0"/>
                </a:moveTo>
                <a:lnTo>
                  <a:pt x="3958811" y="0"/>
                </a:lnTo>
                <a:lnTo>
                  <a:pt x="3911635" y="0"/>
                </a:lnTo>
                <a:lnTo>
                  <a:pt x="3658582" y="0"/>
                </a:lnTo>
                <a:lnTo>
                  <a:pt x="3433653" y="0"/>
                </a:lnTo>
                <a:lnTo>
                  <a:pt x="3180600" y="0"/>
                </a:lnTo>
                <a:lnTo>
                  <a:pt x="3133424" y="0"/>
                </a:lnTo>
                <a:lnTo>
                  <a:pt x="2655442" y="0"/>
                </a:lnTo>
                <a:lnTo>
                  <a:pt x="0" y="2751468"/>
                </a:lnTo>
                <a:lnTo>
                  <a:pt x="477982" y="2751468"/>
                </a:lnTo>
                <a:lnTo>
                  <a:pt x="525158" y="2751468"/>
                </a:lnTo>
                <a:lnTo>
                  <a:pt x="778211" y="2751468"/>
                </a:lnTo>
                <a:lnTo>
                  <a:pt x="1003140" y="2751468"/>
                </a:lnTo>
                <a:lnTo>
                  <a:pt x="1256193" y="2751468"/>
                </a:lnTo>
                <a:lnTo>
                  <a:pt x="1303369" y="2751468"/>
                </a:lnTo>
                <a:lnTo>
                  <a:pt x="1781351" y="2751468"/>
                </a:lnTo>
                <a:close/>
              </a:path>
            </a:pathLst>
          </a:custGeom>
          <a:gradFill>
            <a:gsLst>
              <a:gs pos="20000">
                <a:srgbClr val="FFFFFF">
                  <a:alpha val="0"/>
                </a:srgbClr>
              </a:gs>
              <a:gs pos="100000">
                <a:srgbClr val="FFFFFF">
                  <a:alpha val="10000"/>
                </a:srgbClr>
              </a:gs>
            </a:gsLst>
            <a:lin ang="53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lvl="0" algn="ctr">
              <a:buClrTx/>
              <a:buSzTx/>
              <a:buFontTx/>
            </a:pPr>
            <a:endParaRPr lang="en-US">
              <a:solidFill>
                <a:schemeClr val="lt1"/>
              </a:solidFill>
              <a:latin typeface="微软雅黑" panose="020B0503020204020204" pitchFamily="34" charset="-122"/>
              <a:ea typeface="微软雅黑" panose="020B0503020204020204" pitchFamily="34" charset="-122"/>
              <a:sym typeface="+mn-ea"/>
            </a:endParaRPr>
          </a:p>
        </p:txBody>
      </p:sp>
      <p:sp>
        <p:nvSpPr>
          <p:cNvPr id="14" name="Shape1"/>
          <p:cNvSpPr txBox="1"/>
          <p:nvPr>
            <p:custDataLst>
              <p:tags r:id="rId4"/>
            </p:custDataLst>
          </p:nvPr>
        </p:nvSpPr>
        <p:spPr>
          <a:xfrm>
            <a:off x="553608" y="1840810"/>
            <a:ext cx="1253887" cy="160257"/>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solidFill>
                  <a:schemeClr val="accent1"/>
                </a:solidFill>
                <a:latin typeface="微软雅黑" panose="020B0503020204020204" pitchFamily="34" charset="-122"/>
                <a:ea typeface="微软雅黑" panose="020B0503020204020204" pitchFamily="34" charset="-122"/>
                <a:sym typeface="思源黑体 CN" panose="020B0500000000000000" pitchFamily="34" charset="-122"/>
              </a:rPr>
              <a:t>---------&gt;</a:t>
            </a:r>
          </a:p>
        </p:txBody>
      </p:sp>
      <p:sp>
        <p:nvSpPr>
          <p:cNvPr id="16" name="!!平滑1"/>
          <p:cNvSpPr/>
          <p:nvPr>
            <p:custDataLst>
              <p:tags r:id="rId5"/>
            </p:custDataLst>
          </p:nvPr>
        </p:nvSpPr>
        <p:spPr>
          <a:xfrm>
            <a:off x="553608" y="1629665"/>
            <a:ext cx="530352" cy="114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9" name="Text2"/>
          <p:cNvSpPr txBox="1"/>
          <p:nvPr>
            <p:custDataLst>
              <p:tags r:id="rId6"/>
            </p:custDataLst>
          </p:nvPr>
        </p:nvSpPr>
        <p:spPr>
          <a:xfrm>
            <a:off x="553606" y="2213251"/>
            <a:ext cx="5015603" cy="4048652"/>
          </a:xfrm>
          <a:prstGeom prst="rect">
            <a:avLst/>
          </a:prstGeom>
          <a:noFill/>
          <a:ln>
            <a:noFill/>
          </a:ln>
        </p:spPr>
        <p:txBody>
          <a:bodyPr spcFirstLastPara="1" wrap="square" lIns="60950" tIns="30466" rIns="60950" bIns="30466"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1.市场优势</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病虫害识别系统因食品安全需求和提高农产品质量的市场潜力，受到农民和企业的关注。它能有效防治病虫害，提升农作物产量和质量，促进农业科技合作，且初期通过试用和低价服务吸引用户，为后续盈利奠定基础。</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kumimoji="0" lang="en-US" altLang="zh-CN"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t>
            </a: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技术优势</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ESP32-CAM是安信可科技推出的一款小型摄像头模组，尺寸小巧（27x40.5x4.5mm），适用于物联网应用，如家庭智能、工业控制、无线监控等。它低功耗，通过改进AleXNet模型和大量数据训练，实现了病虫害识别功能。测试环境中，配套的环境培养箱内置温湿度检测并可调节，模拟农场环境，为项目提供了全面的硬件支持。</a:t>
            </a:r>
          </a:p>
        </p:txBody>
      </p:sp>
      <p:sp>
        <p:nvSpPr>
          <p:cNvPr id="5" name="文本框 4"/>
          <p:cNvSpPr txBox="1"/>
          <p:nvPr/>
        </p:nvSpPr>
        <p:spPr>
          <a:xfrm>
            <a:off x="767715" y="476885"/>
            <a:ext cx="1871901" cy="583565"/>
          </a:xfrm>
          <a:prstGeom prst="rect">
            <a:avLst/>
          </a:prstGeom>
          <a:noFill/>
        </p:spPr>
        <p:txBody>
          <a:bodyPr wrap="square" rtlCol="0">
            <a:spAutoFit/>
          </a:bodyPr>
          <a:lstStyle/>
          <a:p>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产品优势</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80100" y="1759585"/>
            <a:ext cx="5957570" cy="4196715"/>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childTnLst>
                          </p:cTn>
                        </p:par>
                        <p:par>
                          <p:cTn id="11" fill="hold">
                            <p:stCondLst>
                              <p:cond delay="2000"/>
                            </p:stCondLst>
                            <p:childTnLst>
                              <p:par>
                                <p:cTn id="12" presetID="53" presetClass="entr" presetSubtype="16"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7217410"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系统设计原理与操作</a:t>
            </a: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System Design Principles and Operations</a:t>
            </a: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03</a:t>
            </a: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Shape1"/>
          <p:cNvPicPr>
            <a:picLocks noChangeAspect="1" noChangeArrowheads="1"/>
          </p:cNvPicPr>
          <p:nvPr/>
        </p:nvPicPr>
        <p:blipFill>
          <a:blip r:embed="rId10">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28" name="矩形 1"/>
          <p:cNvSpPr/>
          <p:nvPr/>
        </p:nvSpPr>
        <p:spPr>
          <a:xfrm rot="10800000" flipH="1"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平滑4"/>
          <p:cNvSpPr/>
          <p:nvPr>
            <p:custDataLst>
              <p:tags r:id="rId2"/>
            </p:custDataLst>
          </p:nvPr>
        </p:nvSpPr>
        <p:spPr>
          <a:xfrm>
            <a:off x="9753601" y="0"/>
            <a:ext cx="2438400" cy="6857999"/>
          </a:xfrm>
          <a:custGeom>
            <a:avLst/>
            <a:gdLst>
              <a:gd name="connsiteX0" fmla="*/ 0 w 2438400"/>
              <a:gd name="connsiteY0" fmla="*/ 0 h 6857999"/>
              <a:gd name="connsiteX1" fmla="*/ 2438400 w 2438400"/>
              <a:gd name="connsiteY1" fmla="*/ 0 h 6857999"/>
              <a:gd name="connsiteX2" fmla="*/ 2438400 w 2438400"/>
              <a:gd name="connsiteY2" fmla="*/ 6857999 h 6857999"/>
              <a:gd name="connsiteX3" fmla="*/ 0 w 2438400"/>
              <a:gd name="connsiteY3" fmla="*/ 6857999 h 6857999"/>
              <a:gd name="connsiteX4" fmla="*/ 0 w 2438400"/>
              <a:gd name="connsiteY4" fmla="*/ 5471887 h 6857999"/>
              <a:gd name="connsiteX5" fmla="*/ 852503 w 2438400"/>
              <a:gd name="connsiteY5" fmla="*/ 5471887 h 6857999"/>
              <a:gd name="connsiteX6" fmla="*/ 852503 w 2438400"/>
              <a:gd name="connsiteY6" fmla="*/ 1349375 h 6857999"/>
              <a:gd name="connsiteX7" fmla="*/ 0 w 2438400"/>
              <a:gd name="connsiteY7" fmla="*/ 134937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400" h="6857999">
                <a:moveTo>
                  <a:pt x="0" y="0"/>
                </a:moveTo>
                <a:lnTo>
                  <a:pt x="2438400" y="0"/>
                </a:lnTo>
                <a:lnTo>
                  <a:pt x="2438400" y="6857999"/>
                </a:lnTo>
                <a:lnTo>
                  <a:pt x="0" y="6857999"/>
                </a:lnTo>
                <a:lnTo>
                  <a:pt x="0" y="5471887"/>
                </a:lnTo>
                <a:lnTo>
                  <a:pt x="852503" y="5471887"/>
                </a:lnTo>
                <a:lnTo>
                  <a:pt x="852503" y="1349375"/>
                </a:lnTo>
                <a:lnTo>
                  <a:pt x="0" y="13493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latin typeface="微软雅黑" panose="020B0503020204020204" pitchFamily="34" charset="-122"/>
              <a:ea typeface="微软雅黑" panose="020B0503020204020204" pitchFamily="34" charset="-122"/>
            </a:endParaRPr>
          </a:p>
        </p:txBody>
      </p:sp>
      <p:cxnSp>
        <p:nvCxnSpPr>
          <p:cNvPr id="10" name="!!平滑1"/>
          <p:cNvCxnSpPr/>
          <p:nvPr>
            <p:custDataLst>
              <p:tags r:id="rId3"/>
            </p:custDataLst>
          </p:nvPr>
        </p:nvCxnSpPr>
        <p:spPr>
          <a:xfrm>
            <a:off x="6268720" y="497945"/>
            <a:ext cx="3484881" cy="0"/>
          </a:xfrm>
          <a:prstGeom prst="line">
            <a:avLst/>
          </a:prstGeom>
          <a:ln w="6350" cap="flat" cmpd="sng" algn="ctr">
            <a:solidFill>
              <a:schemeClr val="accent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Freeform: Shape 25"/>
          <p:cNvSpPr/>
          <p:nvPr>
            <p:custDataLst>
              <p:tags r:id="rId4"/>
            </p:custDataLst>
          </p:nvPr>
        </p:nvSpPr>
        <p:spPr>
          <a:xfrm flipH="1">
            <a:off x="11597005" y="25019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 name="Text1"/>
          <p:cNvSpPr txBox="1"/>
          <p:nvPr>
            <p:custDataLst>
              <p:tags r:id="rId5"/>
            </p:custDataLst>
          </p:nvPr>
        </p:nvSpPr>
        <p:spPr>
          <a:xfrm>
            <a:off x="427355" y="1124585"/>
            <a:ext cx="4066540" cy="663575"/>
          </a:xfrm>
          <a:prstGeom prst="rect">
            <a:avLst/>
          </a:prstGeom>
          <a:noFill/>
        </p:spPr>
        <p:txBody>
          <a:bodyPr wrap="square" rtlCol="0" anchor="b" anchorCtr="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ESP32-CAM关键作用</a:t>
            </a:r>
          </a:p>
        </p:txBody>
      </p:sp>
      <p:sp>
        <p:nvSpPr>
          <p:cNvPr id="4" name="Text2"/>
          <p:cNvSpPr txBox="1"/>
          <p:nvPr>
            <p:custDataLst>
              <p:tags r:id="rId6"/>
            </p:custDataLst>
          </p:nvPr>
        </p:nvSpPr>
        <p:spPr>
          <a:xfrm>
            <a:off x="479425" y="1930400"/>
            <a:ext cx="5929630" cy="1946275"/>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1.智能识别减少农药使用</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智能病虫害识别系统通过ESP32-CAM准确识别病虫害，减少误判，降低农药使用量达30%，提高农产品质量与生态可持续性。</a:t>
            </a:r>
          </a:p>
        </p:txBody>
      </p:sp>
      <p:pic>
        <p:nvPicPr>
          <p:cNvPr id="3" name="图片 2" descr="图片3"/>
          <p:cNvPicPr>
            <a:picLocks noChangeAspect="1"/>
          </p:cNvPicPr>
          <p:nvPr/>
        </p:nvPicPr>
        <p:blipFill>
          <a:blip r:embed="rId11"/>
          <a:stretch>
            <a:fillRect/>
          </a:stretch>
        </p:blipFill>
        <p:spPr>
          <a:xfrm>
            <a:off x="8112125" y="764540"/>
            <a:ext cx="2548255" cy="5639435"/>
          </a:xfrm>
          <a:prstGeom prst="rect">
            <a:avLst/>
          </a:prstGeom>
        </p:spPr>
      </p:pic>
      <p:sp>
        <p:nvSpPr>
          <p:cNvPr id="5" name="Text2"/>
          <p:cNvSpPr txBox="1"/>
          <p:nvPr>
            <p:custDataLst>
              <p:tags r:id="rId7"/>
            </p:custDataLst>
          </p:nvPr>
        </p:nvSpPr>
        <p:spPr>
          <a:xfrm>
            <a:off x="479425" y="3860800"/>
            <a:ext cx="5929630" cy="2200910"/>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2.提升病虫害处理效率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ESP32-CAM的快速响应和处理能力，使智能识别系统能实时处理农田数据，提升病虫害处理效率50%，显著提高农业生产效率。</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Shape1"/>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45"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 name="Freeform: Shape 25"/>
          <p:cNvSpPr/>
          <p:nvPr>
            <p:custDataLst>
              <p:tags r:id="rId2"/>
            </p:custDataLst>
          </p:nvPr>
        </p:nvSpPr>
        <p:spPr>
          <a:xfrm flipH="1">
            <a:off x="11597005" y="634111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Text1"/>
          <p:cNvSpPr txBox="1"/>
          <p:nvPr>
            <p:custDataLst>
              <p:tags r:id="rId3"/>
            </p:custDataLst>
          </p:nvPr>
        </p:nvSpPr>
        <p:spPr>
          <a:xfrm>
            <a:off x="3497580" y="260350"/>
            <a:ext cx="5196840" cy="638810"/>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AlexNet模型的训练与优化</a:t>
            </a:r>
          </a:p>
        </p:txBody>
      </p:sp>
      <p:sp>
        <p:nvSpPr>
          <p:cNvPr id="5" name="Text2"/>
          <p:cNvSpPr txBox="1"/>
          <p:nvPr>
            <p:custDataLst>
              <p:tags r:id="rId4"/>
            </p:custDataLst>
          </p:nvPr>
        </p:nvSpPr>
        <p:spPr>
          <a:xfrm>
            <a:off x="335280" y="1340485"/>
            <a:ext cx="9959340" cy="5123180"/>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1.AlexNet模型准确性</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在病虫害识别中，AlexNet模型准确率高达90%，</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比传统方法提升15%，显著提高识别效率。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2.AlexNet模型训练效率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利用GPU加速，AlexNet模型训练时间缩短至4小时，</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比传统方法快5倍，加速模型迭代。</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3.AlexNet模型泛化能力</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通过数据增强和正则化技术，AlexNet模型泛化能力提升20%，减少过拟合风险。</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4.AlexNet模型对农业生产影响</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引入AlexNet模型后，农业生产效率提升10%，减少人工识别成本，提高农业产值。</a:t>
            </a:r>
          </a:p>
        </p:txBody>
      </p:sp>
      <p:pic>
        <p:nvPicPr>
          <p:cNvPr id="4" name="图片 3" descr="图片2"/>
          <p:cNvPicPr>
            <a:picLocks noChangeAspect="1"/>
          </p:cNvPicPr>
          <p:nvPr/>
        </p:nvPicPr>
        <p:blipFill>
          <a:blip r:embed="rId8"/>
          <a:stretch>
            <a:fillRect/>
          </a:stretch>
        </p:blipFill>
        <p:spPr>
          <a:xfrm>
            <a:off x="5281930" y="1052195"/>
            <a:ext cx="6716395" cy="3694430"/>
          </a:xfrm>
          <a:prstGeom prst="rect">
            <a:avLst/>
          </a:prstGeom>
        </p:spPr>
      </p:pic>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p:stCondLst>
                              <p:cond delay="1000"/>
                            </p:stCondLst>
                            <p:childTnLst>
                              <p:par>
                                <p:cTn id="16" presetID="1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p:tgtEl>
                                          <p:spTgt spid="5"/>
                                        </p:tgtEl>
                                        <p:attrNameLst>
                                          <p:attrName>ppt_x</p:attrName>
                                        </p:attrNameLst>
                                      </p:cBhvr>
                                      <p:tavLst>
                                        <p:tav tm="0">
                                          <p:val>
                                            <p:strVal val="#ppt_x-#ppt_w*1.125000"/>
                                          </p:val>
                                        </p:tav>
                                        <p:tav tm="100000">
                                          <p:val>
                                            <p:strVal val="#ppt_x"/>
                                          </p:val>
                                        </p:tav>
                                      </p:tavLst>
                                    </p:anim>
                                    <p:animEffect transition="in" filter="wipe(righ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rot="2629861">
            <a:off x="372364" y="874422"/>
            <a:ext cx="5133148" cy="5133148"/>
            <a:chOff x="3979486" y="1575504"/>
            <a:chExt cx="4233028" cy="4233028"/>
          </a:xfrm>
        </p:grpSpPr>
        <p:sp>
          <p:nvSpPr>
            <p:cNvPr id="3" name="椭圆 2"/>
            <p:cNvSpPr/>
            <p:nvPr/>
          </p:nvSpPr>
          <p:spPr>
            <a:xfrm>
              <a:off x="3979486" y="1575504"/>
              <a:ext cx="4233028" cy="4233028"/>
            </a:xfrm>
            <a:prstGeom prst="ellipse">
              <a:avLst/>
            </a:prstGeom>
            <a:noFill/>
            <a:ln>
              <a:gradFill>
                <a:gsLst>
                  <a:gs pos="0">
                    <a:schemeClr val="accent1"/>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0" name="椭圆 29"/>
            <p:cNvSpPr/>
            <p:nvPr/>
          </p:nvSpPr>
          <p:spPr>
            <a:xfrm>
              <a:off x="4164320" y="1748790"/>
              <a:ext cx="3886456" cy="3886456"/>
            </a:xfrm>
            <a:prstGeom prst="ellipse">
              <a:avLst/>
            </a:prstGeom>
            <a:noFill/>
            <a:ln>
              <a:gradFill>
                <a:gsLst>
                  <a:gs pos="0">
                    <a:schemeClr val="accent1"/>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grpSp>
        <p:nvGrpSpPr>
          <p:cNvPr id="33" name="组合 32"/>
          <p:cNvGrpSpPr/>
          <p:nvPr/>
        </p:nvGrpSpPr>
        <p:grpSpPr>
          <a:xfrm rot="2629861" flipV="1">
            <a:off x="372364" y="874422"/>
            <a:ext cx="5133148" cy="5133148"/>
            <a:chOff x="3979486" y="1575504"/>
            <a:chExt cx="4233028" cy="4233028"/>
          </a:xfrm>
        </p:grpSpPr>
        <p:sp>
          <p:nvSpPr>
            <p:cNvPr id="34" name="椭圆 33"/>
            <p:cNvSpPr/>
            <p:nvPr/>
          </p:nvSpPr>
          <p:spPr>
            <a:xfrm>
              <a:off x="3979486" y="1575504"/>
              <a:ext cx="4233028" cy="4233028"/>
            </a:xfrm>
            <a:prstGeom prst="ellipse">
              <a:avLst/>
            </a:prstGeom>
            <a:noFill/>
            <a:ln>
              <a:gradFill>
                <a:gsLst>
                  <a:gs pos="0">
                    <a:schemeClr val="accent1"/>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5" name="椭圆 34"/>
            <p:cNvSpPr/>
            <p:nvPr/>
          </p:nvSpPr>
          <p:spPr>
            <a:xfrm>
              <a:off x="4164320" y="1748790"/>
              <a:ext cx="3886456" cy="3886456"/>
            </a:xfrm>
            <a:prstGeom prst="ellipse">
              <a:avLst/>
            </a:prstGeom>
            <a:noFill/>
            <a:ln>
              <a:gradFill>
                <a:gsLst>
                  <a:gs pos="0">
                    <a:schemeClr val="accent1"/>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rot="8029862">
            <a:off x="372364" y="874422"/>
            <a:ext cx="5133148" cy="5133148"/>
            <a:chOff x="3979486" y="1575504"/>
            <a:chExt cx="4233028" cy="4233028"/>
          </a:xfrm>
        </p:grpSpPr>
        <p:sp>
          <p:nvSpPr>
            <p:cNvPr id="51" name="椭圆 50"/>
            <p:cNvSpPr/>
            <p:nvPr/>
          </p:nvSpPr>
          <p:spPr>
            <a:xfrm>
              <a:off x="3979486" y="1575504"/>
              <a:ext cx="4233028" cy="4233028"/>
            </a:xfrm>
            <a:prstGeom prst="ellipse">
              <a:avLst/>
            </a:prstGeom>
            <a:noFill/>
            <a:ln>
              <a:gradFill>
                <a:gsLst>
                  <a:gs pos="0">
                    <a:schemeClr val="accent1"/>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2" name="椭圆 51"/>
            <p:cNvSpPr/>
            <p:nvPr/>
          </p:nvSpPr>
          <p:spPr>
            <a:xfrm>
              <a:off x="4164320" y="1748790"/>
              <a:ext cx="3886456" cy="3886456"/>
            </a:xfrm>
            <a:prstGeom prst="ellipse">
              <a:avLst/>
            </a:prstGeom>
            <a:noFill/>
            <a:ln>
              <a:gradFill>
                <a:gsLst>
                  <a:gs pos="0">
                    <a:schemeClr val="accent1"/>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sp>
        <p:nvSpPr>
          <p:cNvPr id="54" name="椭圆 53"/>
          <p:cNvSpPr/>
          <p:nvPr/>
        </p:nvSpPr>
        <p:spPr>
          <a:xfrm rot="8029862" flipV="1">
            <a:off x="372364" y="874422"/>
            <a:ext cx="5133148" cy="5133148"/>
          </a:xfrm>
          <a:prstGeom prst="ellipse">
            <a:avLst/>
          </a:prstGeom>
          <a:noFill/>
          <a:ln>
            <a:gradFill>
              <a:gsLst>
                <a:gs pos="0">
                  <a:schemeClr val="accent1">
                    <a:alpha val="4000"/>
                  </a:schemeClr>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5" name="椭圆 54"/>
          <p:cNvSpPr/>
          <p:nvPr/>
        </p:nvSpPr>
        <p:spPr>
          <a:xfrm rot="8029862" flipV="1">
            <a:off x="572800" y="1094658"/>
            <a:ext cx="4712880" cy="4712880"/>
          </a:xfrm>
          <a:prstGeom prst="ellipse">
            <a:avLst/>
          </a:prstGeom>
          <a:noFill/>
          <a:ln>
            <a:gradFill>
              <a:gsLst>
                <a:gs pos="0">
                  <a:schemeClr val="accent1">
                    <a:alpha val="60000"/>
                  </a:schemeClr>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1" name="任意多边形: 形状 20"/>
          <p:cNvSpPr/>
          <p:nvPr>
            <p:custDataLst>
              <p:tags r:id="rId2"/>
            </p:custDataLst>
          </p:nvPr>
        </p:nvSpPr>
        <p:spPr>
          <a:xfrm flipH="1">
            <a:off x="11478387" y="1"/>
            <a:ext cx="713613" cy="649863"/>
          </a:xfrm>
          <a:custGeom>
            <a:avLst/>
            <a:gdLst>
              <a:gd name="connsiteX0" fmla="*/ 0 w 713613"/>
              <a:gd name="connsiteY0" fmla="*/ 0 h 649863"/>
              <a:gd name="connsiteX1" fmla="*/ 713613 w 713613"/>
              <a:gd name="connsiteY1" fmla="*/ 0 h 649863"/>
              <a:gd name="connsiteX2" fmla="*/ 702694 w 713613"/>
              <a:gd name="connsiteY2" fmla="*/ 108315 h 649863"/>
              <a:gd name="connsiteX3" fmla="*/ 38237 w 713613"/>
              <a:gd name="connsiteY3" fmla="*/ 649863 h 649863"/>
              <a:gd name="connsiteX4" fmla="*/ 0 w 713613"/>
              <a:gd name="connsiteY4" fmla="*/ 646008 h 64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613" h="649863">
                <a:moveTo>
                  <a:pt x="0" y="0"/>
                </a:moveTo>
                <a:lnTo>
                  <a:pt x="713613" y="0"/>
                </a:lnTo>
                <a:lnTo>
                  <a:pt x="702694" y="108315"/>
                </a:lnTo>
                <a:cubicBezTo>
                  <a:pt x="639451" y="417376"/>
                  <a:pt x="365994" y="649863"/>
                  <a:pt x="38237" y="649863"/>
                </a:cubicBezTo>
                <a:lnTo>
                  <a:pt x="0" y="646008"/>
                </a:lnTo>
                <a:close/>
              </a:path>
            </a:pathLst>
          </a:cu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7" name="Text1"/>
          <p:cNvSpPr txBox="1"/>
          <p:nvPr>
            <p:custDataLst>
              <p:tags r:id="rId3"/>
            </p:custDataLst>
          </p:nvPr>
        </p:nvSpPr>
        <p:spPr>
          <a:xfrm>
            <a:off x="6131929" y="2089812"/>
            <a:ext cx="5347349" cy="4259812"/>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1.智能识别提高诊断效率</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智能病虫害识别系统通过深度学习技术，能够迅速识别作物病虫害，比传统人工诊断提高效率30%以上。</a:t>
            </a:r>
          </a:p>
          <a:p>
            <a:pPr marL="0" marR="0" lvl="0" indent="0" algn="just" defTabSz="914400" rtl="0" eaLnBrk="1" fontAlgn="auto" latinLnBrk="0" hangingPunct="1">
              <a:lnSpc>
                <a:spcPct val="100000"/>
              </a:lnSpc>
              <a:spcBef>
                <a:spcPts val="1800"/>
              </a:spcBef>
              <a:spcAft>
                <a:spcPct val="0"/>
              </a:spcAft>
              <a:buClrTx/>
              <a:buSzTx/>
              <a:buFontTx/>
              <a:buNone/>
              <a:defRPr/>
            </a:pP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2.直观界面简化操作流程</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设计友好的用户界面，将复杂识别过程简化为几个简单步骤，使用户能够轻松操作，降低操作难度。</a:t>
            </a:r>
          </a:p>
        </p:txBody>
      </p:sp>
      <p:sp>
        <p:nvSpPr>
          <p:cNvPr id="18" name="Text2"/>
          <p:cNvSpPr txBox="1"/>
          <p:nvPr>
            <p:custDataLst>
              <p:tags r:id="rId4"/>
            </p:custDataLst>
          </p:nvPr>
        </p:nvSpPr>
        <p:spPr>
          <a:xfrm>
            <a:off x="6110605" y="1082040"/>
            <a:ext cx="5367655" cy="828040"/>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用户界面设计与操作流程</a:t>
            </a:r>
          </a:p>
        </p:txBody>
      </p:sp>
      <p:sp>
        <p:nvSpPr>
          <p:cNvPr id="22" name="任意多边形: 形状 21"/>
          <p:cNvSpPr/>
          <p:nvPr/>
        </p:nvSpPr>
        <p:spPr>
          <a:xfrm flipH="1">
            <a:off x="0" y="5938393"/>
            <a:ext cx="929798" cy="921859"/>
          </a:xfrm>
          <a:custGeom>
            <a:avLst/>
            <a:gdLst>
              <a:gd name="connsiteX0" fmla="*/ 676289 w 929798"/>
              <a:gd name="connsiteY0" fmla="*/ 0 h 921859"/>
              <a:gd name="connsiteX1" fmla="*/ 812585 w 929798"/>
              <a:gd name="connsiteY1" fmla="*/ 13740 h 921859"/>
              <a:gd name="connsiteX2" fmla="*/ 929798 w 929798"/>
              <a:gd name="connsiteY2" fmla="*/ 50125 h 921859"/>
              <a:gd name="connsiteX3" fmla="*/ 929798 w 929798"/>
              <a:gd name="connsiteY3" fmla="*/ 921859 h 921859"/>
              <a:gd name="connsiteX4" fmla="*/ 47660 w 929798"/>
              <a:gd name="connsiteY4" fmla="*/ 921859 h 921859"/>
              <a:gd name="connsiteX5" fmla="*/ 13740 w 929798"/>
              <a:gd name="connsiteY5" fmla="*/ 812585 h 921859"/>
              <a:gd name="connsiteX6" fmla="*/ 0 w 929798"/>
              <a:gd name="connsiteY6" fmla="*/ 676289 h 921859"/>
              <a:gd name="connsiteX7" fmla="*/ 676289 w 929798"/>
              <a:gd name="connsiteY7" fmla="*/ 0 h 92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9798" h="921859">
                <a:moveTo>
                  <a:pt x="676289" y="0"/>
                </a:moveTo>
                <a:cubicBezTo>
                  <a:pt x="722977" y="0"/>
                  <a:pt x="768560" y="4731"/>
                  <a:pt x="812585" y="13740"/>
                </a:cubicBezTo>
                <a:lnTo>
                  <a:pt x="929798" y="50125"/>
                </a:lnTo>
                <a:lnTo>
                  <a:pt x="929798" y="921859"/>
                </a:lnTo>
                <a:lnTo>
                  <a:pt x="47660" y="921859"/>
                </a:lnTo>
                <a:lnTo>
                  <a:pt x="13740" y="812585"/>
                </a:lnTo>
                <a:cubicBezTo>
                  <a:pt x="4731" y="768560"/>
                  <a:pt x="0" y="722977"/>
                  <a:pt x="0" y="676289"/>
                </a:cubicBezTo>
                <a:cubicBezTo>
                  <a:pt x="0" y="302785"/>
                  <a:pt x="302785" y="0"/>
                  <a:pt x="676289" y="0"/>
                </a:cubicBez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 name="矩形 1"/>
          <p:cNvSpPr/>
          <p:nvPr/>
        </p:nvSpPr>
        <p:spPr>
          <a:xfrm>
            <a:off x="229870" y="1496060"/>
            <a:ext cx="5539740" cy="3865880"/>
          </a:xfrm>
          <a:prstGeom prst="rect">
            <a:avLst/>
          </a:prstGeom>
          <a:blipFill rotWithShape="1">
            <a:blip r:embed="rId7"/>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4" presetClass="entr" presetSubtype="16" fill="hold" grpId="0" nodeType="withEffect">
                                  <p:stCondLst>
                                    <p:cond delay="0"/>
                                  </p:stCondLst>
                                  <p:childTnLst>
                                    <p:set>
                                      <p:cBhvr>
                                        <p:cTn id="8" dur="2000" fill="hold">
                                          <p:stCondLst>
                                            <p:cond delay="0"/>
                                          </p:stCondLst>
                                        </p:cTn>
                                        <p:tgtEl>
                                          <p:spTgt spid="2"/>
                                        </p:tgtEl>
                                        <p:attrNameLst>
                                          <p:attrName>style.visibility</p:attrName>
                                        </p:attrNameLst>
                                      </p:cBhvr>
                                      <p:to>
                                        <p:strVal val="visible"/>
                                      </p:to>
                                    </p:set>
                                    <p:animEffect transition="in" filter="box(in)">
                                      <p:cBhvr>
                                        <p:cTn id="9" dur="2000"/>
                                        <p:tgtEl>
                                          <p:spTgt spid="2"/>
                                        </p:tgtEl>
                                      </p:cBhvr>
                                    </p:animEffect>
                                  </p:childTnLst>
                                </p:cTn>
                              </p:par>
                              <p:par>
                                <p:cTn id="10" presetID="18" presetClass="entr" presetSubtype="6"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trips(downRigh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P spid="2" grpId="0" animBg="1"/>
      <p:bldP spid="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683415" y="2358390"/>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商业计划与模式</a:t>
            </a:r>
            <a:endParaRPr lang="en-US" altLang="zh-CN"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a:p>
            <a:endParaRPr lang="en-US" altLang="zh-CN"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a:p>
            <a:endPar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Technical Strategy and Optimization Improvement</a:t>
            </a: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04</a:t>
            </a: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Shape1"/>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1"/>
          <p:cNvSpPr/>
          <p:nvPr/>
        </p:nvSpPr>
        <p:spPr>
          <a:xfrm rot="10800000" flipH="1" flipV="1">
            <a:off x="0" y="-6782"/>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3" name="Shape2"/>
          <p:cNvCxnSpPr/>
          <p:nvPr/>
        </p:nvCxnSpPr>
        <p:spPr>
          <a:xfrm>
            <a:off x="839373" y="3765436"/>
            <a:ext cx="10036175" cy="0"/>
          </a:xfrm>
          <a:prstGeom prst="line">
            <a:avLst/>
          </a:prstGeom>
          <a:ln w="34925">
            <a:solidFill>
              <a:schemeClr val="accent1">
                <a:alpha val="18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 name="Text1"/>
          <p:cNvSpPr/>
          <p:nvPr/>
        </p:nvSpPr>
        <p:spPr>
          <a:xfrm>
            <a:off x="1738533" y="3722256"/>
            <a:ext cx="127000" cy="127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 name="Text2"/>
          <p:cNvSpPr/>
          <p:nvPr/>
        </p:nvSpPr>
        <p:spPr>
          <a:xfrm>
            <a:off x="4481733" y="3722256"/>
            <a:ext cx="127000" cy="12700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7" name="Text3"/>
          <p:cNvSpPr/>
          <p:nvPr/>
        </p:nvSpPr>
        <p:spPr>
          <a:xfrm>
            <a:off x="7226520" y="3722256"/>
            <a:ext cx="127000" cy="12700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 name="Text4"/>
          <p:cNvSpPr/>
          <p:nvPr/>
        </p:nvSpPr>
        <p:spPr>
          <a:xfrm>
            <a:off x="9979245" y="3722256"/>
            <a:ext cx="127000" cy="127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4" name="Text5"/>
          <p:cNvSpPr/>
          <p:nvPr/>
        </p:nvSpPr>
        <p:spPr>
          <a:xfrm>
            <a:off x="1173383" y="2177618"/>
            <a:ext cx="1249362" cy="1250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01</a:t>
            </a:r>
          </a:p>
        </p:txBody>
      </p:sp>
      <p:sp>
        <p:nvSpPr>
          <p:cNvPr id="8" name="Text6"/>
          <p:cNvSpPr/>
          <p:nvPr/>
        </p:nvSpPr>
        <p:spPr>
          <a:xfrm>
            <a:off x="6643908" y="2169681"/>
            <a:ext cx="1277937" cy="12509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03</a:t>
            </a:r>
          </a:p>
        </p:txBody>
      </p:sp>
      <p:sp>
        <p:nvSpPr>
          <p:cNvPr id="9" name="Text7"/>
          <p:cNvSpPr/>
          <p:nvPr/>
        </p:nvSpPr>
        <p:spPr>
          <a:xfrm>
            <a:off x="3905470" y="4111193"/>
            <a:ext cx="1282700" cy="12525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02</a:t>
            </a:r>
          </a:p>
        </p:txBody>
      </p:sp>
      <p:sp>
        <p:nvSpPr>
          <p:cNvPr id="11" name="Text8"/>
          <p:cNvSpPr/>
          <p:nvPr/>
        </p:nvSpPr>
        <p:spPr>
          <a:xfrm>
            <a:off x="9404570" y="4115956"/>
            <a:ext cx="1281113" cy="1250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04</a:t>
            </a:r>
          </a:p>
        </p:txBody>
      </p:sp>
      <p:grpSp>
        <p:nvGrpSpPr>
          <p:cNvPr id="20" name="组合 19"/>
          <p:cNvGrpSpPr/>
          <p:nvPr/>
        </p:nvGrpSpPr>
        <p:grpSpPr>
          <a:xfrm>
            <a:off x="556895" y="4221480"/>
            <a:ext cx="2633980" cy="2041525"/>
            <a:chOff x="877" y="6648"/>
            <a:chExt cx="4148" cy="3215"/>
          </a:xfrm>
        </p:grpSpPr>
        <p:sp>
          <p:nvSpPr>
            <p:cNvPr id="25" name="Text9"/>
            <p:cNvSpPr txBox="1"/>
            <p:nvPr>
              <p:custDataLst>
                <p:tags r:id="rId9"/>
              </p:custDataLst>
            </p:nvPr>
          </p:nvSpPr>
          <p:spPr>
            <a:xfrm>
              <a:off x="903" y="6648"/>
              <a:ext cx="4122"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pitchFamily="34" charset="-122"/>
                  <a:ea typeface="微软雅黑" panose="020B0503020204020204" pitchFamily="34" charset="-122"/>
                </a:rPr>
                <a:t>口碑营销</a:t>
              </a:r>
              <a:endParaRPr lang="zh-CN" altLang="en-US" b="1" dirty="0">
                <a:latin typeface="微软雅黑" panose="020B0503020204020204" pitchFamily="34" charset="-122"/>
                <a:ea typeface="微软雅黑" panose="020B0503020204020204" pitchFamily="34" charset="-122"/>
              </a:endParaRPr>
            </a:p>
          </p:txBody>
        </p:sp>
        <p:sp>
          <p:nvSpPr>
            <p:cNvPr id="29" name="Text13"/>
            <p:cNvSpPr txBox="1"/>
            <p:nvPr>
              <p:custDataLst>
                <p:tags r:id="rId10"/>
              </p:custDataLst>
            </p:nvPr>
          </p:nvSpPr>
          <p:spPr>
            <a:xfrm>
              <a:off x="877" y="7257"/>
              <a:ext cx="4148" cy="2606"/>
            </a:xfrm>
            <a:prstGeom prst="rect">
              <a:avLst/>
            </a:prstGeom>
            <a:noFill/>
          </p:spPr>
          <p:txBody>
            <a:bodyPr wrap="square" lIns="72000" tIns="36000" rIns="72000" bIns="36000" rtlCol="0">
              <a:normAutofit fontScale="97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400">
                  <a:solidFill>
                    <a:schemeClr val="bg2"/>
                  </a:solidFill>
                  <a:latin typeface="微软雅黑" panose="020B0503020204020204" pitchFamily="34" charset="-122"/>
                  <a:ea typeface="微软雅黑" panose="020B0503020204020204" pitchFamily="34" charset="-122"/>
                </a:rPr>
                <a:t>通过口口相传，利用一些农业用户对该产品系统的满意度和推荐，让更多的人了解和购买产品；可以通过提供优质的售后服务、邀请用户参与评价和分享，以及举办用户体验活动来增加口碑。</a:t>
              </a:r>
              <a:endParaRPr lang="en-US" altLang="zh-CN" sz="1400" dirty="0">
                <a:solidFill>
                  <a:schemeClr val="bg2"/>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3143250" y="1604645"/>
            <a:ext cx="2882900" cy="1873250"/>
            <a:chOff x="4950" y="2527"/>
            <a:chExt cx="4540" cy="2950"/>
          </a:xfrm>
        </p:grpSpPr>
        <p:sp>
          <p:nvSpPr>
            <p:cNvPr id="26" name="Text10"/>
            <p:cNvSpPr txBox="1"/>
            <p:nvPr>
              <p:custDataLst>
                <p:tags r:id="rId7"/>
              </p:custDataLst>
            </p:nvPr>
          </p:nvSpPr>
          <p:spPr>
            <a:xfrm>
              <a:off x="4951" y="2527"/>
              <a:ext cx="4122"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社交媒体营销宣传</a:t>
              </a:r>
            </a:p>
          </p:txBody>
        </p:sp>
        <p:sp>
          <p:nvSpPr>
            <p:cNvPr id="30" name="Text14"/>
            <p:cNvSpPr txBox="1"/>
            <p:nvPr>
              <p:custDataLst>
                <p:tags r:id="rId8"/>
              </p:custDataLst>
            </p:nvPr>
          </p:nvSpPr>
          <p:spPr>
            <a:xfrm>
              <a:off x="4950" y="3209"/>
              <a:ext cx="4540" cy="2268"/>
            </a:xfrm>
            <a:prstGeom prst="rect">
              <a:avLst/>
            </a:prstGeom>
            <a:noFill/>
          </p:spPr>
          <p:txBody>
            <a:bodyPr wrap="square" lIns="72000" tIns="36000" rIns="72000" bIns="3600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250" dirty="0">
                  <a:solidFill>
                    <a:schemeClr val="bg2"/>
                  </a:solidFill>
                  <a:latin typeface="微软雅黑" panose="020B0503020204020204" pitchFamily="34" charset="-122"/>
                  <a:ea typeface="微软雅黑" panose="020B0503020204020204" pitchFamily="34" charset="-122"/>
                </a:rPr>
                <a:t>可利用社交媒体软件以及相关的农业电视台、广播、报纸、杂志等媒体上购买广告位，发布有关产品的内容和体验活动，将我们的系统产品的信息传播给更多的农业生产需要者，同时可建立自己的网站</a:t>
              </a:r>
            </a:p>
          </p:txBody>
        </p:sp>
      </p:grpSp>
      <p:grpSp>
        <p:nvGrpSpPr>
          <p:cNvPr id="24" name="组合 23"/>
          <p:cNvGrpSpPr/>
          <p:nvPr/>
        </p:nvGrpSpPr>
        <p:grpSpPr>
          <a:xfrm>
            <a:off x="5951855" y="4221480"/>
            <a:ext cx="2842895" cy="1998345"/>
            <a:chOff x="9373" y="6648"/>
            <a:chExt cx="4477" cy="3147"/>
          </a:xfrm>
        </p:grpSpPr>
        <p:sp>
          <p:nvSpPr>
            <p:cNvPr id="27" name="Text11"/>
            <p:cNvSpPr txBox="1"/>
            <p:nvPr>
              <p:custDataLst>
                <p:tags r:id="rId5"/>
              </p:custDataLst>
            </p:nvPr>
          </p:nvSpPr>
          <p:spPr>
            <a:xfrm>
              <a:off x="9373" y="6648"/>
              <a:ext cx="4370"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合作推广</a:t>
              </a:r>
            </a:p>
          </p:txBody>
        </p:sp>
        <p:sp>
          <p:nvSpPr>
            <p:cNvPr id="31" name="Text15"/>
            <p:cNvSpPr txBox="1"/>
            <p:nvPr>
              <p:custDataLst>
                <p:tags r:id="rId6"/>
              </p:custDataLst>
            </p:nvPr>
          </p:nvSpPr>
          <p:spPr>
            <a:xfrm>
              <a:off x="9480" y="7257"/>
              <a:ext cx="4370" cy="2539"/>
            </a:xfrm>
            <a:prstGeom prst="rect">
              <a:avLst/>
            </a:prstGeom>
            <a:noFill/>
          </p:spPr>
          <p:txBody>
            <a:bodyPr wrap="square" lIns="72000" tIns="36000" rIns="72000" bIns="36000" rtlCol="0">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400">
                  <a:solidFill>
                    <a:schemeClr val="bg2"/>
                  </a:solidFill>
                  <a:latin typeface="微软雅黑" panose="020B0503020204020204" pitchFamily="34" charset="-122"/>
                  <a:ea typeface="微软雅黑" panose="020B0503020204020204" pitchFamily="34" charset="-122"/>
                </a:rPr>
                <a:t>设置一些站点，针对一些感兴趣的用户，可以让专门人员去陪同用户体验试用，即提供该产品的试用机会，让潜在消费者亲身体验该产品的价值和特点，并根据反馈和推荐进行宣传。</a:t>
              </a:r>
              <a:endParaRPr lang="en-US" altLang="zh-CN" sz="1400" dirty="0">
                <a:solidFill>
                  <a:schemeClr val="bg2"/>
                </a:solidFill>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8794750" y="1901825"/>
            <a:ext cx="2617470" cy="1398905"/>
            <a:chOff x="13850" y="2995"/>
            <a:chExt cx="4122" cy="2203"/>
          </a:xfrm>
        </p:grpSpPr>
        <p:sp>
          <p:nvSpPr>
            <p:cNvPr id="28" name="Text12"/>
            <p:cNvSpPr txBox="1"/>
            <p:nvPr>
              <p:custDataLst>
                <p:tags r:id="rId3"/>
              </p:custDataLst>
            </p:nvPr>
          </p:nvSpPr>
          <p:spPr>
            <a:xfrm>
              <a:off x="13850" y="2995"/>
              <a:ext cx="4122"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提供试用体验</a:t>
              </a:r>
              <a:endParaRPr lang="en-US" altLang="zh-CN" b="1" dirty="0">
                <a:latin typeface="微软雅黑" panose="020B0503020204020204" pitchFamily="34" charset="-122"/>
                <a:ea typeface="微软雅黑" panose="020B0503020204020204" pitchFamily="34" charset="-122"/>
              </a:endParaRPr>
            </a:p>
            <a:p>
              <a:endParaRPr lang="zh-CN" altLang="en-US" b="1" dirty="0">
                <a:latin typeface="微软雅黑" panose="020B0503020204020204" pitchFamily="34" charset="-122"/>
                <a:ea typeface="微软雅黑" panose="020B0503020204020204" pitchFamily="34" charset="-122"/>
              </a:endParaRPr>
            </a:p>
          </p:txBody>
        </p:sp>
        <p:sp>
          <p:nvSpPr>
            <p:cNvPr id="32" name="Text16"/>
            <p:cNvSpPr txBox="1"/>
            <p:nvPr>
              <p:custDataLst>
                <p:tags r:id="rId4"/>
              </p:custDataLst>
            </p:nvPr>
          </p:nvSpPr>
          <p:spPr>
            <a:xfrm>
              <a:off x="13850" y="3628"/>
              <a:ext cx="4122" cy="1570"/>
            </a:xfrm>
            <a:prstGeom prst="rect">
              <a:avLst/>
            </a:prstGeom>
            <a:noFill/>
          </p:spPr>
          <p:txBody>
            <a:bodyPr wrap="square" lIns="72000" tIns="36000" rIns="72000" bIns="36000" rtlCol="0">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400">
                  <a:solidFill>
                    <a:schemeClr val="bg2"/>
                  </a:solidFill>
                  <a:latin typeface="微软雅黑" panose="020B0503020204020204" pitchFamily="34" charset="-122"/>
                  <a:ea typeface="微软雅黑" panose="020B0503020204020204" pitchFamily="34" charset="-122"/>
                </a:rPr>
                <a:t>可以与相关农业产品进行合作，在农忙时期进行合作推广，让更多农业从事者知道，提升知名度。</a:t>
              </a:r>
              <a:endParaRPr lang="en-US" altLang="zh-CN" sz="1400" dirty="0">
                <a:solidFill>
                  <a:schemeClr val="bg2"/>
                </a:solidFill>
                <a:latin typeface="微软雅黑" panose="020B0503020204020204" pitchFamily="34" charset="-122"/>
                <a:ea typeface="微软雅黑" panose="020B0503020204020204" pitchFamily="34" charset="-122"/>
              </a:endParaRPr>
            </a:p>
          </p:txBody>
        </p:sp>
      </p:grpSp>
      <p:sp>
        <p:nvSpPr>
          <p:cNvPr id="2" name="Text17"/>
          <p:cNvSpPr txBox="1"/>
          <p:nvPr>
            <p:custDataLst>
              <p:tags r:id="rId2"/>
            </p:custDataLst>
          </p:nvPr>
        </p:nvSpPr>
        <p:spPr>
          <a:xfrm>
            <a:off x="347980" y="305435"/>
            <a:ext cx="4897755" cy="720090"/>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AlexNet模型的</a:t>
            </a:r>
            <a:r>
              <a:rPr lang="zh-CN" altLang="en-US"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推广模式</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tags r:id="rId1"/>
    </p:custData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par>
                                <p:cTn id="8" presetID="22" presetClass="entr" presetSubtype="8" fill="hold" nodeType="withEffect">
                                  <p:stCondLst>
                                    <p:cond delay="0"/>
                                  </p:stCondLst>
                                  <p:childTnLst>
                                    <p:set>
                                      <p:cBhvr>
                                        <p:cTn id="9" dur="500"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12" presetClass="entr" presetSubtype="4"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12" presetClass="entr" presetSubtype="1"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down)">
                                      <p:cBhvr>
                                        <p:cTn id="32" dur="500"/>
                                        <p:tgtEl>
                                          <p:spTgt spid="23"/>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par>
                                <p:cTn id="40" presetID="12" presetClass="entr" presetSubtype="4"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p:tgtEl>
                                          <p:spTgt spid="24"/>
                                        </p:tgtEl>
                                        <p:attrNameLst>
                                          <p:attrName>ppt_y</p:attrName>
                                        </p:attrNameLst>
                                      </p:cBhvr>
                                      <p:tavLst>
                                        <p:tav tm="0">
                                          <p:val>
                                            <p:strVal val="#ppt_y+#ppt_h*1.125000"/>
                                          </p:val>
                                        </p:tav>
                                        <p:tav tm="100000">
                                          <p:val>
                                            <p:strVal val="#ppt_y"/>
                                          </p:val>
                                        </p:tav>
                                      </p:tavLst>
                                    </p:anim>
                                    <p:animEffect transition="in" filter="wipe(up)">
                                      <p:cBhvr>
                                        <p:cTn id="43" dur="500"/>
                                        <p:tgtEl>
                                          <p:spTgt spid="24"/>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par>
                                <p:cTn id="51" presetID="12" presetClass="entr" presetSubtype="1"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500"/>
                                        <p:tgtEl>
                                          <p:spTgt spid="35"/>
                                        </p:tgtEl>
                                        <p:attrNameLst>
                                          <p:attrName>ppt_y</p:attrName>
                                        </p:attrNameLst>
                                      </p:cBhvr>
                                      <p:tavLst>
                                        <p:tav tm="0">
                                          <p:val>
                                            <p:strVal val="#ppt_y-#ppt_h*1.125000"/>
                                          </p:val>
                                        </p:tav>
                                        <p:tav tm="100000">
                                          <p:val>
                                            <p:strVal val="#ppt_y"/>
                                          </p:val>
                                        </p:tav>
                                      </p:tavLst>
                                    </p:anim>
                                    <p:animEffect transition="in" filter="wipe(down)">
                                      <p:cBhvr>
                                        <p:cTn id="5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10" grpId="0" animBg="1"/>
      <p:bldP spid="10" grpId="1" animBg="1"/>
      <p:bldP spid="4" grpId="0" animBg="1"/>
      <p:bldP spid="4" grpId="1" animBg="1"/>
      <p:bldP spid="8" grpId="0" animBg="1"/>
      <p:bldP spid="8" grpId="1" animBg="1"/>
      <p:bldP spid="9" grpId="0" animBg="1"/>
      <p:bldP spid="9" grpId="1" animBg="1"/>
      <p:bldP spid="11" grpId="0" animBg="1"/>
      <p:bldP spid="11" grpId="1" animBg="1"/>
      <p:bldP spid="2" grpId="0"/>
      <p:bldP spid="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Shape1"/>
          <p:cNvPicPr>
            <a:picLocks noChangeAspect="1" noChangeArrowheads="1"/>
          </p:cNvPicPr>
          <p:nvPr/>
        </p:nvPicPr>
        <p:blipFill>
          <a:blip r:embed="rId12">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Text1"/>
          <p:cNvSpPr/>
          <p:nvPr>
            <p:custDataLst>
              <p:tags r:id="rId2"/>
            </p:custDataLst>
          </p:nvPr>
        </p:nvSpPr>
        <p:spPr>
          <a:xfrm>
            <a:off x="4922520" y="0"/>
            <a:ext cx="7269480" cy="30232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accent1"/>
              </a:solidFill>
              <a:latin typeface="微软雅黑" panose="020B0503020204020204" pitchFamily="34" charset="-122"/>
              <a:ea typeface="微软雅黑" panose="020B0503020204020204" pitchFamily="34" charset="-122"/>
            </a:endParaRPr>
          </a:p>
        </p:txBody>
      </p:sp>
      <p:cxnSp>
        <p:nvCxnSpPr>
          <p:cNvPr id="23" name="平滑2"/>
          <p:cNvCxnSpPr/>
          <p:nvPr>
            <p:custDataLst>
              <p:tags r:id="rId3"/>
            </p:custDataLst>
          </p:nvPr>
        </p:nvCxnSpPr>
        <p:spPr>
          <a:xfrm flipH="1">
            <a:off x="6013457" y="3213100"/>
            <a:ext cx="5753093" cy="0"/>
          </a:xfrm>
          <a:prstGeom prst="line">
            <a:avLst/>
          </a:prstGeom>
          <a:ln w="6350" cap="flat" cmpd="sng" algn="ctr">
            <a:solidFill>
              <a:schemeClr val="accent1">
                <a:lumMod val="7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Shape2"/>
          <p:cNvSpPr/>
          <p:nvPr>
            <p:custDataLst>
              <p:tags r:id="rId4"/>
            </p:custDataLst>
          </p:nvPr>
        </p:nvSpPr>
        <p:spPr>
          <a:xfrm>
            <a:off x="911225" y="332740"/>
            <a:ext cx="4437380" cy="2871470"/>
          </a:xfrm>
          <a:prstGeom prst="round2SameRect">
            <a:avLst/>
          </a:prstGeom>
          <a:blipFill rotWithShape="1">
            <a:blip r:embed="rId13"/>
            <a:stretch>
              <a:fillRect t="-24537" b="-2453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
        <p:nvSpPr>
          <p:cNvPr id="27" name="PA-Freeform: Shape 25"/>
          <p:cNvSpPr/>
          <p:nvPr>
            <p:custDataLst>
              <p:tags r:id="rId5"/>
            </p:custDataLst>
          </p:nvPr>
        </p:nvSpPr>
        <p:spPr>
          <a:xfrm flipH="1">
            <a:off x="11597005" y="25019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 name="Text2"/>
          <p:cNvSpPr txBox="1"/>
          <p:nvPr>
            <p:custDataLst>
              <p:tags r:id="rId6"/>
            </p:custDataLst>
          </p:nvPr>
        </p:nvSpPr>
        <p:spPr>
          <a:xfrm>
            <a:off x="6013450" y="980440"/>
            <a:ext cx="5772150" cy="1132205"/>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II</a:t>
            </a:r>
            <a:r>
              <a:rPr lang="zh-CN" altLang="en-US"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商业盈利模式</a:t>
            </a:r>
            <a:endParaRPr lang="en-US" altLang="zh-CN"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3" name="Text3"/>
          <p:cNvSpPr txBox="1"/>
          <p:nvPr>
            <p:custDataLst>
              <p:tags r:id="rId7"/>
            </p:custDataLst>
          </p:nvPr>
        </p:nvSpPr>
        <p:spPr>
          <a:xfrm>
            <a:off x="440690" y="3284855"/>
            <a:ext cx="3560445" cy="3383915"/>
          </a:xfrm>
          <a:prstGeom prst="rect">
            <a:avLst/>
          </a:prstGeom>
          <a:noFill/>
          <a:ln>
            <a:noFill/>
          </a:ln>
        </p:spPr>
        <p:txBody>
          <a:bodyPr spcFirstLastPara="1" wrap="square" lIns="60950" tIns="30466" rIns="60950" bIns="30466" anchor="t"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t>
            </a:r>
            <a:r>
              <a:rPr lang="zh-CN" altLang="en-US" b="1" dirty="0">
                <a:solidFill>
                  <a:schemeClr val="accent1"/>
                </a:solidFill>
                <a:latin typeface="微软雅黑" panose="020B0503020204020204" pitchFamily="34" charset="-122"/>
                <a:ea typeface="微软雅黑" panose="020B0503020204020204" pitchFamily="34" charset="-122"/>
                <a:cs typeface="+mn-ea"/>
                <a:sym typeface="思源黑体 CN" panose="020B0500000000000000" pitchFamily="34" charset="-122"/>
              </a:rPr>
              <a:t>初期盈利模式</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在项目启动阶段，可以通过销售病虫害识别系统所需的硬件设备来获取收入。这些设备可能包括高分率摄像头，传感器，服务器等。通过提供的设备，为该项目后续的盈利模式打下基础，并收集相关用户的使用数据，为后续项目可能会进行的升级等相关措施提供有利条件。</a:t>
            </a:r>
          </a:p>
          <a:p>
            <a:pPr marL="0" marR="0" lvl="0" indent="0" algn="just" defTabSz="914400" rtl="0" eaLnBrk="1" fontAlgn="auto" latinLnBrk="0" hangingPunct="1">
              <a:lnSpc>
                <a:spcPct val="100000"/>
              </a:lnSpc>
              <a:spcBef>
                <a:spcPts val="1800"/>
              </a:spcBef>
              <a:spcAft>
                <a:spcPct val="0"/>
              </a:spcAft>
              <a:buClrTx/>
              <a:buSzTx/>
              <a:buFontTx/>
              <a:buNone/>
              <a:defRPr/>
            </a:pP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4" name="Text3"/>
          <p:cNvSpPr txBox="1"/>
          <p:nvPr>
            <p:custDataLst>
              <p:tags r:id="rId8"/>
            </p:custDataLst>
          </p:nvPr>
        </p:nvSpPr>
        <p:spPr>
          <a:xfrm>
            <a:off x="4295775" y="3284855"/>
            <a:ext cx="3560445" cy="3383915"/>
          </a:xfrm>
          <a:prstGeom prst="rect">
            <a:avLst/>
          </a:prstGeom>
          <a:noFill/>
          <a:ln>
            <a:noFill/>
          </a:ln>
        </p:spPr>
        <p:txBody>
          <a:bodyPr spcFirstLastPara="1" wrap="square" lIns="60950" tIns="30466" rIns="60950" bIns="30466" anchor="t"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lang="zh-CN" altLang="en-US" b="1" dirty="0">
                <a:solidFill>
                  <a:schemeClr val="accent1"/>
                </a:solidFill>
                <a:latin typeface="微软雅黑" panose="020B0503020204020204" pitchFamily="34" charset="-122"/>
                <a:ea typeface="微软雅黑" panose="020B0503020204020204" pitchFamily="34" charset="-122"/>
                <a:cs typeface="+mn-ea"/>
                <a:sym typeface="思源黑体 CN" panose="020B0500000000000000" pitchFamily="34" charset="-122"/>
              </a:rPr>
              <a:t>中期盈利模式</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随着系统使用的增加，积累了大量的病虫害数据。根据病虫害识别系统的数据分析结果，我们可以合作或自行发展智能农业用品销售平台。</a:t>
            </a:r>
          </a:p>
          <a:p>
            <a:pPr marL="0" marR="0" lvl="0" indent="0" algn="just" defTabSz="914400" rtl="0" eaLnBrk="1" fontAlgn="auto" latinLnBrk="0" hangingPunct="1">
              <a:lnSpc>
                <a:spcPct val="100000"/>
              </a:lnSpc>
              <a:spcBef>
                <a:spcPts val="1800"/>
              </a:spcBef>
              <a:spcAft>
                <a:spcPct val="0"/>
              </a:spcAft>
              <a:buClrTx/>
              <a:buSzTx/>
              <a:buFontTx/>
              <a:buNone/>
              <a:defRPr/>
            </a:pP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5" name="Text3"/>
          <p:cNvSpPr txBox="1"/>
          <p:nvPr>
            <p:custDataLst>
              <p:tags r:id="rId9"/>
            </p:custDataLst>
          </p:nvPr>
        </p:nvSpPr>
        <p:spPr>
          <a:xfrm>
            <a:off x="8256270" y="3284855"/>
            <a:ext cx="3560445" cy="3383915"/>
          </a:xfrm>
          <a:prstGeom prst="rect">
            <a:avLst/>
          </a:prstGeom>
          <a:noFill/>
          <a:ln>
            <a:noFill/>
          </a:ln>
        </p:spPr>
        <p:txBody>
          <a:bodyPr spcFirstLastPara="1" wrap="square" lIns="60950" tIns="30466" rIns="60950" bIns="30466" anchor="t"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t>
            </a:r>
            <a:r>
              <a:rPr lang="zh-CN" altLang="en-US" b="1" dirty="0">
                <a:solidFill>
                  <a:schemeClr val="accent1"/>
                </a:solidFill>
                <a:latin typeface="微软雅黑" panose="020B0503020204020204" pitchFamily="34" charset="-122"/>
                <a:ea typeface="微软雅黑" panose="020B0503020204020204" pitchFamily="34" charset="-122"/>
                <a:cs typeface="+mn-ea"/>
                <a:sym typeface="思源黑体 CN" panose="020B0500000000000000" pitchFamily="34" charset="-122"/>
              </a:rPr>
              <a:t>长期盈利模式</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系统运行时间的增长，企业可以根据积累的数据和经验，提供定制化的病虫害识别服务，同时，也可以招募各级区域代理，为农户提供便利服务，提高农户使用度和该系统知名度，同时也可以通过建立生态伙伴关系。</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strips(downRigh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2"/>
            </p:custDataLst>
          </p:nvPr>
        </p:nvGrpSpPr>
        <p:grpSpPr>
          <a:xfrm>
            <a:off x="417195" y="2768018"/>
            <a:ext cx="2261994" cy="671867"/>
            <a:chOff x="905" y="4359"/>
            <a:chExt cx="3562" cy="1058"/>
          </a:xfrm>
        </p:grpSpPr>
        <p:sp>
          <p:nvSpPr>
            <p:cNvPr id="54" name="Text1"/>
            <p:cNvSpPr/>
            <p:nvPr>
              <p:custDataLst>
                <p:tags r:id="rId13"/>
              </p:custDataLst>
            </p:nvPr>
          </p:nvSpPr>
          <p:spPr>
            <a:xfrm>
              <a:off x="905" y="4359"/>
              <a:ext cx="3562" cy="1058"/>
            </a:xfrm>
            <a:prstGeom prst="roundRect">
              <a:avLst>
                <a:gd name="adj" fmla="val 50000"/>
              </a:avLst>
            </a:prstGeom>
            <a:solidFill>
              <a:schemeClr val="accent1"/>
            </a:solidFill>
            <a:ln>
              <a:noFill/>
            </a:ln>
            <a:effectLst>
              <a:outerShdw blurRad="3429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5" name="Text5"/>
            <p:cNvSpPr txBox="1"/>
            <p:nvPr>
              <p:custDataLst>
                <p:tags r:id="rId14"/>
              </p:custDataLst>
            </p:nvPr>
          </p:nvSpPr>
          <p:spPr>
            <a:xfrm>
              <a:off x="1098" y="4476"/>
              <a:ext cx="3177" cy="824"/>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00" b="1" dirty="0">
                  <a:solidFill>
                    <a:schemeClr val="tx2"/>
                  </a:solidFill>
                  <a:latin typeface="微软雅黑" panose="020B0503020204020204" pitchFamily="34" charset="-122"/>
                  <a:ea typeface="微软雅黑" panose="020B0503020204020204" pitchFamily="34" charset="-122"/>
                </a:rPr>
                <a:t>产品策略</a:t>
              </a:r>
            </a:p>
          </p:txBody>
        </p:sp>
      </p:grpSp>
      <p:grpSp>
        <p:nvGrpSpPr>
          <p:cNvPr id="4" name="组合 3"/>
          <p:cNvGrpSpPr/>
          <p:nvPr>
            <p:custDataLst>
              <p:tags r:id="rId3"/>
            </p:custDataLst>
          </p:nvPr>
        </p:nvGrpSpPr>
        <p:grpSpPr>
          <a:xfrm>
            <a:off x="4262953" y="1772285"/>
            <a:ext cx="2261870" cy="671830"/>
            <a:chOff x="6606" y="2834"/>
            <a:chExt cx="3562" cy="1058"/>
          </a:xfrm>
        </p:grpSpPr>
        <p:sp>
          <p:nvSpPr>
            <p:cNvPr id="85" name="Text2"/>
            <p:cNvSpPr/>
            <p:nvPr>
              <p:custDataLst>
                <p:tags r:id="rId11"/>
              </p:custDataLst>
            </p:nvPr>
          </p:nvSpPr>
          <p:spPr>
            <a:xfrm>
              <a:off x="6606" y="2834"/>
              <a:ext cx="3562" cy="1058"/>
            </a:xfrm>
            <a:prstGeom prst="roundRect">
              <a:avLst>
                <a:gd name="adj" fmla="val 50000"/>
              </a:avLst>
            </a:prstGeom>
            <a:solidFill>
              <a:schemeClr val="accent2"/>
            </a:solidFill>
            <a:ln>
              <a:noFill/>
            </a:ln>
            <a:effectLst>
              <a:outerShdw blurRad="3429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6" name="Text6"/>
            <p:cNvSpPr txBox="1"/>
            <p:nvPr>
              <p:custDataLst>
                <p:tags r:id="rId12"/>
              </p:custDataLst>
            </p:nvPr>
          </p:nvSpPr>
          <p:spPr>
            <a:xfrm>
              <a:off x="6771" y="2948"/>
              <a:ext cx="3177" cy="824"/>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tx2"/>
                  </a:solidFill>
                  <a:latin typeface="微软雅黑" panose="020B0503020204020204" pitchFamily="34" charset="-122"/>
                  <a:ea typeface="微软雅黑" panose="020B0503020204020204" pitchFamily="34" charset="-122"/>
                </a:rPr>
                <a:t>价格策略</a:t>
              </a:r>
            </a:p>
          </p:txBody>
        </p:sp>
      </p:grpSp>
      <p:grpSp>
        <p:nvGrpSpPr>
          <p:cNvPr id="5" name="组合 4"/>
          <p:cNvGrpSpPr/>
          <p:nvPr>
            <p:custDataLst>
              <p:tags r:id="rId4"/>
            </p:custDataLst>
          </p:nvPr>
        </p:nvGrpSpPr>
        <p:grpSpPr>
          <a:xfrm>
            <a:off x="8290958" y="2245995"/>
            <a:ext cx="2261870" cy="671830"/>
            <a:chOff x="12322" y="3830"/>
            <a:chExt cx="3562" cy="1058"/>
          </a:xfrm>
        </p:grpSpPr>
        <p:sp>
          <p:nvSpPr>
            <p:cNvPr id="88" name="Text3"/>
            <p:cNvSpPr/>
            <p:nvPr>
              <p:custDataLst>
                <p:tags r:id="rId9"/>
              </p:custDataLst>
            </p:nvPr>
          </p:nvSpPr>
          <p:spPr>
            <a:xfrm>
              <a:off x="12322" y="3830"/>
              <a:ext cx="3562" cy="1058"/>
            </a:xfrm>
            <a:prstGeom prst="roundRect">
              <a:avLst>
                <a:gd name="adj" fmla="val 50000"/>
              </a:avLst>
            </a:prstGeom>
            <a:solidFill>
              <a:schemeClr val="accent1"/>
            </a:solidFill>
            <a:ln>
              <a:noFill/>
            </a:ln>
            <a:effectLst>
              <a:outerShdw blurRad="3429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9" name="Text7"/>
            <p:cNvSpPr txBox="1"/>
            <p:nvPr>
              <p:custDataLst>
                <p:tags r:id="rId10"/>
              </p:custDataLst>
            </p:nvPr>
          </p:nvSpPr>
          <p:spPr>
            <a:xfrm>
              <a:off x="12494" y="3945"/>
              <a:ext cx="3177" cy="824"/>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tx2"/>
                  </a:solidFill>
                  <a:latin typeface="微软雅黑" panose="020B0503020204020204" pitchFamily="34" charset="-122"/>
                  <a:ea typeface="微软雅黑" panose="020B0503020204020204" pitchFamily="34" charset="-122"/>
                </a:rPr>
                <a:t>渠道策略</a:t>
              </a:r>
            </a:p>
          </p:txBody>
        </p:sp>
      </p:grpSp>
      <p:sp>
        <p:nvSpPr>
          <p:cNvPr id="58" name="Text9"/>
          <p:cNvSpPr txBox="1"/>
          <p:nvPr>
            <p:custDataLst>
              <p:tags r:id="rId5"/>
            </p:custDataLst>
          </p:nvPr>
        </p:nvSpPr>
        <p:spPr>
          <a:xfrm>
            <a:off x="417195" y="3765023"/>
            <a:ext cx="2772562" cy="2529343"/>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10000"/>
              </a:lnSpc>
              <a:spcBef>
                <a:spcPts val="300"/>
              </a:spcBef>
              <a:spcAft>
                <a:spcPts val="300"/>
              </a:spcAft>
              <a:buFont typeface="Arial" panose="020B0604020202020204" pitchFamily="34" charset="0"/>
              <a:buChar char="•"/>
            </a:pPr>
            <a:r>
              <a:rPr lang="zh-CN" altLang="en-US" sz="1600" dirty="0">
                <a:solidFill>
                  <a:schemeClr val="bg2"/>
                </a:solidFill>
                <a:latin typeface="微软雅黑" panose="020B0503020204020204" pitchFamily="34" charset="-122"/>
                <a:ea typeface="微软雅黑" panose="020B0503020204020204" pitchFamily="34" charset="-122"/>
              </a:rPr>
              <a:t>到产品策略成功，首先需进行我们这个病虫害识别系统的定位，考虑是面向大型农场还是小型农场，亦或是专业的农业研究机构，其次要建立好完善的病虫害数据库，最后要设计好简洁直观的用户界面，并提供易于操作的功能和操作流程。</a:t>
            </a:r>
          </a:p>
        </p:txBody>
      </p:sp>
      <p:sp>
        <p:nvSpPr>
          <p:cNvPr id="87" name="Text10"/>
          <p:cNvSpPr txBox="1"/>
          <p:nvPr>
            <p:custDataLst>
              <p:tags r:id="rId6"/>
            </p:custDataLst>
          </p:nvPr>
        </p:nvSpPr>
        <p:spPr>
          <a:xfrm>
            <a:off x="4262953" y="2768015"/>
            <a:ext cx="2785262" cy="2529343"/>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10000"/>
              </a:lnSpc>
              <a:spcBef>
                <a:spcPts val="300"/>
              </a:spcBef>
              <a:spcAft>
                <a:spcPts val="300"/>
              </a:spcAft>
              <a:buFont typeface="Arial" panose="020B0604020202020204" pitchFamily="34" charset="0"/>
              <a:buChar char="•"/>
            </a:pPr>
            <a:r>
              <a:rPr lang="zh-CN" altLang="en-US" sz="1600" dirty="0">
                <a:solidFill>
                  <a:schemeClr val="bg2"/>
                </a:solidFill>
                <a:latin typeface="微软雅黑" panose="020B0503020204020204" pitchFamily="34" charset="-122"/>
                <a:ea typeface="微软雅黑" panose="020B0503020204020204" pitchFamily="34" charset="-122"/>
              </a:rPr>
              <a:t>首先考虑到成本，市场需求和竞争情况进行定价，根据系统的规格和性能水平，再设立不同的系统产品档次和价格选项，其次我们可以对数据分析服务收费，同时，我们也可以通过与他人合作来收费，例如基于销售额的分成或提供相关技术支持的收费</a:t>
            </a:r>
            <a:r>
              <a:rPr lang="en-US" altLang="zh-CN" sz="1600" dirty="0">
                <a:solidFill>
                  <a:schemeClr val="bg2"/>
                </a:solidFill>
                <a:latin typeface="微软雅黑" panose="020B0503020204020204" pitchFamily="34" charset="-122"/>
                <a:ea typeface="微软雅黑" panose="020B0503020204020204" pitchFamily="34" charset="-122"/>
              </a:rPr>
              <a:t>。</a:t>
            </a:r>
          </a:p>
        </p:txBody>
      </p:sp>
      <p:sp>
        <p:nvSpPr>
          <p:cNvPr id="90" name="Text11"/>
          <p:cNvSpPr txBox="1"/>
          <p:nvPr>
            <p:custDataLst>
              <p:tags r:id="rId7"/>
            </p:custDataLst>
          </p:nvPr>
        </p:nvSpPr>
        <p:spPr>
          <a:xfrm>
            <a:off x="8290958" y="3356702"/>
            <a:ext cx="2769387" cy="2529343"/>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10000"/>
              </a:lnSpc>
              <a:spcBef>
                <a:spcPts val="300"/>
              </a:spcBef>
              <a:spcAft>
                <a:spcPts val="300"/>
              </a:spcAft>
              <a:buFont typeface="Arial" panose="020B0604020202020204" pitchFamily="34" charset="0"/>
              <a:buChar char="•"/>
            </a:pPr>
            <a:r>
              <a:rPr lang="zh-CN" altLang="en-US" sz="1600" dirty="0">
                <a:solidFill>
                  <a:schemeClr val="bg2"/>
                </a:solidFill>
                <a:latin typeface="微软雅黑" panose="020B0503020204020204" pitchFamily="34" charset="-122"/>
                <a:ea typeface="微软雅黑" panose="020B0503020204020204" pitchFamily="34" charset="-122"/>
              </a:rPr>
              <a:t>首先我们项目会优先考虑与当地农业供应商建立合作关系，直接接触目标受众并提供产品信息和演示与此同时，我们产品也会充分利用电商平台，同时也可以参展农业展览会和研讨会，展示产品的功能和优点，与潜在用户面对面交流，并提供实时演示</a:t>
            </a:r>
            <a:r>
              <a:rPr lang="en-US" altLang="zh-CN" sz="1600" dirty="0">
                <a:solidFill>
                  <a:schemeClr val="bg2"/>
                </a:solidFill>
                <a:latin typeface="微软雅黑" panose="020B0503020204020204" pitchFamily="34" charset="-122"/>
                <a:ea typeface="微软雅黑" panose="020B0503020204020204" pitchFamily="34" charset="-122"/>
              </a:rPr>
              <a:t>。</a:t>
            </a:r>
          </a:p>
        </p:txBody>
      </p:sp>
      <p:sp>
        <p:nvSpPr>
          <p:cNvPr id="3" name="Text13"/>
          <p:cNvSpPr txBox="1"/>
          <p:nvPr>
            <p:custDataLst>
              <p:tags r:id="rId8"/>
            </p:custDataLst>
          </p:nvPr>
        </p:nvSpPr>
        <p:spPr>
          <a:xfrm>
            <a:off x="347808" y="305152"/>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III.</a:t>
            </a:r>
            <a:r>
              <a:rPr lang="zh-CN" altLang="en-US" sz="3200" b="1"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商业营销策略</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par>
                                <p:cTn id="8" presetID="3" presetClass="entr" presetSubtype="5"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linds(vertical)">
                                      <p:cBhvr>
                                        <p:cTn id="10" dur="500"/>
                                        <p:tgtEl>
                                          <p:spTgt spid="58"/>
                                        </p:tgtEl>
                                      </p:cBhvr>
                                    </p:animEffect>
                                  </p:childTnLst>
                                </p:cTn>
                              </p:par>
                            </p:childTnLst>
                          </p:cTn>
                        </p:par>
                        <p:par>
                          <p:cTn id="11" fill="hold">
                            <p:stCondLst>
                              <p:cond delay="500"/>
                            </p:stCondLst>
                            <p:childTnLst>
                              <p:par>
                                <p:cTn id="12" presetID="3" presetClass="entr" presetSubtype="5"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vertical)">
                                      <p:cBhvr>
                                        <p:cTn id="14" dur="500"/>
                                        <p:tgtEl>
                                          <p:spTgt spid="4"/>
                                        </p:tgtEl>
                                      </p:cBhvr>
                                    </p:animEffect>
                                  </p:childTnLst>
                                </p:cTn>
                              </p:par>
                              <p:par>
                                <p:cTn id="15" presetID="3" presetClass="entr" presetSubtype="5"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blinds(vertical)">
                                      <p:cBhvr>
                                        <p:cTn id="17" dur="500"/>
                                        <p:tgtEl>
                                          <p:spTgt spid="87"/>
                                        </p:tgtEl>
                                      </p:cBhvr>
                                    </p:animEffect>
                                  </p:childTnLst>
                                </p:cTn>
                              </p:par>
                            </p:childTnLst>
                          </p:cTn>
                        </p:par>
                        <p:par>
                          <p:cTn id="18" fill="hold">
                            <p:stCondLst>
                              <p:cond delay="1000"/>
                            </p:stCondLst>
                            <p:childTnLst>
                              <p:par>
                                <p:cTn id="19" presetID="3" presetClass="entr" presetSubtype="5"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vertical)">
                                      <p:cBhvr>
                                        <p:cTn id="21" dur="500"/>
                                        <p:tgtEl>
                                          <p:spTgt spid="5"/>
                                        </p:tgtEl>
                                      </p:cBhvr>
                                    </p:animEffect>
                                  </p:childTnLst>
                                </p:cTn>
                              </p:par>
                              <p:par>
                                <p:cTn id="22" presetID="3" presetClass="entr" presetSubtype="5" fill="hold" grpId="0" nodeType="withEffect">
                                  <p:stCondLst>
                                    <p:cond delay="0"/>
                                  </p:stCondLst>
                                  <p:childTnLst>
                                    <p:set>
                                      <p:cBhvr>
                                        <p:cTn id="23" dur="1" fill="hold">
                                          <p:stCondLst>
                                            <p:cond delay="0"/>
                                          </p:stCondLst>
                                        </p:cTn>
                                        <p:tgtEl>
                                          <p:spTgt spid="90"/>
                                        </p:tgtEl>
                                        <p:attrNameLst>
                                          <p:attrName>style.visibility</p:attrName>
                                        </p:attrNameLst>
                                      </p:cBhvr>
                                      <p:to>
                                        <p:strVal val="visible"/>
                                      </p:to>
                                    </p:set>
                                    <p:animEffect transition="in" filter="blinds(vertical)">
                                      <p:cBhvr>
                                        <p:cTn id="24"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8" grpId="1"/>
      <p:bldP spid="87" grpId="0"/>
      <p:bldP spid="87" grpId="1"/>
      <p:bldP spid="90" grpId="0"/>
      <p:bldP spid="90"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产业项目</a:t>
            </a:r>
            <a:r>
              <a:rPr lang="zh-CN" altLang="en-US" sz="6000" spc="0" dirty="0">
                <a:solidFill>
                  <a:schemeClr val="tx2"/>
                </a:solidFill>
                <a:latin typeface="微软雅黑" panose="020B0503020204020204" pitchFamily="34" charset="-122"/>
                <a:ea typeface="微软雅黑" panose="020B0503020204020204" pitchFamily="34" charset="-122"/>
                <a:cs typeface="字体圈欣意冠黑体" panose="00000500000000000000" charset="-122"/>
                <a:sym typeface="+mn-lt"/>
              </a:rPr>
              <a:t>优势分析</a:t>
            </a:r>
            <a:endPar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Project Operation and Market Strategy</a:t>
            </a: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05</a:t>
            </a: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Shape1"/>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98" name="矩形 1"/>
          <p:cNvSpPr/>
          <p:nvPr/>
        </p:nvSpPr>
        <p:spPr>
          <a:xfrm rot="10800000" flipH="1"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0" name="组合 9"/>
          <p:cNvGrpSpPr/>
          <p:nvPr/>
        </p:nvGrpSpPr>
        <p:grpSpPr>
          <a:xfrm>
            <a:off x="875030" y="2291715"/>
            <a:ext cx="3360420" cy="4049395"/>
            <a:chOff x="1378" y="3609"/>
            <a:chExt cx="5292" cy="6377"/>
          </a:xfrm>
        </p:grpSpPr>
        <p:sp>
          <p:nvSpPr>
            <p:cNvPr id="66" name="Text1"/>
            <p:cNvSpPr/>
            <p:nvPr/>
          </p:nvSpPr>
          <p:spPr>
            <a:xfrm>
              <a:off x="1378" y="3609"/>
              <a:ext cx="5292" cy="6377"/>
            </a:xfrm>
            <a:prstGeom prst="rect">
              <a:avLst/>
            </a:prstGeom>
            <a:gradFill flip="none" rotWithShape="1">
              <a:gsLst>
                <a:gs pos="7000">
                  <a:schemeClr val="bg1">
                    <a:alpha val="0"/>
                  </a:schemeClr>
                </a:gs>
                <a:gs pos="76000">
                  <a:schemeClr val="accent1">
                    <a:alpha val="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83" name="Text4"/>
            <p:cNvCxnSpPr/>
            <p:nvPr/>
          </p:nvCxnSpPr>
          <p:spPr>
            <a:xfrm>
              <a:off x="1378" y="9986"/>
              <a:ext cx="52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3" name="Text8"/>
            <p:cNvCxnSpPr/>
            <p:nvPr/>
          </p:nvCxnSpPr>
          <p:spPr>
            <a:xfrm>
              <a:off x="3719" y="6732"/>
              <a:ext cx="609"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13"/>
            <p:cNvSpPr txBox="1"/>
            <p:nvPr>
              <p:custDataLst>
                <p:tags r:id="rId7"/>
              </p:custDataLst>
            </p:nvPr>
          </p:nvSpPr>
          <p:spPr>
            <a:xfrm>
              <a:off x="1820" y="6973"/>
              <a:ext cx="4450" cy="276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相比传统识别方法，智能系统准确率高达95%，减少误判，提高防治效率。</a:t>
              </a:r>
            </a:p>
          </p:txBody>
        </p:sp>
        <p:sp>
          <p:nvSpPr>
            <p:cNvPr id="2" name="Text16"/>
            <p:cNvSpPr txBox="1"/>
            <p:nvPr>
              <p:custDataLst>
                <p:tags r:id="rId8"/>
              </p:custDataLst>
            </p:nvPr>
          </p:nvSpPr>
          <p:spPr>
            <a:xfrm>
              <a:off x="2040" y="5530"/>
              <a:ext cx="3967" cy="731"/>
            </a:xfrm>
            <a:prstGeom prst="rect">
              <a:avLst/>
            </a:prstGeom>
            <a:noFill/>
          </p:spPr>
          <p:txBody>
            <a:bodyPr wrap="square" rtlCol="0" anchor="ctr" anchorCtr="0">
              <a:normAutofit fontScale="8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rPr>
                <a:t>智能识别提升识别准确率</a:t>
              </a:r>
            </a:p>
          </p:txBody>
        </p:sp>
      </p:grpSp>
      <p:grpSp>
        <p:nvGrpSpPr>
          <p:cNvPr id="12" name="组合 11"/>
          <p:cNvGrpSpPr/>
          <p:nvPr/>
        </p:nvGrpSpPr>
        <p:grpSpPr>
          <a:xfrm>
            <a:off x="4432935" y="2291715"/>
            <a:ext cx="3360420" cy="4049395"/>
            <a:chOff x="6981" y="3609"/>
            <a:chExt cx="5292" cy="6377"/>
          </a:xfrm>
        </p:grpSpPr>
        <p:sp>
          <p:nvSpPr>
            <p:cNvPr id="67" name="Text2"/>
            <p:cNvSpPr/>
            <p:nvPr/>
          </p:nvSpPr>
          <p:spPr>
            <a:xfrm>
              <a:off x="6981" y="3609"/>
              <a:ext cx="5292" cy="6377"/>
            </a:xfrm>
            <a:prstGeom prst="rect">
              <a:avLst/>
            </a:prstGeom>
            <a:gradFill flip="none" rotWithShape="1">
              <a:gsLst>
                <a:gs pos="7000">
                  <a:schemeClr val="bg1">
                    <a:alpha val="0"/>
                  </a:schemeClr>
                </a:gs>
                <a:gs pos="76000">
                  <a:schemeClr val="accent1">
                    <a:alpha val="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86" name="Text5"/>
            <p:cNvCxnSpPr/>
            <p:nvPr/>
          </p:nvCxnSpPr>
          <p:spPr>
            <a:xfrm>
              <a:off x="6981" y="9986"/>
              <a:ext cx="52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7" name="Text10"/>
            <p:cNvCxnSpPr/>
            <p:nvPr/>
          </p:nvCxnSpPr>
          <p:spPr>
            <a:xfrm>
              <a:off x="9323" y="6732"/>
              <a:ext cx="609"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14"/>
            <p:cNvSpPr txBox="1"/>
            <p:nvPr>
              <p:custDataLst>
                <p:tags r:id="rId5"/>
              </p:custDataLst>
            </p:nvPr>
          </p:nvSpPr>
          <p:spPr>
            <a:xfrm>
              <a:off x="7424" y="6973"/>
              <a:ext cx="4407" cy="276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智能系统减少人工巡检成本，节省农药使用30%，提高农业生产经济效益。</a:t>
              </a:r>
            </a:p>
          </p:txBody>
        </p:sp>
        <p:sp>
          <p:nvSpPr>
            <p:cNvPr id="7" name="Text17"/>
            <p:cNvSpPr txBox="1"/>
            <p:nvPr>
              <p:custDataLst>
                <p:tags r:id="rId6"/>
              </p:custDataLst>
            </p:nvPr>
          </p:nvSpPr>
          <p:spPr>
            <a:xfrm>
              <a:off x="7644" y="5530"/>
              <a:ext cx="3967" cy="731"/>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rPr>
                <a:t>智能系统降低成本</a:t>
              </a:r>
            </a:p>
          </p:txBody>
        </p:sp>
      </p:grpSp>
      <p:grpSp>
        <p:nvGrpSpPr>
          <p:cNvPr id="39" name="组合 38"/>
          <p:cNvGrpSpPr/>
          <p:nvPr/>
        </p:nvGrpSpPr>
        <p:grpSpPr>
          <a:xfrm>
            <a:off x="7991475" y="2291715"/>
            <a:ext cx="3360420" cy="4049395"/>
            <a:chOff x="12585" y="3609"/>
            <a:chExt cx="5292" cy="6377"/>
          </a:xfrm>
        </p:grpSpPr>
        <p:sp>
          <p:nvSpPr>
            <p:cNvPr id="68" name="Text3"/>
            <p:cNvSpPr/>
            <p:nvPr/>
          </p:nvSpPr>
          <p:spPr>
            <a:xfrm>
              <a:off x="12585" y="3609"/>
              <a:ext cx="5292" cy="6377"/>
            </a:xfrm>
            <a:prstGeom prst="rect">
              <a:avLst/>
            </a:prstGeom>
            <a:gradFill flip="none" rotWithShape="1">
              <a:gsLst>
                <a:gs pos="7000">
                  <a:schemeClr val="bg1">
                    <a:alpha val="0"/>
                  </a:schemeClr>
                </a:gs>
                <a:gs pos="76000">
                  <a:schemeClr val="accent1">
                    <a:alpha val="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87" name="Text6"/>
            <p:cNvCxnSpPr/>
            <p:nvPr/>
          </p:nvCxnSpPr>
          <p:spPr>
            <a:xfrm>
              <a:off x="12585" y="9986"/>
              <a:ext cx="52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6" name="Text9"/>
            <p:cNvCxnSpPr/>
            <p:nvPr/>
          </p:nvCxnSpPr>
          <p:spPr>
            <a:xfrm>
              <a:off x="14927" y="6732"/>
              <a:ext cx="609"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15"/>
            <p:cNvSpPr txBox="1"/>
            <p:nvPr>
              <p:custDataLst>
                <p:tags r:id="rId3"/>
              </p:custDataLst>
            </p:nvPr>
          </p:nvSpPr>
          <p:spPr>
            <a:xfrm>
              <a:off x="13028" y="6973"/>
              <a:ext cx="4407" cy="276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减少农药滥用，保护生态环境，促进农业可持续发展。</a:t>
              </a:r>
            </a:p>
          </p:txBody>
        </p:sp>
        <p:sp>
          <p:nvSpPr>
            <p:cNvPr id="8" name="Text18"/>
            <p:cNvSpPr txBox="1"/>
            <p:nvPr>
              <p:custDataLst>
                <p:tags r:id="rId4"/>
              </p:custDataLst>
            </p:nvPr>
          </p:nvSpPr>
          <p:spPr>
            <a:xfrm>
              <a:off x="13248" y="5530"/>
              <a:ext cx="3967" cy="731"/>
            </a:xfrm>
            <a:prstGeom prst="rect">
              <a:avLst/>
            </a:prstGeom>
            <a:noFill/>
          </p:spPr>
          <p:txBody>
            <a:bodyPr wrap="square" rtlCol="0" anchor="ctr" anchorCtr="0">
              <a:normAutofit fontScale="8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rPr>
                <a:t>智能识别促进可持续发展</a:t>
              </a:r>
            </a:p>
          </p:txBody>
        </p:sp>
      </p:grpSp>
      <p:sp>
        <p:nvSpPr>
          <p:cNvPr id="11" name="Text19"/>
          <p:cNvSpPr txBox="1"/>
          <p:nvPr>
            <p:custDataLst>
              <p:tags r:id="rId2"/>
            </p:custDataLst>
          </p:nvPr>
        </p:nvSpPr>
        <p:spPr>
          <a:xfrm>
            <a:off x="347808" y="339877"/>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产品定位与策略规划</a:t>
            </a:r>
          </a:p>
        </p:txBody>
      </p:sp>
      <p:grpSp>
        <p:nvGrpSpPr>
          <p:cNvPr id="31" name="组合 30"/>
          <p:cNvGrpSpPr/>
          <p:nvPr/>
        </p:nvGrpSpPr>
        <p:grpSpPr>
          <a:xfrm>
            <a:off x="1756410" y="1558290"/>
            <a:ext cx="1515110" cy="1515110"/>
            <a:chOff x="2766" y="2454"/>
            <a:chExt cx="2386" cy="2386"/>
          </a:xfrm>
        </p:grpSpPr>
        <p:grpSp>
          <p:nvGrpSpPr>
            <p:cNvPr id="19" name="Text12"/>
            <p:cNvGrpSpPr/>
            <p:nvPr/>
          </p:nvGrpSpPr>
          <p:grpSpPr>
            <a:xfrm>
              <a:off x="2766" y="2454"/>
              <a:ext cx="2386" cy="2387"/>
              <a:chOff x="2017184" y="1561151"/>
              <a:chExt cx="2219535" cy="2220015"/>
            </a:xfrm>
            <a:effectLst>
              <a:outerShdw blurRad="495300" dist="241300" dir="5400000" sx="95000" sy="95000" algn="t" rotWithShape="0">
                <a:schemeClr val="accent1">
                  <a:lumMod val="75000"/>
                  <a:alpha val="40000"/>
                </a:schemeClr>
              </a:outerShdw>
            </a:effectLst>
          </p:grpSpPr>
          <p:sp>
            <p:nvSpPr>
              <p:cNvPr id="20" name="椭圆 19"/>
              <p:cNvSpPr/>
              <p:nvPr/>
            </p:nvSpPr>
            <p:spPr>
              <a:xfrm>
                <a:off x="2128666" y="1691640"/>
                <a:ext cx="2108053" cy="2089526"/>
              </a:xfrm>
              <a:prstGeom prst="ellipse">
                <a:avLst/>
              </a:prstGeom>
              <a:gradFill>
                <a:gsLst>
                  <a:gs pos="25000">
                    <a:schemeClr val="accent1">
                      <a:lumMod val="50000"/>
                      <a:alpha val="46000"/>
                    </a:schemeClr>
                  </a:gs>
                  <a:gs pos="100000">
                    <a:schemeClr val="accent1">
                      <a:lumMod val="75000"/>
                      <a:alpha val="0"/>
                    </a:schemeClr>
                  </a:gs>
                </a:gsLst>
                <a:lin ang="2700000" scaled="1"/>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1" name="任意多边形: 形状 20"/>
              <p:cNvSpPr/>
              <p:nvPr/>
            </p:nvSpPr>
            <p:spPr>
              <a:xfrm>
                <a:off x="2047194" y="1591140"/>
                <a:ext cx="2163261" cy="2164219"/>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1">
                  <a:alpha val="80000"/>
                </a:schemeClr>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2" name="任意多边形: 形状 21"/>
              <p:cNvSpPr/>
              <p:nvPr/>
            </p:nvSpPr>
            <p:spPr>
              <a:xfrm>
                <a:off x="2017184" y="1561151"/>
                <a:ext cx="2188461" cy="2189420"/>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solidFill>
                <a:schemeClr val="accent1"/>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3" name="任意多边形: 形状 22"/>
              <p:cNvSpPr/>
              <p:nvPr/>
            </p:nvSpPr>
            <p:spPr>
              <a:xfrm>
                <a:off x="3311695" y="2856616"/>
                <a:ext cx="829854" cy="83022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cxn ang="0">
                    <a:pos x="connsiteX0" y="connsiteY0"/>
                  </a:cxn>
                  <a:cxn ang="0">
                    <a:pos x="connsiteX1" y="connsiteY1"/>
                  </a:cxn>
                  <a:cxn ang="0">
                    <a:pos x="connsiteX2" y="connsiteY2"/>
                  </a:cxn>
                  <a:cxn ang="0">
                    <a:pos x="connsiteX3" y="connsiteY3"/>
                  </a:cxn>
                </a:cxnLst>
                <a:rect l="l" t="t" r="r" b="b"/>
                <a:pathLst>
                  <a:path w="829853"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47000">
                    <a:schemeClr val="accent1"/>
                  </a:gs>
                  <a:gs pos="32000">
                    <a:schemeClr val="accent1">
                      <a:lumMod val="40000"/>
                      <a:lumOff val="60000"/>
                    </a:schemeClr>
                  </a:gs>
                  <a:gs pos="63000">
                    <a:schemeClr val="accent1">
                      <a:lumMod val="40000"/>
                      <a:lumOff val="60000"/>
                    </a:schemeClr>
                  </a:gs>
                </a:gsLst>
                <a:lin ang="2700000" scaled="1"/>
              </a:gra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grpSp>
        <p:pic>
          <p:nvPicPr>
            <p:cNvPr id="9" name="图片 8" descr="准确率分析"/>
            <p:cNvPicPr>
              <a:picLocks noChangeAspect="1"/>
            </p:cNvPicPr>
            <p:nvPr/>
          </p:nvPicPr>
          <p:blipFill>
            <a:blip r:embed="rId12"/>
            <a:stretch>
              <a:fillRect/>
            </a:stretch>
          </p:blipFill>
          <p:spPr>
            <a:xfrm>
              <a:off x="3174" y="2862"/>
              <a:ext cx="1571" cy="1571"/>
            </a:xfrm>
            <a:prstGeom prst="rect">
              <a:avLst/>
            </a:prstGeom>
          </p:spPr>
        </p:pic>
      </p:grpSp>
      <p:grpSp>
        <p:nvGrpSpPr>
          <p:cNvPr id="32" name="组合 31"/>
          <p:cNvGrpSpPr/>
          <p:nvPr/>
        </p:nvGrpSpPr>
        <p:grpSpPr>
          <a:xfrm>
            <a:off x="5355590" y="1558290"/>
            <a:ext cx="1515110" cy="1515110"/>
            <a:chOff x="8434" y="2454"/>
            <a:chExt cx="2386" cy="2386"/>
          </a:xfrm>
        </p:grpSpPr>
        <p:grpSp>
          <p:nvGrpSpPr>
            <p:cNvPr id="33" name="Text7"/>
            <p:cNvGrpSpPr/>
            <p:nvPr/>
          </p:nvGrpSpPr>
          <p:grpSpPr>
            <a:xfrm>
              <a:off x="8434" y="2454"/>
              <a:ext cx="2386" cy="2387"/>
              <a:chOff x="2017184" y="1561151"/>
              <a:chExt cx="2219534" cy="2220014"/>
            </a:xfrm>
            <a:effectLst>
              <a:outerShdw blurRad="495300" dist="241300" dir="5400000" sx="95000" sy="95000" algn="t" rotWithShape="0">
                <a:schemeClr val="accent1">
                  <a:lumMod val="75000"/>
                  <a:alpha val="40000"/>
                </a:schemeClr>
              </a:outerShdw>
            </a:effectLst>
          </p:grpSpPr>
          <p:sp>
            <p:nvSpPr>
              <p:cNvPr id="34" name="椭圆 33"/>
              <p:cNvSpPr/>
              <p:nvPr/>
            </p:nvSpPr>
            <p:spPr>
              <a:xfrm>
                <a:off x="2128666" y="1691640"/>
                <a:ext cx="2108052" cy="2089525"/>
              </a:xfrm>
              <a:prstGeom prst="ellipse">
                <a:avLst/>
              </a:prstGeom>
              <a:gradFill>
                <a:gsLst>
                  <a:gs pos="25000">
                    <a:schemeClr val="accent1">
                      <a:lumMod val="50000"/>
                      <a:alpha val="46000"/>
                    </a:schemeClr>
                  </a:gs>
                  <a:gs pos="100000">
                    <a:schemeClr val="accent1">
                      <a:lumMod val="75000"/>
                      <a:alpha val="0"/>
                    </a:schemeClr>
                  </a:gs>
                </a:gsLst>
                <a:lin ang="2700000" scaled="1"/>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5" name="任意多边形: 形状 34"/>
              <p:cNvSpPr/>
              <p:nvPr/>
            </p:nvSpPr>
            <p:spPr>
              <a:xfrm>
                <a:off x="2047194" y="1591140"/>
                <a:ext cx="2163261" cy="2164219"/>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1">
                  <a:alpha val="80000"/>
                </a:schemeClr>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36" name="任意多边形: 形状 35"/>
              <p:cNvSpPr/>
              <p:nvPr/>
            </p:nvSpPr>
            <p:spPr>
              <a:xfrm>
                <a:off x="2017184" y="1561151"/>
                <a:ext cx="2188461" cy="2189420"/>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solidFill>
                <a:schemeClr val="accent1"/>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37" name="任意多边形: 形状 36"/>
              <p:cNvSpPr/>
              <p:nvPr/>
            </p:nvSpPr>
            <p:spPr>
              <a:xfrm>
                <a:off x="3311695" y="2856616"/>
                <a:ext cx="829854" cy="83022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cxn ang="0">
                    <a:pos x="connsiteX0" y="connsiteY0"/>
                  </a:cxn>
                  <a:cxn ang="0">
                    <a:pos x="connsiteX1" y="connsiteY1"/>
                  </a:cxn>
                  <a:cxn ang="0">
                    <a:pos x="connsiteX2" y="connsiteY2"/>
                  </a:cxn>
                  <a:cxn ang="0">
                    <a:pos x="connsiteX3" y="connsiteY3"/>
                  </a:cxn>
                </a:cxnLst>
                <a:rect l="l" t="t" r="r" b="b"/>
                <a:pathLst>
                  <a:path w="829853"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47000">
                    <a:schemeClr val="accent1"/>
                  </a:gs>
                  <a:gs pos="32000">
                    <a:schemeClr val="accent1">
                      <a:lumMod val="40000"/>
                      <a:lumOff val="60000"/>
                    </a:schemeClr>
                  </a:gs>
                  <a:gs pos="63000">
                    <a:schemeClr val="accent1">
                      <a:lumMod val="40000"/>
                      <a:lumOff val="60000"/>
                    </a:schemeClr>
                  </a:gs>
                </a:gsLst>
                <a:lin ang="2700000" scaled="1"/>
              </a:gra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grpSp>
        <p:pic>
          <p:nvPicPr>
            <p:cNvPr id="18" name="图片 17" descr="E:/刘宇鹏/大学/学习/比赛/挑战杯/降低成本.png降低成本"/>
            <p:cNvPicPr>
              <a:picLocks noChangeAspect="1"/>
            </p:cNvPicPr>
            <p:nvPr/>
          </p:nvPicPr>
          <p:blipFill>
            <a:blip r:embed="rId13"/>
            <a:srcRect/>
            <a:stretch>
              <a:fillRect/>
            </a:stretch>
          </p:blipFill>
          <p:spPr>
            <a:xfrm>
              <a:off x="8982" y="2956"/>
              <a:ext cx="1292" cy="1292"/>
            </a:xfrm>
            <a:prstGeom prst="rect">
              <a:avLst/>
            </a:prstGeom>
          </p:spPr>
        </p:pic>
      </p:grpSp>
      <p:grpSp>
        <p:nvGrpSpPr>
          <p:cNvPr id="38" name="组合 37"/>
          <p:cNvGrpSpPr/>
          <p:nvPr/>
        </p:nvGrpSpPr>
        <p:grpSpPr>
          <a:xfrm>
            <a:off x="8874760" y="1558290"/>
            <a:ext cx="1515110" cy="1515110"/>
            <a:chOff x="13976" y="2454"/>
            <a:chExt cx="2386" cy="2386"/>
          </a:xfrm>
        </p:grpSpPr>
        <p:grpSp>
          <p:nvGrpSpPr>
            <p:cNvPr id="13" name="Text11"/>
            <p:cNvGrpSpPr/>
            <p:nvPr/>
          </p:nvGrpSpPr>
          <p:grpSpPr>
            <a:xfrm>
              <a:off x="13976" y="2454"/>
              <a:ext cx="2386" cy="2387"/>
              <a:chOff x="2017184" y="1561151"/>
              <a:chExt cx="2219535" cy="2220015"/>
            </a:xfrm>
            <a:effectLst>
              <a:outerShdw blurRad="495300" dist="241300" dir="5400000" sx="95000" sy="95000" algn="t" rotWithShape="0">
                <a:schemeClr val="accent1">
                  <a:lumMod val="75000"/>
                  <a:alpha val="40000"/>
                </a:schemeClr>
              </a:outerShdw>
            </a:effectLst>
          </p:grpSpPr>
          <p:sp>
            <p:nvSpPr>
              <p:cNvPr id="14" name="椭圆 13"/>
              <p:cNvSpPr/>
              <p:nvPr/>
            </p:nvSpPr>
            <p:spPr>
              <a:xfrm>
                <a:off x="2128666" y="1691640"/>
                <a:ext cx="2108053" cy="2089526"/>
              </a:xfrm>
              <a:prstGeom prst="ellipse">
                <a:avLst/>
              </a:prstGeom>
              <a:gradFill>
                <a:gsLst>
                  <a:gs pos="25000">
                    <a:schemeClr val="accent1">
                      <a:lumMod val="50000"/>
                      <a:alpha val="46000"/>
                    </a:schemeClr>
                  </a:gs>
                  <a:gs pos="100000">
                    <a:schemeClr val="accent1">
                      <a:lumMod val="75000"/>
                      <a:alpha val="0"/>
                    </a:schemeClr>
                  </a:gs>
                </a:gsLst>
                <a:lin ang="2700000" scaled="1"/>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5" name="任意多边形: 形状 14"/>
              <p:cNvSpPr/>
              <p:nvPr/>
            </p:nvSpPr>
            <p:spPr>
              <a:xfrm>
                <a:off x="2047194" y="1591140"/>
                <a:ext cx="2163261" cy="2164219"/>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1">
                  <a:alpha val="80000"/>
                </a:schemeClr>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任意多边形: 形状 15"/>
              <p:cNvSpPr/>
              <p:nvPr/>
            </p:nvSpPr>
            <p:spPr>
              <a:xfrm>
                <a:off x="2017184" y="1561151"/>
                <a:ext cx="2188461" cy="2189420"/>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solidFill>
                <a:schemeClr val="accent1"/>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7" name="任意多边形: 形状 16"/>
              <p:cNvSpPr/>
              <p:nvPr/>
            </p:nvSpPr>
            <p:spPr>
              <a:xfrm>
                <a:off x="3311695" y="2856616"/>
                <a:ext cx="829854" cy="83022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cxn ang="0">
                    <a:pos x="connsiteX0" y="connsiteY0"/>
                  </a:cxn>
                  <a:cxn ang="0">
                    <a:pos x="connsiteX1" y="connsiteY1"/>
                  </a:cxn>
                  <a:cxn ang="0">
                    <a:pos x="connsiteX2" y="connsiteY2"/>
                  </a:cxn>
                  <a:cxn ang="0">
                    <a:pos x="connsiteX3" y="connsiteY3"/>
                  </a:cxn>
                </a:cxnLst>
                <a:rect l="l" t="t" r="r" b="b"/>
                <a:pathLst>
                  <a:path w="829853"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47000">
                    <a:schemeClr val="accent1"/>
                  </a:gs>
                  <a:gs pos="32000">
                    <a:schemeClr val="accent1">
                      <a:lumMod val="40000"/>
                      <a:lumOff val="60000"/>
                    </a:schemeClr>
                  </a:gs>
                  <a:gs pos="63000">
                    <a:schemeClr val="accent1">
                      <a:lumMod val="40000"/>
                      <a:lumOff val="60000"/>
                    </a:schemeClr>
                  </a:gs>
                </a:gsLst>
                <a:lin ang="2700000" scaled="1"/>
              </a:gra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grpSp>
        <p:pic>
          <p:nvPicPr>
            <p:cNvPr id="24" name="图片 23" descr="E:/刘宇鹏/大学/学习/比赛/挑战杯/可持续发展性.png可持续发展性"/>
            <p:cNvPicPr>
              <a:picLocks noChangeAspect="1"/>
            </p:cNvPicPr>
            <p:nvPr/>
          </p:nvPicPr>
          <p:blipFill>
            <a:blip r:embed="rId14"/>
            <a:srcRect/>
            <a:stretch>
              <a:fillRect/>
            </a:stretch>
          </p:blipFill>
          <p:spPr>
            <a:xfrm>
              <a:off x="14384" y="2816"/>
              <a:ext cx="1571" cy="1571"/>
            </a:xfrm>
            <a:prstGeom prst="rect">
              <a:avLst/>
            </a:prstGeom>
          </p:spPr>
        </p:pic>
      </p:gr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childTnLst>
                                </p:cTn>
                              </p:par>
                              <p:par>
                                <p:cTn id="15" presetID="2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22" presetClass="entr" presetSubtype="4"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down)">
                                      <p:cBhvr>
                                        <p:cTn id="2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Shape1"/>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rectangle"/>
          <p:cNvSpPr/>
          <p:nvPr>
            <p:custDataLst>
              <p:tags r:id="rId2"/>
            </p:custDataLst>
          </p:nvPr>
        </p:nvSpPr>
        <p:spPr>
          <a:xfrm>
            <a:off x="0" y="0"/>
            <a:ext cx="418655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 name="Text1"/>
          <p:cNvSpPr txBox="1"/>
          <p:nvPr>
            <p:custDataLst>
              <p:tags r:id="rId3"/>
            </p:custDataLst>
          </p:nvPr>
        </p:nvSpPr>
        <p:spPr>
          <a:xfrm>
            <a:off x="6024245" y="620395"/>
            <a:ext cx="5603875" cy="862965"/>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市场优势</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3" name="Text2"/>
          <p:cNvSpPr txBox="1"/>
          <p:nvPr>
            <p:custDataLst>
              <p:tags r:id="rId4"/>
            </p:custDataLst>
          </p:nvPr>
        </p:nvSpPr>
        <p:spPr>
          <a:xfrm>
            <a:off x="5695950" y="1680210"/>
            <a:ext cx="6068060" cy="4575810"/>
          </a:xfrm>
          <a:prstGeom prst="rect">
            <a:avLst/>
          </a:prstGeom>
          <a:noFill/>
          <a:ln>
            <a:noFill/>
          </a:ln>
        </p:spPr>
        <p:txBody>
          <a:bodyPr spcFirstLastPara="1" wrap="square" lIns="60950" tIns="30466" rIns="60950" bIns="30466"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农业是一个重要的产业，随着人们对食品安全和农产品质量的关注增加，病虫害识别系统在市场上具有较大的潜力。</a:t>
            </a:r>
            <a:endParaRPr lang="en-US" altLang="zh-CN" b="1" dirty="0">
              <a:solidFill>
                <a:schemeClr val="accent2"/>
              </a:solidFill>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en-US" altLang="zh-CN"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农民和农业企业愿意投资于病虫害防治，以提高农产品的质量和市场竞争力，为打开市场具有良好潜力。并且因为病虫害对农作物的产量和质量有着重要影响，所以病虫害识别系统的研发能够满足农民和农业管理者对于病虫害防治的需求，提供科学、高效的解决方案。</a:t>
            </a:r>
            <a:endParaRPr kumimoji="0" lang="en-US" altLang="zh-CN"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同时研发一款病虫害识别系统可以与其他农业科技企业、农业机构和农民的合作机会。通过合作，可以共同推动病虫害防治技术的发展，拓展市场份额。</a:t>
            </a: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前期提供的服务大部分是试用或者低价的，能够为我们快速铺开市场，吸引用户量，为后期的盈利模式打下基础</a:t>
            </a: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t>
            </a:r>
          </a:p>
        </p:txBody>
      </p:sp>
      <p:graphicFrame>
        <p:nvGraphicFramePr>
          <p:cNvPr id="6" name="图表 5"/>
          <p:cNvGraphicFramePr/>
          <p:nvPr/>
        </p:nvGraphicFramePr>
        <p:xfrm>
          <a:off x="262890" y="1557020"/>
          <a:ext cx="5300345" cy="4105275"/>
        </p:xfrm>
        <a:graphic>
          <a:graphicData uri="http://schemas.openxmlformats.org/drawingml/2006/chart">
            <c:chart xmlns:c="http://schemas.openxmlformats.org/drawingml/2006/chart" xmlns:r="http://schemas.openxmlformats.org/officeDocument/2006/relationships" r:id="rId8"/>
          </a:graphicData>
        </a:graphic>
      </p:graphicFrame>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7" presetClass="entr" presetSubtype="2" fill="hold" grpId="0" nodeType="withEffect">
                                  <p:stCondLst>
                                    <p:cond delay="0"/>
                                  </p:stCondLst>
                                  <p:childTnLst>
                                    <p:set>
                                      <p:cBhvr>
                                        <p:cTn id="9" dur="2000" fill="hold">
                                          <p:stCondLst>
                                            <p:cond delay="0"/>
                                          </p:stCondLst>
                                        </p:cTn>
                                        <p:tgtEl>
                                          <p:spTgt spid="3">
                                            <p:txEl>
                                              <p:pRg st="0" end="0"/>
                                            </p:txEl>
                                          </p:spTgt>
                                        </p:tgtEl>
                                        <p:attrNameLst>
                                          <p:attrName>style.visibility</p:attrName>
                                        </p:attrNameLst>
                                      </p:cBhvr>
                                      <p:to>
                                        <p:strVal val="visible"/>
                                      </p:to>
                                    </p:set>
                                    <p:anim calcmode="lin" valueType="num">
                                      <p:cBhvr additive="base">
                                        <p:cTn id="10" dur="20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1" dur="2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7" presetClass="entr" presetSubtype="2" fill="hold" grpId="0" nodeType="afterEffect">
                                  <p:stCondLst>
                                    <p:cond delay="0"/>
                                  </p:stCondLst>
                                  <p:childTnLst>
                                    <p:set>
                                      <p:cBhvr>
                                        <p:cTn id="14" dur="2000" fill="hold">
                                          <p:stCondLst>
                                            <p:cond delay="0"/>
                                          </p:stCondLst>
                                        </p:cTn>
                                        <p:tgtEl>
                                          <p:spTgt spid="3">
                                            <p:txEl>
                                              <p:pRg st="1" end="1"/>
                                            </p:txEl>
                                          </p:spTgt>
                                        </p:tgtEl>
                                        <p:attrNameLst>
                                          <p:attrName>style.visibility</p:attrName>
                                        </p:attrNameLst>
                                      </p:cBhvr>
                                      <p:to>
                                        <p:strVal val="visible"/>
                                      </p:to>
                                    </p:set>
                                    <p:anim calcmode="lin" valueType="num">
                                      <p:cBhvr additive="base">
                                        <p:cTn id="15" dur="20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6" dur="2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7" presetClass="entr" presetSubtype="2" fill="hold" grpId="0" nodeType="afterEffect">
                                  <p:stCondLst>
                                    <p:cond delay="0"/>
                                  </p:stCondLst>
                                  <p:childTnLst>
                                    <p:set>
                                      <p:cBhvr>
                                        <p:cTn id="19" dur="2000" fill="hold">
                                          <p:stCondLst>
                                            <p:cond delay="0"/>
                                          </p:stCondLst>
                                        </p:cTn>
                                        <p:tgtEl>
                                          <p:spTgt spid="3">
                                            <p:txEl>
                                              <p:pRg st="2" end="2"/>
                                            </p:txEl>
                                          </p:spTgt>
                                        </p:tgtEl>
                                        <p:attrNameLst>
                                          <p:attrName>style.visibility</p:attrName>
                                        </p:attrNameLst>
                                      </p:cBhvr>
                                      <p:to>
                                        <p:strVal val="visible"/>
                                      </p:to>
                                    </p:set>
                                    <p:anim calcmode="lin" valueType="num">
                                      <p:cBhvr additive="base">
                                        <p:cTn id="20" dur="20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1" dur="2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22" fill="hold">
                            <p:stCondLst>
                              <p:cond delay="4500"/>
                            </p:stCondLst>
                            <p:childTnLst>
                              <p:par>
                                <p:cTn id="23" presetID="7" presetClass="entr" presetSubtype="2" fill="hold" grpId="0" nodeType="afterEffect">
                                  <p:stCondLst>
                                    <p:cond delay="0"/>
                                  </p:stCondLst>
                                  <p:childTnLst>
                                    <p:set>
                                      <p:cBhvr>
                                        <p:cTn id="24" dur="2000" fill="hold">
                                          <p:stCondLst>
                                            <p:cond delay="0"/>
                                          </p:stCondLst>
                                        </p:cTn>
                                        <p:tgtEl>
                                          <p:spTgt spid="3">
                                            <p:txEl>
                                              <p:pRg st="3" end="3"/>
                                            </p:txEl>
                                          </p:spTgt>
                                        </p:tgtEl>
                                        <p:attrNameLst>
                                          <p:attrName>style.visibility</p:attrName>
                                        </p:attrNameLst>
                                      </p:cBhvr>
                                      <p:to>
                                        <p:strVal val="visible"/>
                                      </p:to>
                                    </p:set>
                                    <p:anim calcmode="lin" valueType="num">
                                      <p:cBhvr additive="base">
                                        <p:cTn id="25" dur="20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2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17"/>
          <p:cNvSpPr txBox="1"/>
          <p:nvPr>
            <p:custDataLst>
              <p:tags r:id="rId2"/>
            </p:custDataLst>
          </p:nvPr>
        </p:nvSpPr>
        <p:spPr>
          <a:xfrm>
            <a:off x="347808" y="305152"/>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zh-CN" altLang="en-US"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技术优势</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grpSp>
        <p:nvGrpSpPr>
          <p:cNvPr id="3" name="组合 2"/>
          <p:cNvGrpSpPr/>
          <p:nvPr/>
        </p:nvGrpSpPr>
        <p:grpSpPr>
          <a:xfrm>
            <a:off x="1113155" y="1485900"/>
            <a:ext cx="4582160" cy="3637280"/>
            <a:chOff x="1753" y="2340"/>
            <a:chExt cx="7216" cy="5728"/>
          </a:xfrm>
        </p:grpSpPr>
        <p:sp>
          <p:nvSpPr>
            <p:cNvPr id="66" name="Text2"/>
            <p:cNvSpPr/>
            <p:nvPr>
              <p:custDataLst>
                <p:tags r:id="rId7"/>
              </p:custDataLst>
            </p:nvPr>
          </p:nvSpPr>
          <p:spPr>
            <a:xfrm>
              <a:off x="2341" y="2738"/>
              <a:ext cx="6629" cy="5331"/>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76" name="Text3"/>
            <p:cNvSpPr txBox="1"/>
            <p:nvPr>
              <p:custDataLst>
                <p:tags r:id="rId8"/>
              </p:custDataLst>
            </p:nvPr>
          </p:nvSpPr>
          <p:spPr>
            <a:xfrm>
              <a:off x="2827" y="3991"/>
              <a:ext cx="5822" cy="379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dirty="0">
                  <a:solidFill>
                    <a:schemeClr val="bg2"/>
                  </a:solidFill>
                  <a:latin typeface="微软雅黑" panose="020B0503020204020204" pitchFamily="34" charset="-122"/>
                  <a:ea typeface="微软雅黑" panose="020B0503020204020204" pitchFamily="34" charset="-122"/>
                </a:rPr>
                <a:t>ESP32-CAM </a:t>
              </a:r>
              <a:r>
                <a:rPr lang="zh-CN" altLang="en-US" sz="1400" dirty="0">
                  <a:solidFill>
                    <a:schemeClr val="bg2"/>
                  </a:solidFill>
                  <a:latin typeface="微软雅黑" panose="020B0503020204020204" pitchFamily="34" charset="-122"/>
                  <a:ea typeface="微软雅黑" panose="020B0503020204020204" pitchFamily="34" charset="-122"/>
                </a:rPr>
                <a:t>是安信可科技发布小尺寸的摄像头模组。该模块可以作为最小系统独立工作，尺寸仅为 </a:t>
              </a:r>
              <a:r>
                <a:rPr lang="en-US" altLang="zh-CN" sz="1400" dirty="0">
                  <a:solidFill>
                    <a:schemeClr val="bg2"/>
                  </a:solidFill>
                  <a:latin typeface="微软雅黑" panose="020B0503020204020204" pitchFamily="34" charset="-122"/>
                  <a:ea typeface="微软雅黑" panose="020B0503020204020204" pitchFamily="34" charset="-122"/>
                </a:rPr>
                <a:t>27x40.5x4.5 mm</a:t>
              </a:r>
              <a:r>
                <a:rPr lang="zh-CN" altLang="en-US" sz="1400" dirty="0">
                  <a:solidFill>
                    <a:schemeClr val="bg2"/>
                  </a:solidFill>
                  <a:latin typeface="微软雅黑" panose="020B0503020204020204" pitchFamily="34" charset="-122"/>
                  <a:ea typeface="微软雅黑" panose="020B0503020204020204" pitchFamily="34" charset="-122"/>
                </a:rPr>
                <a:t>，可广泛应用于各种物联网场合，适用于家庭智能设备、工业无线控制、无线监控、</a:t>
              </a:r>
              <a:r>
                <a:rPr lang="en-US" altLang="zh-CN" sz="1400" dirty="0">
                  <a:solidFill>
                    <a:schemeClr val="bg2"/>
                  </a:solidFill>
                  <a:latin typeface="微软雅黑" panose="020B0503020204020204" pitchFamily="34" charset="-122"/>
                  <a:ea typeface="微软雅黑" panose="020B0503020204020204" pitchFamily="34" charset="-122"/>
                </a:rPr>
                <a:t>QR</a:t>
              </a:r>
              <a:r>
                <a:rPr lang="zh-CN" altLang="en-US" sz="1400" dirty="0">
                  <a:solidFill>
                    <a:schemeClr val="bg2"/>
                  </a:solidFill>
                  <a:latin typeface="微软雅黑" panose="020B0503020204020204" pitchFamily="34" charset="-122"/>
                  <a:ea typeface="微软雅黑" panose="020B0503020204020204" pitchFamily="34" charset="-122"/>
                </a:rPr>
                <a:t>无线识别，无线定位系统信号以及其它物联网应用本项目使用</a:t>
              </a:r>
              <a:r>
                <a:rPr lang="en-US" altLang="zh-CN" sz="1400" dirty="0">
                  <a:solidFill>
                    <a:schemeClr val="bg2"/>
                  </a:solidFill>
                  <a:latin typeface="微软雅黑" panose="020B0503020204020204" pitchFamily="34" charset="-122"/>
                  <a:ea typeface="微软雅黑" panose="020B0503020204020204" pitchFamily="34" charset="-122"/>
                </a:rPr>
                <a:t>ESP32-CAM</a:t>
              </a:r>
              <a:r>
                <a:rPr lang="zh-CN" altLang="en-US" sz="1400" dirty="0">
                  <a:solidFill>
                    <a:schemeClr val="bg2"/>
                  </a:solidFill>
                  <a:latin typeface="微软雅黑" panose="020B0503020204020204" pitchFamily="34" charset="-122"/>
                  <a:ea typeface="微软雅黑" panose="020B0503020204020204" pitchFamily="34" charset="-122"/>
                </a:rPr>
                <a:t>可以在减少功耗的同时完成项目所需的功能，达到了低功耗的效果</a:t>
              </a:r>
              <a:r>
                <a:rPr lang="en-US" altLang="zh-CN" sz="1400" dirty="0">
                  <a:solidFill>
                    <a:schemeClr val="bg2"/>
                  </a:solidFill>
                  <a:latin typeface="微软雅黑" panose="020B0503020204020204" pitchFamily="34" charset="-122"/>
                  <a:ea typeface="微软雅黑" panose="020B0503020204020204" pitchFamily="34" charset="-122"/>
                </a:rPr>
                <a:t>。</a:t>
              </a:r>
            </a:p>
          </p:txBody>
        </p:sp>
        <p:sp>
          <p:nvSpPr>
            <p:cNvPr id="18" name="文本框 17"/>
            <p:cNvSpPr txBox="1"/>
            <p:nvPr>
              <p:custDataLst>
                <p:tags r:id="rId9"/>
              </p:custDataLst>
            </p:nvPr>
          </p:nvSpPr>
          <p:spPr>
            <a:xfrm>
              <a:off x="2814" y="3241"/>
              <a:ext cx="4763" cy="580"/>
            </a:xfrm>
            <a:prstGeom prst="rect">
              <a:avLst/>
            </a:prstGeom>
            <a:noFill/>
          </p:spPr>
          <p:txBody>
            <a:bodyPr wrap="square" rtlCol="0">
              <a:spAutoFit/>
            </a:bodyPr>
            <a:lstStyle/>
            <a:p>
              <a:r>
                <a:rPr lang="en-US" altLang="zh-CN" sz="1800" dirty="0">
                  <a:solidFill>
                    <a:schemeClr val="accent3">
                      <a:lumMod val="75000"/>
                    </a:schemeClr>
                  </a:solidFill>
                  <a:latin typeface="微软雅黑" panose="020B0503020204020204" pitchFamily="34" charset="-122"/>
                  <a:ea typeface="微软雅黑" panose="020B0503020204020204" pitchFamily="34" charset="-122"/>
                </a:rPr>
                <a:t>ESP32-CAM</a:t>
              </a: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摄像头模组</a:t>
              </a:r>
              <a:endParaRPr lang="zh-CN" altLang="en-US" dirty="0">
                <a:solidFill>
                  <a:schemeClr val="accent3">
                    <a:lumMod val="75000"/>
                  </a:schemeClr>
                </a:solidFill>
              </a:endParaRPr>
            </a:p>
          </p:txBody>
        </p:sp>
        <p:sp>
          <p:nvSpPr>
            <p:cNvPr id="5" name="Text1"/>
            <p:cNvSpPr/>
            <p:nvPr>
              <p:custDataLst>
                <p:tags r:id="rId10"/>
              </p:custDataLst>
            </p:nvPr>
          </p:nvSpPr>
          <p:spPr>
            <a:xfrm>
              <a:off x="1753" y="234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dirty="0">
                  <a:latin typeface="微软雅黑" panose="020B0503020204020204" pitchFamily="34" charset="-122"/>
                  <a:ea typeface="微软雅黑" panose="020B0503020204020204" pitchFamily="34" charset="-122"/>
                </a:rPr>
                <a:t>01</a:t>
              </a:r>
              <a:endParaRPr lang="zh-CN" altLang="en-US" sz="2400" b="1"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6518910" y="1917065"/>
            <a:ext cx="4584065" cy="3766185"/>
            <a:chOff x="10266" y="3019"/>
            <a:chExt cx="7219" cy="5931"/>
          </a:xfrm>
        </p:grpSpPr>
        <p:sp>
          <p:nvSpPr>
            <p:cNvPr id="72" name="Text6"/>
            <p:cNvSpPr/>
            <p:nvPr>
              <p:custDataLst>
                <p:tags r:id="rId3"/>
              </p:custDataLst>
            </p:nvPr>
          </p:nvSpPr>
          <p:spPr>
            <a:xfrm>
              <a:off x="10899" y="3019"/>
              <a:ext cx="6586" cy="5303"/>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7" name="Text7"/>
            <p:cNvSpPr txBox="1"/>
            <p:nvPr>
              <p:custDataLst>
                <p:tags r:id="rId4"/>
              </p:custDataLst>
            </p:nvPr>
          </p:nvSpPr>
          <p:spPr>
            <a:xfrm>
              <a:off x="11466" y="3445"/>
              <a:ext cx="3975" cy="628"/>
            </a:xfrm>
            <a:prstGeom prst="rect">
              <a:avLst/>
            </a:prstGeom>
            <a:noFill/>
          </p:spPr>
          <p:txBody>
            <a:bodyPr wrap="square" rtlCol="0">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2000" b="1">
                  <a:solidFill>
                    <a:schemeClr val="accent3"/>
                  </a:solidFill>
                  <a:latin typeface="微软雅黑" panose="020B0503020204020204" pitchFamily="34" charset="-122"/>
                  <a:ea typeface="微软雅黑" panose="020B0503020204020204" pitchFamily="34" charset="-122"/>
                </a:rPr>
                <a:t>AleXNet</a:t>
              </a:r>
              <a:r>
                <a:rPr lang="zh-CN" altLang="en-US" sz="2000" b="1">
                  <a:solidFill>
                    <a:schemeClr val="accent3"/>
                  </a:solidFill>
                  <a:latin typeface="微软雅黑" panose="020B0503020204020204" pitchFamily="34" charset="-122"/>
                  <a:ea typeface="微软雅黑" panose="020B0503020204020204" pitchFamily="34" charset="-122"/>
                </a:rPr>
                <a:t>模型</a:t>
              </a:r>
              <a:endParaRPr lang="zh-CN" altLang="en-US" sz="2000" b="1" dirty="0">
                <a:solidFill>
                  <a:schemeClr val="accent3"/>
                </a:solidFill>
                <a:latin typeface="微软雅黑" panose="020B0503020204020204" pitchFamily="34" charset="-122"/>
                <a:ea typeface="微软雅黑" panose="020B0503020204020204" pitchFamily="34" charset="-122"/>
              </a:endParaRPr>
            </a:p>
          </p:txBody>
        </p:sp>
        <p:sp>
          <p:nvSpPr>
            <p:cNvPr id="86" name="Text8"/>
            <p:cNvSpPr txBox="1"/>
            <p:nvPr>
              <p:custDataLst>
                <p:tags r:id="rId5"/>
              </p:custDataLst>
            </p:nvPr>
          </p:nvSpPr>
          <p:spPr>
            <a:xfrm>
              <a:off x="11429" y="4139"/>
              <a:ext cx="5659" cy="372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zh-CN" altLang="en-US" sz="1400" dirty="0">
                  <a:solidFill>
                    <a:schemeClr val="bg2"/>
                  </a:solidFill>
                  <a:latin typeface="微软雅黑" panose="020B0503020204020204" pitchFamily="34" charset="-122"/>
                  <a:ea typeface="微软雅黑" panose="020B0503020204020204" pitchFamily="34" charset="-122"/>
                </a:rPr>
                <a:t>对于病虫害的识别是利用善于处理矩阵以及数学运算的</a:t>
              </a:r>
              <a:r>
                <a:rPr lang="en-US" altLang="zh-CN" sz="1400" dirty="0" err="1">
                  <a:solidFill>
                    <a:schemeClr val="bg2"/>
                  </a:solidFill>
                  <a:latin typeface="微软雅黑" panose="020B0503020204020204" pitchFamily="34" charset="-122"/>
                  <a:ea typeface="微软雅黑" panose="020B0503020204020204" pitchFamily="34" charset="-122"/>
                </a:rPr>
                <a:t>matlab</a:t>
              </a:r>
              <a:r>
                <a:rPr lang="zh-CN" altLang="en-US" sz="1400" dirty="0">
                  <a:solidFill>
                    <a:schemeClr val="bg2"/>
                  </a:solidFill>
                  <a:latin typeface="微软雅黑" panose="020B0503020204020204" pitchFamily="34" charset="-122"/>
                  <a:ea typeface="微软雅黑" panose="020B0503020204020204" pitchFamily="34" charset="-122"/>
                </a:rPr>
                <a:t>，根据已有的</a:t>
              </a:r>
              <a:r>
                <a:rPr lang="en-US" altLang="zh-CN" sz="1400" dirty="0" err="1">
                  <a:solidFill>
                    <a:schemeClr val="bg2"/>
                  </a:solidFill>
                  <a:latin typeface="微软雅黑" panose="020B0503020204020204" pitchFamily="34" charset="-122"/>
                  <a:ea typeface="微软雅黑" panose="020B0503020204020204" pitchFamily="34" charset="-122"/>
                </a:rPr>
                <a:t>AleXNet</a:t>
              </a:r>
              <a:r>
                <a:rPr lang="zh-CN" altLang="en-US" sz="1400" dirty="0">
                  <a:solidFill>
                    <a:schemeClr val="bg2"/>
                  </a:solidFill>
                  <a:latin typeface="微软雅黑" panose="020B0503020204020204" pitchFamily="34" charset="-122"/>
                  <a:ea typeface="微软雅黑" panose="020B0503020204020204" pitchFamily="34" charset="-122"/>
                </a:rPr>
                <a:t>模型进行改进，并利用大量的数据集进行训练，得到本项目用于病虫害识别的最终模型，对于测试使用的环境培养箱，不仅内置温湿度检测模块，更能够主动操纵内部温湿度，可以加热和降温，以及加湿度等，可以完整的模拟农场的真实情况。</a:t>
              </a:r>
              <a:endParaRPr lang="en-US" altLang="zh-CN" sz="1400" dirty="0">
                <a:solidFill>
                  <a:schemeClr val="bg2"/>
                </a:solidFill>
                <a:latin typeface="微软雅黑" panose="020B0503020204020204" pitchFamily="34" charset="-122"/>
                <a:ea typeface="微软雅黑" panose="020B0503020204020204" pitchFamily="34" charset="-122"/>
              </a:endParaRPr>
            </a:p>
          </p:txBody>
        </p:sp>
        <p:sp>
          <p:nvSpPr>
            <p:cNvPr id="40" name="Text5"/>
            <p:cNvSpPr/>
            <p:nvPr>
              <p:custDataLst>
                <p:tags r:id="rId6"/>
              </p:custDataLst>
            </p:nvPr>
          </p:nvSpPr>
          <p:spPr>
            <a:xfrm>
              <a:off x="10266" y="775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02</a:t>
              </a:r>
              <a:endParaRPr lang="zh-CN" altLang="en-US" sz="2400" b="1">
                <a:latin typeface="微软雅黑" panose="020B0503020204020204" pitchFamily="34" charset="-122"/>
                <a:ea typeface="微软雅黑" panose="020B0503020204020204" pitchFamily="34" charset="-122"/>
              </a:endParaRPr>
            </a:p>
          </p:txBody>
        </p:sp>
      </p:gr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par>
                          <p:cTn id="8" fill="hold">
                            <p:stCondLst>
                              <p:cond delay="2000"/>
                            </p:stCondLst>
                            <p:childTnLst>
                              <p:par>
                                <p:cTn id="9" presetID="2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edge">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4191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6708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dirty="0">
                <a:solidFill>
                  <a:schemeClr val="tx2"/>
                </a:solidFill>
                <a:latin typeface="微软雅黑" panose="020B0503020204020204" pitchFamily="34" charset="-122"/>
                <a:ea typeface="微软雅黑" panose="020B0503020204020204" pitchFamily="34" charset="-122"/>
                <a:cs typeface="字体圈欣意冠黑体" panose="00000500000000000000" charset="-122"/>
                <a:sym typeface="+mn-lt"/>
              </a:rPr>
              <a:t>战略规划</a:t>
            </a:r>
          </a:p>
        </p:txBody>
      </p:sp>
      <p:sp>
        <p:nvSpPr>
          <p:cNvPr id="9" name="Text2"/>
          <p:cNvSpPr txBox="1"/>
          <p:nvPr>
            <p:custDataLst>
              <p:tags r:id="rId4"/>
            </p:custDataLst>
          </p:nvPr>
        </p:nvSpPr>
        <p:spPr>
          <a:xfrm>
            <a:off x="76708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Strategic planning </a:t>
            </a:r>
          </a:p>
        </p:txBody>
      </p:sp>
      <p:sp>
        <p:nvSpPr>
          <p:cNvPr id="3" name="Text3"/>
          <p:cNvSpPr txBox="1"/>
          <p:nvPr>
            <p:custDataLst>
              <p:tags r:id="rId5"/>
            </p:custDataLst>
          </p:nvPr>
        </p:nvSpPr>
        <p:spPr>
          <a:xfrm>
            <a:off x="767272" y="1090148"/>
            <a:ext cx="1722527" cy="1357762"/>
          </a:xfrm>
          <a:prstGeom prst="rect">
            <a:avLst/>
          </a:prstGeom>
          <a:noFill/>
        </p:spPr>
        <p:txBody>
          <a:bodyPr wrap="square" rtlCol="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a:t>
            </a:r>
            <a:r>
              <a:rPr lang="en-US" altLang="zh-CN" sz="8800" b="1" dirty="0">
                <a:solidFill>
                  <a:schemeClr val="tx2"/>
                </a:solidFill>
                <a:latin typeface="微软雅黑" panose="020B0503020204020204" pitchFamily="34" charset="-122"/>
                <a:ea typeface="微软雅黑" panose="020B0503020204020204" pitchFamily="34" charset="-122"/>
              </a:rPr>
              <a:t>6</a:t>
            </a:r>
          </a:p>
        </p:txBody>
      </p:sp>
      <p:grpSp>
        <p:nvGrpSpPr>
          <p:cNvPr id="10" name="组合 1"/>
          <p:cNvGrpSpPr/>
          <p:nvPr/>
        </p:nvGrpSpPr>
        <p:grpSpPr>
          <a:xfrm rot="16200000">
            <a:off x="139325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4730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6910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9922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Shape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1"/>
          <p:cNvSpPr/>
          <p:nvPr/>
        </p:nvSpPr>
        <p:spPr>
          <a:xfrm rot="10800000" flipH="1" flipV="1">
            <a:off x="-96520" y="0"/>
            <a:ext cx="1248664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aphicFrame>
        <p:nvGraphicFramePr>
          <p:cNvPr id="4" name="图表 3"/>
          <p:cNvGraphicFramePr/>
          <p:nvPr/>
        </p:nvGraphicFramePr>
        <p:xfrm>
          <a:off x="2495550" y="1628775"/>
          <a:ext cx="7198995" cy="400494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框 6"/>
          <p:cNvSpPr txBox="1"/>
          <p:nvPr/>
        </p:nvSpPr>
        <p:spPr>
          <a:xfrm>
            <a:off x="4063683" y="476885"/>
            <a:ext cx="4064000" cy="681990"/>
          </a:xfrm>
          <a:prstGeom prst="rect">
            <a:avLst/>
          </a:prstGeom>
          <a:noFill/>
        </p:spPr>
        <p:txBody>
          <a:bodyPr wrap="square" rtlCol="0">
            <a:spAutoFit/>
          </a:bodyPr>
          <a:lstStyle/>
          <a:p>
            <a:pPr algn="ctr">
              <a:lnSpc>
                <a:spcPct val="120000"/>
              </a:lnSpc>
              <a:buClrTx/>
              <a:buSzTx/>
              <a:buFontTx/>
              <a:defRPr/>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3-5年预计收入图</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barn(inVertical)">
                                      <p:cBhvr>
                                        <p:cTn id="7" dur="500"/>
                                        <p:tgtEl>
                                          <p:spTgt spid="4">
                                            <p:graphicEl>
                                              <a:chart seriesIdx="-3" categoryIdx="-3" bldStep="gridLegend"/>
                                            </p:graphic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barn(outVertical)">
                                      <p:cBhvr>
                                        <p:cTn id="11" dur="500"/>
                                        <p:tgtEl>
                                          <p:spTgt spid="4">
                                            <p:graphicEl>
                                              <a:chart seriesIdx="-4" categoryIdx="0" bldStep="category"/>
                                            </p:graphicEl>
                                          </p:spTgt>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barn(outVertical)">
                                      <p:cBhvr>
                                        <p:cTn id="15" dur="500"/>
                                        <p:tgtEl>
                                          <p:spTgt spid="4">
                                            <p:graphicEl>
                                              <a:chart seriesIdx="-4" categoryIdx="1" bldStep="category"/>
                                            </p:graphicEl>
                                          </p:spTgt>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barn(outVertical)">
                                      <p:cBhvr>
                                        <p:cTn id="19" dur="500"/>
                                        <p:tgtEl>
                                          <p:spTgt spid="4">
                                            <p:graphicEl>
                                              <a:chart seriesIdx="-4" categoryIdx="2" bldStep="category"/>
                                            </p:graphicEl>
                                          </p:spTgt>
                                        </p:tgtEl>
                                      </p:cBhvr>
                                    </p:animEffect>
                                  </p:childTnLst>
                                </p:cTn>
                              </p:par>
                            </p:childTnLst>
                          </p:cTn>
                        </p:par>
                        <p:par>
                          <p:cTn id="20" fill="hold">
                            <p:stCondLst>
                              <p:cond delay="2000"/>
                            </p:stCondLst>
                            <p:childTnLst>
                              <p:par>
                                <p:cTn id="21" presetID="16" presetClass="entr" presetSubtype="37" fill="hold" grpId="0" nodeType="afterEffect">
                                  <p:stCondLst>
                                    <p:cond delay="0"/>
                                  </p:stCondLst>
                                  <p:childTnLst>
                                    <p:set>
                                      <p:cBhvr>
                                        <p:cTn id="22"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barn(outVertical)">
                                      <p:cBhvr>
                                        <p:cTn id="23" dur="500"/>
                                        <p:tgtEl>
                                          <p:spTgt spid="4">
                                            <p:graphicEl>
                                              <a:chart seriesIdx="-4" categoryIdx="3" bldStep="category"/>
                                            </p:graphicEl>
                                          </p:spTgt>
                                        </p:tgtEl>
                                      </p:cBhvr>
                                    </p:animEffect>
                                  </p:childTnLst>
                                </p:cTn>
                              </p:par>
                            </p:childTnLst>
                          </p:cTn>
                        </p:par>
                        <p:par>
                          <p:cTn id="24" fill="hold">
                            <p:stCondLst>
                              <p:cond delay="2500"/>
                            </p:stCondLst>
                            <p:childTnLst>
                              <p:par>
                                <p:cTn id="25" presetID="16" presetClass="entr" presetSubtype="37" fill="hold" grpId="0" nodeType="afterEffect">
                                  <p:stCondLst>
                                    <p:cond delay="0"/>
                                  </p:stCondLst>
                                  <p:childTnLst>
                                    <p:set>
                                      <p:cBhvr>
                                        <p:cTn id="26"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barn(outVertical)">
                                      <p:cBhvr>
                                        <p:cTn id="27" dur="500"/>
                                        <p:tgtEl>
                                          <p:spTgt spid="4">
                                            <p:graphicEl>
                                              <a:chart seriesIdx="-4" categoryIdx="4" bldStep="category"/>
                                            </p:graphicEl>
                                          </p:spTgt>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barn(outVertical)">
                                      <p:cBhvr>
                                        <p:cTn id="31" dur="500"/>
                                        <p:tgtEl>
                                          <p:spTgt spid="4">
                                            <p:graphicEl>
                                              <a:chart seriesIdx="-4" categoryIdx="5" bldStep="category"/>
                                            </p:graphicEl>
                                          </p:spTgt>
                                        </p:tgtEl>
                                      </p:cBhvr>
                                    </p:animEffect>
                                  </p:childTnLst>
                                </p:cTn>
                              </p:par>
                            </p:childTnLst>
                          </p:cTn>
                        </p:par>
                        <p:par>
                          <p:cTn id="32" fill="hold">
                            <p:stCondLst>
                              <p:cond delay="3500"/>
                            </p:stCondLst>
                            <p:childTnLst>
                              <p:par>
                                <p:cTn id="33" presetID="16" presetClass="entr" presetSubtype="37" fill="hold" grpId="0" nodeType="afterEffect">
                                  <p:stCondLst>
                                    <p:cond delay="0"/>
                                  </p:stCondLst>
                                  <p:childTnLst>
                                    <p:set>
                                      <p:cBhvr>
                                        <p:cTn id="34"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barn(outVertical)">
                                      <p:cBhvr>
                                        <p:cTn id="35" dur="500"/>
                                        <p:tgtEl>
                                          <p:spTgt spid="4">
                                            <p:graphicEl>
                                              <a:chart seriesIdx="-4" categoryIdx="6"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category"/>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Shape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1"/>
          <p:cNvSpPr/>
          <p:nvPr/>
        </p:nvSpPr>
        <p:spPr>
          <a:xfrm rot="10800000" flipH="1" flipV="1">
            <a:off x="-96520" y="-27305"/>
            <a:ext cx="12486640" cy="707771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aphicFrame>
        <p:nvGraphicFramePr>
          <p:cNvPr id="5" name="图表 4"/>
          <p:cNvGraphicFramePr/>
          <p:nvPr/>
        </p:nvGraphicFramePr>
        <p:xfrm>
          <a:off x="911225" y="1955165"/>
          <a:ext cx="4718050" cy="2947670"/>
        </p:xfrm>
        <a:graphic>
          <a:graphicData uri="http://schemas.openxmlformats.org/drawingml/2006/chart">
            <c:chart xmlns:c="http://schemas.openxmlformats.org/drawingml/2006/chart" xmlns:r="http://schemas.openxmlformats.org/officeDocument/2006/relationships" r:id="rId3"/>
          </a:graphicData>
        </a:graphic>
      </p:graphicFrame>
      <p:sp>
        <p:nvSpPr>
          <p:cNvPr id="2" name="文本框 1"/>
          <p:cNvSpPr txBox="1"/>
          <p:nvPr/>
        </p:nvSpPr>
        <p:spPr>
          <a:xfrm>
            <a:off x="1238250" y="620395"/>
            <a:ext cx="4064000" cy="681990"/>
          </a:xfrm>
          <a:prstGeom prst="rect">
            <a:avLst/>
          </a:prstGeom>
          <a:noFill/>
        </p:spPr>
        <p:txBody>
          <a:bodyPr wrap="square" rtlCol="0">
            <a:spAutoFit/>
          </a:bodyPr>
          <a:lstStyle/>
          <a:p>
            <a:pPr algn="ctr">
              <a:lnSpc>
                <a:spcPct val="120000"/>
              </a:lnSpc>
              <a:buClrTx/>
              <a:buSzTx/>
              <a:buFontTx/>
              <a:defRPr/>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财务支出图</a:t>
            </a:r>
          </a:p>
        </p:txBody>
      </p:sp>
      <p:sp>
        <p:nvSpPr>
          <p:cNvPr id="3" name="文本框 2"/>
          <p:cNvSpPr txBox="1"/>
          <p:nvPr/>
        </p:nvSpPr>
        <p:spPr>
          <a:xfrm>
            <a:off x="6766560" y="548640"/>
            <a:ext cx="4064000" cy="681990"/>
          </a:xfrm>
          <a:prstGeom prst="rect">
            <a:avLst/>
          </a:prstGeom>
          <a:noFill/>
        </p:spPr>
        <p:txBody>
          <a:bodyPr wrap="square" rtlCol="0">
            <a:spAutoFit/>
          </a:bodyPr>
          <a:lstStyle/>
          <a:p>
            <a:pPr algn="ctr">
              <a:lnSpc>
                <a:spcPct val="120000"/>
              </a:lnSpc>
              <a:buClrTx/>
              <a:buSzTx/>
              <a:buFontTx/>
              <a:defRPr/>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财务预报图</a:t>
            </a:r>
          </a:p>
        </p:txBody>
      </p:sp>
      <p:graphicFrame>
        <p:nvGraphicFramePr>
          <p:cNvPr id="4" name="图表 3" descr="7b0a202020202263686172745265734964223a20223230343732323030220a7d0a"/>
          <p:cNvGraphicFramePr/>
          <p:nvPr/>
        </p:nvGraphicFramePr>
        <p:xfrm>
          <a:off x="6600190" y="1844675"/>
          <a:ext cx="4849495" cy="323977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grpId="0" nodeType="afterEffect">
                                  <p:stCondLst>
                                    <p:cond delay="0"/>
                                  </p:stCondLst>
                                  <p:childTnLst>
                                    <p:set>
                                      <p:cBhvr>
                                        <p:cTn id="9"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10" dur="500"/>
                                        <p:tgtEl>
                                          <p:spTgt spid="5">
                                            <p:graphicEl>
                                              <a:chart seriesIdx="-3" categoryIdx="-3" bldStep="gridLegend"/>
                                            </p:graphicEl>
                                          </p:spTgt>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5">
                                            <p:graphicEl>
                                              <a:chart seriesIdx="0" categoryIdx="0" bldStep="ptInSeries"/>
                                            </p:graphicEl>
                                          </p:spTgt>
                                        </p:tgtEl>
                                        <p:attrNameLst>
                                          <p:attrName>style.visibility</p:attrName>
                                        </p:attrNameLst>
                                      </p:cBhvr>
                                      <p:to>
                                        <p:strVal val="visible"/>
                                      </p:to>
                                    </p:set>
                                    <p:animEffect transition="in" filter="wipe(down)">
                                      <p:cBhvr>
                                        <p:cTn id="14" dur="500"/>
                                        <p:tgtEl>
                                          <p:spTgt spid="5">
                                            <p:graphicEl>
                                              <a:chart seriesIdx="0" categoryIdx="0" bldStep="ptInSeries"/>
                                            </p:graphicEl>
                                          </p:spTgt>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5">
                                            <p:graphicEl>
                                              <a:chart seriesIdx="0" categoryIdx="1" bldStep="ptInSeries"/>
                                            </p:graphicEl>
                                          </p:spTgt>
                                        </p:tgtEl>
                                        <p:attrNameLst>
                                          <p:attrName>style.visibility</p:attrName>
                                        </p:attrNameLst>
                                      </p:cBhvr>
                                      <p:to>
                                        <p:strVal val="visible"/>
                                      </p:to>
                                    </p:set>
                                    <p:animEffect transition="in" filter="wipe(down)">
                                      <p:cBhvr>
                                        <p:cTn id="18" dur="500"/>
                                        <p:tgtEl>
                                          <p:spTgt spid="5">
                                            <p:graphicEl>
                                              <a:chart seriesIdx="0" categoryIdx="1" bldStep="ptInSeries"/>
                                            </p:graphicEl>
                                          </p:spTgt>
                                        </p:tgtEl>
                                      </p:cBhvr>
                                    </p:animEffect>
                                  </p:childTnLst>
                                </p:cTn>
                              </p:par>
                            </p:childTnLst>
                          </p:cTn>
                        </p:par>
                        <p:par>
                          <p:cTn id="19" fill="hold">
                            <p:stCondLst>
                              <p:cond delay="1500"/>
                            </p:stCondLst>
                            <p:childTnLst>
                              <p:par>
                                <p:cTn id="20" presetID="22" presetClass="entr" presetSubtype="4" fill="hold" grpId="0" nodeType="afterEffect">
                                  <p:stCondLst>
                                    <p:cond delay="0"/>
                                  </p:stCondLst>
                                  <p:childTnLst>
                                    <p:set>
                                      <p:cBhvr>
                                        <p:cTn id="21" dur="1" fill="hold">
                                          <p:stCondLst>
                                            <p:cond delay="0"/>
                                          </p:stCondLst>
                                        </p:cTn>
                                        <p:tgtEl>
                                          <p:spTgt spid="5">
                                            <p:graphicEl>
                                              <a:chart seriesIdx="0" categoryIdx="2" bldStep="ptInSeries"/>
                                            </p:graphicEl>
                                          </p:spTgt>
                                        </p:tgtEl>
                                        <p:attrNameLst>
                                          <p:attrName>style.visibility</p:attrName>
                                        </p:attrNameLst>
                                      </p:cBhvr>
                                      <p:to>
                                        <p:strVal val="visible"/>
                                      </p:to>
                                    </p:set>
                                    <p:animEffect transition="in" filter="wipe(down)">
                                      <p:cBhvr>
                                        <p:cTn id="22" dur="500"/>
                                        <p:tgtEl>
                                          <p:spTgt spid="5">
                                            <p:graphicEl>
                                              <a:chart seriesIdx="0" categoryIdx="2" bldStep="ptInSeries"/>
                                            </p:graphicEl>
                                          </p:spTgt>
                                        </p:tgtEl>
                                      </p:cBhvr>
                                    </p:animEffect>
                                  </p:childTnLst>
                                </p:cTn>
                              </p:par>
                            </p:childTnLst>
                          </p:cTn>
                        </p:par>
                        <p:par>
                          <p:cTn id="23" fill="hold">
                            <p:stCondLst>
                              <p:cond delay="2000"/>
                            </p:stCondLst>
                            <p:childTnLst>
                              <p:par>
                                <p:cTn id="24" presetID="22" presetClass="entr" presetSubtype="4" fill="hold" grpId="0" nodeType="afterEffect">
                                  <p:stCondLst>
                                    <p:cond delay="0"/>
                                  </p:stCondLst>
                                  <p:childTnLst>
                                    <p:set>
                                      <p:cBhvr>
                                        <p:cTn id="25" dur="1" fill="hold">
                                          <p:stCondLst>
                                            <p:cond delay="0"/>
                                          </p:stCondLst>
                                        </p:cTn>
                                        <p:tgtEl>
                                          <p:spTgt spid="5">
                                            <p:graphicEl>
                                              <a:chart seriesIdx="0" categoryIdx="3" bldStep="ptInSeries"/>
                                            </p:graphicEl>
                                          </p:spTgt>
                                        </p:tgtEl>
                                        <p:attrNameLst>
                                          <p:attrName>style.visibility</p:attrName>
                                        </p:attrNameLst>
                                      </p:cBhvr>
                                      <p:to>
                                        <p:strVal val="visible"/>
                                      </p:to>
                                    </p:set>
                                    <p:animEffect transition="in" filter="wipe(down)">
                                      <p:cBhvr>
                                        <p:cTn id="26" dur="500"/>
                                        <p:tgtEl>
                                          <p:spTgt spid="5">
                                            <p:graphicEl>
                                              <a:chart seriesIdx="0" categoryIdx="3" bldStep="ptInSeries"/>
                                            </p:graphicEl>
                                          </p:spTgt>
                                        </p:tgtEl>
                                      </p:cBhvr>
                                    </p:animEffect>
                                  </p:childTnLst>
                                </p:cTn>
                              </p:par>
                            </p:childTnLst>
                          </p:cTn>
                        </p:par>
                        <p:par>
                          <p:cTn id="27" fill="hold">
                            <p:stCondLst>
                              <p:cond delay="2500"/>
                            </p:stCondLst>
                            <p:childTnLst>
                              <p:par>
                                <p:cTn id="28" presetID="22" presetClass="entr" presetSubtype="4" fill="hold" grpId="0" nodeType="afterEffect">
                                  <p:stCondLst>
                                    <p:cond delay="0"/>
                                  </p:stCondLst>
                                  <p:childTnLst>
                                    <p:set>
                                      <p:cBhvr>
                                        <p:cTn id="29" dur="1" fill="hold">
                                          <p:stCondLst>
                                            <p:cond delay="0"/>
                                          </p:stCondLst>
                                        </p:cTn>
                                        <p:tgtEl>
                                          <p:spTgt spid="5">
                                            <p:graphicEl>
                                              <a:chart seriesIdx="0" categoryIdx="4" bldStep="ptInSeries"/>
                                            </p:graphicEl>
                                          </p:spTgt>
                                        </p:tgtEl>
                                        <p:attrNameLst>
                                          <p:attrName>style.visibility</p:attrName>
                                        </p:attrNameLst>
                                      </p:cBhvr>
                                      <p:to>
                                        <p:strVal val="visible"/>
                                      </p:to>
                                    </p:set>
                                    <p:animEffect transition="in" filter="wipe(down)">
                                      <p:cBhvr>
                                        <p:cTn id="30" dur="500"/>
                                        <p:tgtEl>
                                          <p:spTgt spid="5">
                                            <p:graphicEl>
                                              <a:chart seriesIdx="0" categoryIdx="4" bldStep="ptInSeries"/>
                                            </p:graphicEl>
                                          </p:spTgt>
                                        </p:tgtEl>
                                      </p:cBhvr>
                                    </p:animEffect>
                                  </p:childTnLst>
                                </p:cTn>
                              </p:par>
                            </p:childTnLst>
                          </p:cTn>
                        </p:par>
                        <p:par>
                          <p:cTn id="31" fill="hold">
                            <p:stCondLst>
                              <p:cond delay="3000"/>
                            </p:stCondLst>
                            <p:childTnLst>
                              <p:par>
                                <p:cTn id="32" presetID="22" presetClass="entr" presetSubtype="4" fill="hold" grpId="0" nodeType="afterEffect">
                                  <p:stCondLst>
                                    <p:cond delay="0"/>
                                  </p:stCondLst>
                                  <p:childTnLst>
                                    <p:set>
                                      <p:cBhvr>
                                        <p:cTn id="33" dur="1" fill="hold">
                                          <p:stCondLst>
                                            <p:cond delay="0"/>
                                          </p:stCondLst>
                                        </p:cTn>
                                        <p:tgtEl>
                                          <p:spTgt spid="5">
                                            <p:graphicEl>
                                              <a:chart seriesIdx="0" categoryIdx="5" bldStep="ptInSeries"/>
                                            </p:graphicEl>
                                          </p:spTgt>
                                        </p:tgtEl>
                                        <p:attrNameLst>
                                          <p:attrName>style.visibility</p:attrName>
                                        </p:attrNameLst>
                                      </p:cBhvr>
                                      <p:to>
                                        <p:strVal val="visible"/>
                                      </p:to>
                                    </p:set>
                                    <p:animEffect transition="in" filter="wipe(down)">
                                      <p:cBhvr>
                                        <p:cTn id="34" dur="500"/>
                                        <p:tgtEl>
                                          <p:spTgt spid="5">
                                            <p:graphicEl>
                                              <a:chart seriesIdx="0" categoryIdx="5" bldStep="ptInSeries"/>
                                            </p:graphicEl>
                                          </p:spTgt>
                                        </p:tgtEl>
                                      </p:cBhvr>
                                    </p:animEffect>
                                  </p:childTnLst>
                                </p:cTn>
                              </p:par>
                            </p:childTnLst>
                          </p:cTn>
                        </p:par>
                        <p:par>
                          <p:cTn id="35" fill="hold">
                            <p:stCondLst>
                              <p:cond delay="3500"/>
                            </p:stCondLst>
                            <p:childTnLst>
                              <p:par>
                                <p:cTn id="36" presetID="22" presetClass="entr" presetSubtype="4" fill="hold" grpId="0" nodeType="afterEffect">
                                  <p:stCondLst>
                                    <p:cond delay="0"/>
                                  </p:stCondLst>
                                  <p:childTnLst>
                                    <p:set>
                                      <p:cBhvr>
                                        <p:cTn id="37" dur="1" fill="hold">
                                          <p:stCondLst>
                                            <p:cond delay="0"/>
                                          </p:stCondLst>
                                        </p:cTn>
                                        <p:tgtEl>
                                          <p:spTgt spid="5">
                                            <p:graphicEl>
                                              <a:chart seriesIdx="0" categoryIdx="6" bldStep="ptInSeries"/>
                                            </p:graphicEl>
                                          </p:spTgt>
                                        </p:tgtEl>
                                        <p:attrNameLst>
                                          <p:attrName>style.visibility</p:attrName>
                                        </p:attrNameLst>
                                      </p:cBhvr>
                                      <p:to>
                                        <p:strVal val="visible"/>
                                      </p:to>
                                    </p:set>
                                    <p:animEffect transition="in" filter="wipe(down)">
                                      <p:cBhvr>
                                        <p:cTn id="38" dur="500"/>
                                        <p:tgtEl>
                                          <p:spTgt spid="5">
                                            <p:graphicEl>
                                              <a:chart seriesIdx="0" categoryIdx="6" bldStep="ptInSeries"/>
                                            </p:graphicEl>
                                          </p:spTgt>
                                        </p:tgtEl>
                                      </p:cBhvr>
                                    </p:animEffect>
                                  </p:childTnLst>
                                </p:cTn>
                              </p:par>
                            </p:childTnLst>
                          </p:cTn>
                        </p:par>
                        <p:par>
                          <p:cTn id="39" fill="hold">
                            <p:stCondLst>
                              <p:cond delay="4000"/>
                            </p:stCondLst>
                            <p:childTnLst>
                              <p:par>
                                <p:cTn id="40" presetID="1" presetClass="entr" presetSubtype="0" fill="hold" grpId="0" nodeType="afterEffect">
                                  <p:stCondLst>
                                    <p:cond delay="0"/>
                                  </p:stCondLst>
                                  <p:childTnLst>
                                    <p:set>
                                      <p:cBhvr>
                                        <p:cTn id="41" dur="1" fill="hold">
                                          <p:stCondLst>
                                            <p:cond delay="0"/>
                                          </p:stCondLst>
                                        </p:cTn>
                                        <p:tgtEl>
                                          <p:spTgt spid="3"/>
                                        </p:tgtEl>
                                        <p:attrNameLst>
                                          <p:attrName>style.visibility</p:attrName>
                                        </p:attrNameLst>
                                      </p:cBhvr>
                                      <p:to>
                                        <p:strVal val="visible"/>
                                      </p:to>
                                    </p:se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left)">
                                      <p:cBhvr>
                                        <p:cTn id="45" dur="500"/>
                                        <p:tgtEl>
                                          <p:spTgt spid="4">
                                            <p:graphicEl>
                                              <a:chart seriesIdx="-3" categoryIdx="-3" bldStep="gridLegend"/>
                                            </p:graphicEl>
                                          </p:spTgt>
                                        </p:tgtEl>
                                      </p:cBhvr>
                                    </p:animEffect>
                                  </p:childTnLst>
                                </p:cTn>
                              </p:par>
                            </p:childTnLst>
                          </p:cTn>
                        </p:par>
                        <p:par>
                          <p:cTn id="46" fill="hold">
                            <p:stCondLst>
                              <p:cond delay="4500"/>
                            </p:stCondLst>
                            <p:childTnLst>
                              <p:par>
                                <p:cTn id="47" presetID="22" presetClass="entr" presetSubtype="8" fill="hold" grpId="0" nodeType="afterEffect">
                                  <p:stCondLst>
                                    <p:cond delay="0"/>
                                  </p:stCondLst>
                                  <p:childTnLst>
                                    <p:set>
                                      <p:cBhvr>
                                        <p:cTn id="48"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wipe(left)">
                                      <p:cBhvr>
                                        <p:cTn id="49" dur="500"/>
                                        <p:tgtEl>
                                          <p:spTgt spid="4">
                                            <p:graphicEl>
                                              <a:chart seriesIdx="-4" categoryIdx="0" bldStep="category"/>
                                            </p:graphicEl>
                                          </p:spTgt>
                                        </p:tgtEl>
                                      </p:cBhvr>
                                    </p:animEffect>
                                  </p:childTnLst>
                                </p:cTn>
                              </p:par>
                            </p:childTnLst>
                          </p:cTn>
                        </p:par>
                        <p:par>
                          <p:cTn id="50" fill="hold">
                            <p:stCondLst>
                              <p:cond delay="5000"/>
                            </p:stCondLst>
                            <p:childTnLst>
                              <p:par>
                                <p:cTn id="51" presetID="22" presetClass="entr" presetSubtype="8" fill="hold" grpId="0" nodeType="afterEffect">
                                  <p:stCondLst>
                                    <p:cond delay="0"/>
                                  </p:stCondLst>
                                  <p:childTnLst>
                                    <p:set>
                                      <p:cBhvr>
                                        <p:cTn id="52"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wipe(left)">
                                      <p:cBhvr>
                                        <p:cTn id="53" dur="500"/>
                                        <p:tgtEl>
                                          <p:spTgt spid="4">
                                            <p:graphicEl>
                                              <a:chart seriesIdx="-4" categoryIdx="1" bldStep="category"/>
                                            </p:graphicEl>
                                          </p:spTgt>
                                        </p:tgtEl>
                                      </p:cBhvr>
                                    </p:animEffect>
                                  </p:childTnLst>
                                </p:cTn>
                              </p:par>
                            </p:childTnLst>
                          </p:cTn>
                        </p:par>
                        <p:par>
                          <p:cTn id="54" fill="hold">
                            <p:stCondLst>
                              <p:cond delay="5500"/>
                            </p:stCondLst>
                            <p:childTnLst>
                              <p:par>
                                <p:cTn id="55" presetID="22" presetClass="entr" presetSubtype="8" fill="hold" grpId="0" nodeType="afterEffect">
                                  <p:stCondLst>
                                    <p:cond delay="0"/>
                                  </p:stCondLst>
                                  <p:childTnLst>
                                    <p:set>
                                      <p:cBhvr>
                                        <p:cTn id="56"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wipe(left)">
                                      <p:cBhvr>
                                        <p:cTn id="57" dur="500"/>
                                        <p:tgtEl>
                                          <p:spTgt spid="4">
                                            <p:graphicEl>
                                              <a:chart seriesIdx="-4" categoryIdx="2" bldStep="category"/>
                                            </p:graphicEl>
                                          </p:spTgt>
                                        </p:tgtEl>
                                      </p:cBhvr>
                                    </p:animEffect>
                                  </p:childTnLst>
                                </p:cTn>
                              </p:par>
                            </p:childTnLst>
                          </p:cTn>
                        </p:par>
                        <p:par>
                          <p:cTn id="58" fill="hold">
                            <p:stCondLst>
                              <p:cond delay="6000"/>
                            </p:stCondLst>
                            <p:childTnLst>
                              <p:par>
                                <p:cTn id="59" presetID="22" presetClass="entr" presetSubtype="8" fill="hold" grpId="0" nodeType="afterEffect">
                                  <p:stCondLst>
                                    <p:cond delay="0"/>
                                  </p:stCondLst>
                                  <p:childTnLst>
                                    <p:set>
                                      <p:cBhvr>
                                        <p:cTn id="60"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wipe(left)">
                                      <p:cBhvr>
                                        <p:cTn id="61" dur="500"/>
                                        <p:tgtEl>
                                          <p:spTgt spid="4">
                                            <p:graphicEl>
                                              <a:chart seriesIdx="-4" categoryIdx="3" bldStep="category"/>
                                            </p:graphicEl>
                                          </p:spTgt>
                                        </p:tgtEl>
                                      </p:cBhvr>
                                    </p:animEffect>
                                  </p:childTnLst>
                                </p:cTn>
                              </p:par>
                            </p:childTnLst>
                          </p:cTn>
                        </p:par>
                        <p:par>
                          <p:cTn id="62" fill="hold">
                            <p:stCondLst>
                              <p:cond delay="6500"/>
                            </p:stCondLst>
                            <p:childTnLst>
                              <p:par>
                                <p:cTn id="63" presetID="22" presetClass="entr" presetSubtype="8" fill="hold" grpId="0" nodeType="afterEffect">
                                  <p:stCondLst>
                                    <p:cond delay="0"/>
                                  </p:stCondLst>
                                  <p:childTnLst>
                                    <p:set>
                                      <p:cBhvr>
                                        <p:cTn id="64"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wipe(left)">
                                      <p:cBhvr>
                                        <p:cTn id="65" dur="500"/>
                                        <p:tgtEl>
                                          <p:spTgt spid="4">
                                            <p:graphicEl>
                                              <a:chart seriesIdx="-4" categoryIdx="4" bldStep="category"/>
                                            </p:graphicEl>
                                          </p:spTgt>
                                        </p:tgtEl>
                                      </p:cBhvr>
                                    </p:animEffect>
                                  </p:childTnLst>
                                </p:cTn>
                              </p:par>
                            </p:childTnLst>
                          </p:cTn>
                        </p:par>
                        <p:par>
                          <p:cTn id="66" fill="hold">
                            <p:stCondLst>
                              <p:cond delay="7000"/>
                            </p:stCondLst>
                            <p:childTnLst>
                              <p:par>
                                <p:cTn id="67" presetID="22" presetClass="entr" presetSubtype="8" fill="hold" grpId="0" nodeType="afterEffect">
                                  <p:stCondLst>
                                    <p:cond delay="0"/>
                                  </p:stCondLst>
                                  <p:childTnLst>
                                    <p:set>
                                      <p:cBhvr>
                                        <p:cTn id="68"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wipe(left)">
                                      <p:cBhvr>
                                        <p:cTn id="69" dur="500"/>
                                        <p:tgtEl>
                                          <p:spTgt spid="4">
                                            <p:graphicEl>
                                              <a:chart seriesIdx="-4" categoryIdx="5" bldStep="category"/>
                                            </p:graphicEl>
                                          </p:spTgt>
                                        </p:tgtEl>
                                      </p:cBhvr>
                                    </p:animEffect>
                                  </p:childTnLst>
                                </p:cTn>
                              </p:par>
                            </p:childTnLst>
                          </p:cTn>
                        </p:par>
                        <p:par>
                          <p:cTn id="70" fill="hold">
                            <p:stCondLst>
                              <p:cond delay="7500"/>
                            </p:stCondLst>
                            <p:childTnLst>
                              <p:par>
                                <p:cTn id="71" presetID="22" presetClass="entr" presetSubtype="8" fill="hold" grpId="0" nodeType="afterEffect">
                                  <p:stCondLst>
                                    <p:cond delay="0"/>
                                  </p:stCondLst>
                                  <p:childTnLst>
                                    <p:set>
                                      <p:cBhvr>
                                        <p:cTn id="72"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wipe(left)">
                                      <p:cBhvr>
                                        <p:cTn id="73" dur="500"/>
                                        <p:tgtEl>
                                          <p:spTgt spid="4">
                                            <p:graphicEl>
                                              <a:chart seriesIdx="-4" categoryIdx="6"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Chart bld="seriesEl"/>
        </p:bldSub>
      </p:bldGraphic>
      <p:bldP spid="2" grpId="0"/>
      <p:bldP spid="3" grpId="0"/>
      <p:bldGraphic spid="4" grpId="0" uiExpand="1">
        <p:bldSub>
          <a:bldChart bld="category"/>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1"/>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 name="Text1"/>
          <p:cNvSpPr txBox="1"/>
          <p:nvPr>
            <p:custDataLst>
              <p:tags r:id="rId2"/>
            </p:custDataLst>
          </p:nvPr>
        </p:nvSpPr>
        <p:spPr>
          <a:xfrm>
            <a:off x="587341" y="1559898"/>
            <a:ext cx="7051829" cy="2412228"/>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7200" b="1">
                <a:solidFill>
                  <a:schemeClr val="tx2"/>
                </a:solidFill>
                <a:latin typeface="微软雅黑" panose="020B0503020204020204" pitchFamily="34" charset="-122"/>
                <a:ea typeface="微软雅黑" panose="020B0503020204020204" pitchFamily="34" charset="-122"/>
              </a:rPr>
              <a:t>谢谢观看</a:t>
            </a:r>
          </a:p>
        </p:txBody>
      </p:sp>
      <p:sp>
        <p:nvSpPr>
          <p:cNvPr id="3" name="Text2"/>
          <p:cNvSpPr txBox="1"/>
          <p:nvPr>
            <p:custDataLst>
              <p:tags r:id="rId3"/>
            </p:custDataLst>
          </p:nvPr>
        </p:nvSpPr>
        <p:spPr>
          <a:xfrm>
            <a:off x="587341" y="4046221"/>
            <a:ext cx="7051829" cy="1055730"/>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a:solidFill>
                  <a:schemeClr val="tx2"/>
                </a:solidFill>
                <a:latin typeface="微软雅黑" panose="020B0503020204020204" pitchFamily="34" charset="-122"/>
                <a:ea typeface="微软雅黑" panose="020B0503020204020204" pitchFamily="34" charset="-122"/>
              </a:rPr>
              <a:t>Thank You</a:t>
            </a:r>
          </a:p>
        </p:txBody>
      </p:sp>
      <p:sp>
        <p:nvSpPr>
          <p:cNvPr id="4" name="Text4"/>
          <p:cNvSpPr txBox="1"/>
          <p:nvPr>
            <p:custDataLst>
              <p:tags r:id="rId4"/>
            </p:custDataLst>
          </p:nvPr>
        </p:nvSpPr>
        <p:spPr>
          <a:xfrm>
            <a:off x="834068" y="5638519"/>
            <a:ext cx="4179816" cy="455881"/>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1600" dirty="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endParaRPr>
          </a:p>
        </p:txBody>
      </p:sp>
      <p:grpSp>
        <p:nvGrpSpPr>
          <p:cNvPr id="16" name="组合 9"/>
          <p:cNvGrpSpPr/>
          <p:nvPr/>
        </p:nvGrpSpPr>
        <p:grpSpPr>
          <a:xfrm>
            <a:off x="10827194" y="273494"/>
            <a:ext cx="1069740" cy="874586"/>
            <a:chOff x="10827194" y="273494"/>
            <a:chExt cx="1069740" cy="874586"/>
          </a:xfrm>
        </p:grpSpPr>
        <p:cxnSp>
          <p:nvCxnSpPr>
            <p:cNvPr id="18"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7" name="组合 12"/>
          <p:cNvGrpSpPr/>
          <p:nvPr/>
        </p:nvGrpSpPr>
        <p:grpSpPr>
          <a:xfrm rot="10800000">
            <a:off x="357314" y="5598985"/>
            <a:ext cx="1069740" cy="874586"/>
            <a:chOff x="10827194" y="273494"/>
            <a:chExt cx="1069740" cy="874586"/>
          </a:xfrm>
        </p:grpSpPr>
        <p:cxnSp>
          <p:nvCxnSpPr>
            <p:cNvPr id="20"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heel spokes="8"/>
  </p:transition>
</p:sld>
</file>

<file path=ppt/tags/tag1.xml><?xml version="1.0" encoding="utf-8"?>
<p:tagLst xmlns:a="http://schemas.openxmlformats.org/drawingml/2006/main" xmlns:r="http://schemas.openxmlformats.org/officeDocument/2006/relationships" xmlns:p="http://schemas.openxmlformats.org/presentationml/2006/main">
  <p:tag name="AIGCCREATORID" val="AIGC生成内容仅供参考-2024/4/9 13:13:41 -0"/>
  <p:tag name="AS_NET" val="6.0.11"/>
  <p:tag name="AS_OS" val="Microsoft Windows NT 10.0.17763.0"/>
  <p:tag name="AS_RELEASE_DATE" val="2024.01.14"/>
  <p:tag name="AS_TITLE" val="Aspose.Slides for .NET6"/>
  <p:tag name="AS_VERSION" val="24.1"/>
  <p:tag name="TAG_PRESENTATION_STYLE" val="极简"/>
  <p:tag name="TAG_PRESENTATION_TEMPLATE" val="{&quot;title&quot;:&quot;构建智能病虫害识别系统提升农业生产效率&quot;,&quot;style&quot;:&quot;极简&quot;,&quot;template_type&quot;:&quot;插图&quot;,&quot;color&quot;:&quot;蓝色&quot;,&quot;colorList&quot;:[&quot;#FFFFFF&quot;,&quot;#071D38&quot;,&quot;#273649&quot;,&quot;#FFFFFF&quot;,&quot;#3690FF&quot;,&quot;#3BBAEB&quot;,&quot;#396AFC&quot;,&quot;#b2f7ef&quot;,&quot;#48bfe3&quot;,&quot;#F5EBC9&quot;,&quot;#3690FF&quot;,&quot;#3BBAEB&quot;],&quot;background_picture_group&quot;:1,&quot;decorate_id&quot;:&quot;Et7zQNCeyYsX&quot;,&quot;background_section&quot;:&quot;&quot;,&quot;cover_id&quot;:&quot;5bHb2BJWHSKK&quot;,&quot;cover_background_index&quot;:3,&quot;end_id&quot;:&quot;evbsUsAgtydV&quot;,&quot;end_background_index&quot;:4,&quot;catalog_id&quot;:&quot;uhnSEUzwaRw5&quot;,&quot;catalog_background_index&quot;:1,&quot;chapter_id&quot;:&quot;MRvhMghHkJR8&quot;,&quot;chapter_background_index&quot;:2,&quot;content_background_section&quot;:&quot;1&quot;,&quot;content_background_index&quot;:3}"/>
  <p:tag name="YOO_PPT_THEMETITLE" val="构建智能病虫害识别系统提升农业生产效率"/>
  <p:tag name="YOO_PPT_THEMEWORD" val="构建智能病虫害识别系统提升农业生产效率"/>
  <p:tag name="COMMONDATA" val="eyJoZGlkIjoiYmFlNjQ5OWZhNDM5OTJkZDBmY2FkMjAzM2RlODgyYTcifQ=="/>
</p:tagLst>
</file>

<file path=ppt/tags/tag2.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OVER"/>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5.xml><?xml version="1.0" encoding="utf-8"?>
<p:tagLst xmlns:a="http://schemas.openxmlformats.org/drawingml/2006/main" xmlns:r="http://schemas.openxmlformats.org/officeDocument/2006/relationships" xmlns:p="http://schemas.openxmlformats.org/presentationml/2006/main">
  <p:tag name="TAG_CHATSHAPE_SUBTITLE_TYPE" val="TAG_CHATSHAPE_SUBTITLE_ENGLISH"/>
  <p:tag name="YOO_CHATSHAPE_TYPE" val="YOO_CHATSHAPE_SUBTITLE"/>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 name="YOO_CHATSHAPE_TYPE" val="YOO_CHATSHAPE_DATE"/>
</p:tagLst>
</file>

<file path=ppt/tags/tag7.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ATLOG"/>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YOO_CHATSHAPE_ITEM" val="1"/>
  <p:tag name="YOO_CHATSHAPE_TYPE" val="YOO_CHATSHAPE_ITEM"/>
  <p:tag name="KSO_WM_DIAGRAM_VIRTUALLY_FRAME" val="{&quot;height&quot;:291.63047244094486,&quot;left&quot;:53.45216535433072,&quot;top&quot;:192.9310236220472,&quot;width&quot;:868.2314566929133}"/>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YOO_CHATSHAPE_ITEM" val="2"/>
  <p:tag name="YOO_CHATSHAPE_TYPE" val="YOO_CHATSHAPE_ITEM"/>
  <p:tag name="KSO_WM_DIAGRAM_VIRTUALLY_FRAME" val="{&quot;height&quot;:291.63047244094486,&quot;left&quot;:53.45216535433072,&quot;top&quot;:192.9310236220472,&quot;width&quot;:868.2314566929133}"/>
</p:tagLst>
</file>

<file path=ppt/tags/tag16.xml><?xml version="1.0" encoding="utf-8"?>
<p:tagLst xmlns:a="http://schemas.openxmlformats.org/drawingml/2006/main" xmlns:r="http://schemas.openxmlformats.org/officeDocument/2006/relationships" xmlns:p="http://schemas.openxmlformats.org/presentationml/2006/main">
  <p:tag name="YOO_CHATSHAPE_ITEM" val="3"/>
  <p:tag name="YOO_CHATSHAPE_TYPE" val="YOO_CHATSHAPE_ITEM"/>
  <p:tag name="KSO_WM_DIAGRAM_VIRTUALLY_FRAME" val="{&quot;height&quot;:291.63047244094486,&quot;left&quot;:53.45216535433072,&quot;top&quot;:192.9310236220472,&quot;width&quot;:868.2314566929133}"/>
</p:tagLst>
</file>

<file path=ppt/tags/tag17.xml><?xml version="1.0" encoding="utf-8"?>
<p:tagLst xmlns:a="http://schemas.openxmlformats.org/drawingml/2006/main" xmlns:r="http://schemas.openxmlformats.org/officeDocument/2006/relationships" xmlns:p="http://schemas.openxmlformats.org/presentationml/2006/main">
  <p:tag name="YOO_CHATSHAPE_ITEM" val="4"/>
  <p:tag name="YOO_CHATSHAPE_TYPE" val="YOO_CHATSHAPE_ITEM"/>
  <p:tag name="KSO_WM_DIAGRAM_VIRTUALLY_FRAME" val="{&quot;height&quot;:291.63047244094486,&quot;left&quot;:53.45216535433072,&quot;top&quot;:192.9310236220472,&quot;width&quot;:868.2314566929133}"/>
</p:tagLst>
</file>

<file path=ppt/tags/tag18.xml><?xml version="1.0" encoding="utf-8"?>
<p:tagLst xmlns:a="http://schemas.openxmlformats.org/drawingml/2006/main" xmlns:r="http://schemas.openxmlformats.org/officeDocument/2006/relationships" xmlns:p="http://schemas.openxmlformats.org/presentationml/2006/main">
  <p:tag name="YOO_CHATSHAPE_ITEM" val="5"/>
  <p:tag name="YOO_CHATSHAPE_TYPE" val="YOO_CHATSHAPE_ITEM"/>
  <p:tag name="KSO_WM_DIAGRAM_VIRTUALLY_FRAME" val="{&quot;height&quot;:291.63047244094486,&quot;left&quot;:53.45216535433072,&quot;top&quot;:192.9310236220472,&quot;width&quot;:868.231456692913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1.63047244094486,&quot;left&quot;:53.45216535433072,&quot;top&quot;:192.9310236220472,&quot;width&quot;:868.2314566929133}"/>
</p:tagLst>
</file>

<file path=ppt/tags/tag20.xml><?xml version="1.0" encoding="utf-8"?>
<p:tagLst xmlns:a="http://schemas.openxmlformats.org/drawingml/2006/main" xmlns:r="http://schemas.openxmlformats.org/officeDocument/2006/relationships" xmlns:p="http://schemas.openxmlformats.org/presentationml/2006/main">
  <p:tag name="YOO_CHATSHAPE_ITEM" val="4"/>
  <p:tag name="YOO_CHATSHAPE_TYPE" val="YOO_CHATSHAPE_ITEM"/>
  <p:tag name="KSO_WM_DIAGRAM_VIRTUALLY_FRAME" val="{&quot;height&quot;:291.63047244094486,&quot;left&quot;:53.45216535433072,&quot;top&quot;:192.9310236220472,&quot;width&quot;:868.2314566929133}"/>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91.63047244094486,&quot;left&quot;:53.45216535433072,&quot;top&quot;:192.9310236220472,&quot;width&quot;:868.231456692913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91.63047244094486,&quot;left&quot;:53.45216535433072,&quot;top&quot;:192.9310236220472,&quot;width&quot;:868.231456692913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91.63047244094486,&quot;left&quot;:53.45216535433072,&quot;top&quot;:192.9310236220472,&quot;width&quot;:868.2314566929133}"/>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36.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HATPER"/>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 name="TAG_CHATSHAPE_SUBTITLE_TYPE" val="TAG_CHATSHAPE_SUBTITLE_ENGLISH"/>
  <p:tag name="YOO_CHATSHAPE_TYPE" val="YOO_CHATSHAPE_SUBTITLE"/>
</p:tagLst>
</file>

<file path=ppt/tags/tag40.xml><?xml version="1.0" encoding="utf-8"?>
<p:tagLst xmlns:a="http://schemas.openxmlformats.org/drawingml/2006/main" xmlns:r="http://schemas.openxmlformats.org/officeDocument/2006/relationships" xmlns:p="http://schemas.openxmlformats.org/presentationml/2006/main">
  <p:tag name="YOO_CHATPAGE_CHATPER" val="1"/>
  <p:tag name="YOO_CHATSHAPE_TYPE" val="YOO_CHATSHAPE_NUM"/>
</p:tagLst>
</file>

<file path=ppt/tags/tag41.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1图"/>
  <p:tag name="YOO_CHAPTER_ID" val="1"/>
  <p:tag name="YOO_CHATPAGE_TYPE" val="YOO_CHATPAGE_CONTENT"/>
  <p:tag name="YOO_SECTION_ID" val="0"/>
</p:tagLst>
</file>

<file path=ppt/tags/tag42.xml><?xml version="1.0" encoding="utf-8"?>
<p:tagLst xmlns:a="http://schemas.openxmlformats.org/drawingml/2006/main" xmlns:r="http://schemas.openxmlformats.org/officeDocument/2006/relationships" xmlns:p="http://schemas.openxmlformats.org/presentationml/2006/main">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FILL_FORE_SCHEMECOLOR_INDEX" val="6"/>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155,&quot;width&quot;:7155}"/>
  <p:tag name="YOO_CHATSHAPE_TYPE" val="YOO_CHATSHAPE_IMAGE"/>
</p:tagLst>
</file>

<file path=ppt/tags/tag45.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46.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47.xml><?xml version="1.0" encoding="utf-8"?>
<p:tagLst xmlns:a="http://schemas.openxmlformats.org/drawingml/2006/main" xmlns:r="http://schemas.openxmlformats.org/officeDocument/2006/relationships" xmlns:p="http://schemas.openxmlformats.org/presentationml/2006/main">
  <p:tag name="KSO_WM_UNIT_LINE_FILL_TYPE" val="2"/>
  <p:tag name="KSO_WM_UNIT_LINE_FORE_SCHEMECOLOR_INDEX" val="7"/>
  <p:tag name="KSO_WM_UNIT_LINE_FORE_SCHEMECOLOR_INDEX_BRIGHTNESS" val="0"/>
  <p:tag name="KSO_WM_UNIT_TEXT_FILL_FORE_SCHEMECOLOR_INDEX" val="2"/>
  <p:tag name="KSO_WM_UNIT_TEXT_FILL_FORE_SCHEMECOLOR_INDEX_BRIGHTNESS" val="0"/>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5"/>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1图"/>
  <p:tag name="YOO_CHAPTER_ID" val="1"/>
  <p:tag name="YOO_CHATPAGE_TYPE" val="YOO_CHATPAGE_CONTENT"/>
  <p:tag name="YOO_SECTION_ID" val="1"/>
</p:tagLst>
</file>

<file path=ppt/tags/tag50.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51.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二级大纲4"/>
  <p:tag name="YOO_CHAPTER_ID" val="1"/>
  <p:tag name="YOO_CHATPAGE_TYPE" val="YOO_CHATPAGE_MULTCONTENT"/>
  <p:tag name="YOO_SECTION_ID" val="2"/>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59.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62.xml><?xml version="1.0" encoding="utf-8"?>
<p:tagLst xmlns:a="http://schemas.openxmlformats.org/drawingml/2006/main" xmlns:r="http://schemas.openxmlformats.org/officeDocument/2006/relationships" xmlns:p="http://schemas.openxmlformats.org/presentationml/2006/main">
  <p:tag name="TAG_CONTENT_GROUPINDEX" val="4"/>
  <p:tag name="YOO_CHATSHAPE_TYPE" val="YOO_CHATSHAPE_CHILDTITLE"/>
  <p:tag name="KSO_WM_DIAGRAM_VIRTUALLY_FRAME" val="{&quot;height&quot;:350.6,&quot;left&quot;:72.1,&quot;top&quot;:134.9,&quot;width&quot;:820.1}"/>
</p:tagLst>
</file>

<file path=ppt/tags/tag63.xml><?xml version="1.0" encoding="utf-8"?>
<p:tagLst xmlns:a="http://schemas.openxmlformats.org/drawingml/2006/main" xmlns:r="http://schemas.openxmlformats.org/officeDocument/2006/relationships" xmlns:p="http://schemas.openxmlformats.org/presentationml/2006/main">
  <p:tag name="TAG_CONTENT_GROUPINDEX" val="4"/>
  <p:tag name="YOO_CHATSHAPE_TYPE" val="YOO_CHATSHAPE_CHILDCONTENT"/>
  <p:tag name="KSO_WM_DIAGRAM_VIRTUALLY_FRAME" val="{&quot;height&quot;:350.6,&quot;left&quot;:72.1,&quot;top&quot;:134.9,&quot;width&quot;:820.1}"/>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66.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TITLE"/>
  <p:tag name="KSO_WM_DIAGRAM_VIRTUALLY_FRAME" val="{&quot;height&quot;:350.6,&quot;left&quot;:72.1,&quot;top&quot;:134.9,&quot;width&quot;:820.1}"/>
</p:tagLst>
</file>

<file path=ppt/tags/tag67.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CONTENT"/>
  <p:tag name="KSO_WM_DIAGRAM_VIRTUALLY_FRAME" val="{&quot;height&quot;:350.6,&quot;left&quot;:72.1,&quot;top&quot;:134.9,&quot;width&quot;:820.1}"/>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70.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TITLE"/>
  <p:tag name="KSO_WM_DIAGRAM_VIRTUALLY_FRAME" val="{&quot;height&quot;:350.6,&quot;left&quot;:72.1,&quot;top&quot;:134.9,&quot;width&quot;:820.1}"/>
</p:tagLst>
</file>

<file path=ppt/tags/tag71.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CONTENT"/>
  <p:tag name="KSO_WM_DIAGRAM_VIRTUALLY_FRAME" val="{&quot;height&quot;:350.6,&quot;left&quot;:72.1,&quot;top&quot;:134.9,&quot;width&quot;:820.1}"/>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50.6,&quot;left&quot;:72.1,&quot;top&quot;:134.9,&quot;width&quot;:820.1}"/>
</p:tagLst>
</file>

<file path=ppt/tags/tag74.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CONTENT"/>
  <p:tag name="KSO_WM_DIAGRAM_VIRTUALLY_FRAME" val="{&quot;height&quot;:350.6,&quot;left&quot;:72.1,&quot;top&quot;:134.9,&quot;width&quot;:820.1}"/>
</p:tagLst>
</file>

<file path=ppt/tags/tag75.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TITLE"/>
  <p:tag name="KSO_WM_DIAGRAM_VIRTUALLY_FRAME" val="{&quot;height&quot;:350.6,&quot;left&quot;:72.1,&quot;top&quot;:134.9,&quot;width&quot;:820.1}"/>
</p:tagLst>
</file>

<file path=ppt/tags/tag76.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HATPER"/>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 name="TAG_CHATSHAPE_SUBTITLE_TYPE" val="TAG_CHATSHAPE_SUBTITLE_ENGLISH"/>
  <p:tag name="YOO_CHATSHAPE_TYPE" val="YOO_CHATSHAPE_SUBTITLE"/>
</p:tagLst>
</file>

<file path=ppt/tags/tag80.xml><?xml version="1.0" encoding="utf-8"?>
<p:tagLst xmlns:a="http://schemas.openxmlformats.org/drawingml/2006/main" xmlns:r="http://schemas.openxmlformats.org/officeDocument/2006/relationships" xmlns:p="http://schemas.openxmlformats.org/presentationml/2006/main">
  <p:tag name="YOO_CHATPAGE_CHATPER" val="0"/>
  <p:tag name="YOO_CHATSHAPE_TYPE" val="YOO_CHATSHAPE_NUM"/>
</p:tagLst>
</file>

<file path=ppt/tags/tag81.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3图"/>
  <p:tag name="YOO_CHAPTER_ID" val="0"/>
  <p:tag name="YOO_CHATPAGE_TYPE" val="YOO_CHATPAGE_CONTENT"/>
  <p:tag name="YOO_SECTION_ID" val="1"/>
</p:tagLst>
</file>

<file path=ppt/tags/tag82.xml><?xml version="1.0" encoding="utf-8"?>
<p:tagLst xmlns:a="http://schemas.openxmlformats.org/drawingml/2006/main" xmlns:r="http://schemas.openxmlformats.org/officeDocument/2006/relationships" xmlns:p="http://schemas.openxmlformats.org/presentationml/2006/main">
  <p:tag name="KSO_WM_UNIT_LINE_FILL_TYPE" val="2"/>
  <p:tag name="KSO_WM_UNIT_LINE_FORE_SCHEMECOLOR_INDEX" val="5"/>
  <p:tag name="KSO_WM_UNIT_LINE_FORE_SCHEMECOLOR_INDEX_BRIGHTNESS" val="0"/>
  <p:tag name="KSO_WM_UNIT_TEXT_FILL_FORE_SCHEMECOLOR_INDEX" val="2"/>
  <p:tag name="KSO_WM_UNIT_TEXT_FILL_FORE_SCHEMECOLOR_INDEX_BRIGHTNESS" val="0"/>
  <p:tag name="KSO_WM_UNIT_TEXT_FILL_TYPE" val="1"/>
  <p:tag name="YOO_CHATSHAPE_TYPE" val="YOO_CHATSHAPE_IMAGE"/>
</p:tagLst>
</file>

<file path=ppt/tags/tag83.xml><?xml version="1.0" encoding="utf-8"?>
<p:tagLst xmlns:a="http://schemas.openxmlformats.org/drawingml/2006/main" xmlns:r="http://schemas.openxmlformats.org/officeDocument/2006/relationships" xmlns:p="http://schemas.openxmlformats.org/presentationml/2006/main">
  <p:tag name="KSO_WM_UNIT_LINE_FILL_TYPE" val="2"/>
  <p:tag name="KSO_WM_UNIT_LINE_FORE_SCHEMECOLOR_INDEX" val="5"/>
  <p:tag name="KSO_WM_UNIT_LINE_FORE_SCHEMECOLOR_INDEX_BRIGHTNESS" val="0"/>
  <p:tag name="KSO_WM_UNIT_TEXT_FILL_FORE_SCHEMECOLOR_INDEX" val="2"/>
  <p:tag name="KSO_WM_UNIT_TEXT_FILL_FORE_SCHEMECOLOR_INDEX_BRIGHTNESS" val="0"/>
  <p:tag name="KSO_WM_UNIT_TEXT_FILL_TYPE" val="1"/>
  <p:tag name="YOO_CHATSHAPE_TYPE" val="YOO_CHATSHAPE_IMAGE"/>
</p:tagLst>
</file>

<file path=ppt/tags/tag84.xml><?xml version="1.0" encoding="utf-8"?>
<p:tagLst xmlns:a="http://schemas.openxmlformats.org/drawingml/2006/main" xmlns:r="http://schemas.openxmlformats.org/officeDocument/2006/relationships" xmlns:p="http://schemas.openxmlformats.org/presentationml/2006/main">
  <p:tag name="KSO_WM_UNIT_LINE_FILL_TYPE" val="2"/>
  <p:tag name="KSO_WM_UNIT_LINE_FORE_SCHEMECOLOR_INDEX" val="5"/>
  <p:tag name="KSO_WM_UNIT_LINE_FORE_SCHEMECOLOR_INDEX_BRIGHTNESS" val="0"/>
  <p:tag name="KSO_WM_UNIT_TEXT_FILL_FORE_SCHEMECOLOR_INDEX" val="2"/>
  <p:tag name="KSO_WM_UNIT_TEXT_FILL_FORE_SCHEMECOLOR_INDEX_BRIGHTNESS" val="0"/>
  <p:tag name="KSO_WM_UNIT_TEXT_FILL_TYPE" val="1"/>
  <p:tag name="YOO_CHATSHAPE_TYPE" val="YOO_CHATSHAPE_IMAGE"/>
</p:tagLst>
</file>

<file path=ppt/tags/tag85.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86.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87.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二级大纲3"/>
  <p:tag name="YOO_CHAPTER_ID" val="0"/>
  <p:tag name="YOO_CHATPAGE_TYPE" val="YOO_CHATPAGE_MULTCONTENT"/>
  <p:tag name="YOO_SECTION_ID" val="2"/>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77.2,&quot;left&quot;:40.80007874015748,&quot;top&quot;:120.8,&quot;width&quot;:875.9999212598425}"/>
</p:tagLst>
</file>

<file path=ppt/tags/tag89.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IMAGE"/>
  <p:tag name="KSO_WM_DIAGRAM_VIRTUALLY_FRAME" val="{&quot;height&quot;:377.2,&quot;left&quot;:40.80007874015748,&quot;top&quot;:120.8,&quot;width&quot;:875.9999212598425}"/>
</p:tagLst>
</file>

<file path=ppt/tags/tag90.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CONTENT"/>
  <p:tag name="KSO_WM_DIAGRAM_VIRTUALLY_FRAME" val="{&quot;height&quot;:377.2,&quot;left&quot;:40.80007874015748,&quot;top&quot;:120.8,&quot;width&quot;:875.9999212598425}"/>
</p:tagLst>
</file>

<file path=ppt/tags/tag91.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TITLE"/>
  <p:tag name="KSO_WM_DIAGRAM_VIRTUALLY_FRAME" val="{&quot;height&quot;:377.2,&quot;left&quot;:40.80007874015748,&quot;top&quot;:120.8,&quot;width&quot;:875.999921259842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77.2,&quot;left&quot;:40.80007874015748,&quot;top&quot;:120.8,&quot;width&quot;:875.9999212598425}"/>
</p:tagLst>
</file>

<file path=ppt/tags/tag93.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IMAGE"/>
  <p:tag name="KSO_WM_DIAGRAM_VIRTUALLY_FRAME" val="{&quot;height&quot;:377.2,&quot;left&quot;:40.80007874015748,&quot;top&quot;:120.8,&quot;width&quot;:875.9999212598425}"/>
</p:tagLst>
</file>

<file path=ppt/tags/tag94.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CONTENT"/>
  <p:tag name="KSO_WM_DIAGRAM_VIRTUALLY_FRAME" val="{&quot;height&quot;:377.2,&quot;left&quot;:40.80007874015748,&quot;top&quot;:120.8,&quot;width&quot;:875.9999212598425}"/>
</p:tagLst>
</file>

<file path=ppt/tags/tag95.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TITLE"/>
  <p:tag name="KSO_WM_DIAGRAM_VIRTUALLY_FRAME" val="{&quot;height&quot;:377.2,&quot;left&quot;:40.80007874015748,&quot;top&quot;:120.8,&quot;width&quot;:875.999921259842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77.2,&quot;left&quot;:40.80007874015748,&quot;top&quot;:120.8,&quot;width&quot;:875.9999212598425}"/>
</p:tagLst>
</file>

<file path=ppt/tags/tag97.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IMAGE"/>
  <p:tag name="KSO_WM_DIAGRAM_VIRTUALLY_FRAME" val="{&quot;height&quot;:377.2,&quot;left&quot;:40.80007874015748,&quot;top&quot;:120.8,&quot;width&quot;:875.9999212598425}"/>
</p:tagLst>
</file>

<file path=ppt/tags/tag98.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CONTENT"/>
  <p:tag name="KSO_WM_DIAGRAM_VIRTUALLY_FRAME" val="{&quot;height&quot;:377.2,&quot;left&quot;:40.80007874015748,&quot;top&quot;:120.8,&quot;width&quot;:875.9999212598425}"/>
</p:tagLst>
</file>

<file path=ppt/tags/tag99.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TITLE"/>
  <p:tag name="KSO_WM_DIAGRAM_VIRTUALLY_FRAME" val="{&quot;height&quot;:377.2,&quot;left&quot;:40.80007874015748,&quot;top&quot;:120.8,&quot;width&quot;:875.9999212598425}"/>
</p:tagLst>
</file>

<file path=ppt/tags/tag100.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01.xml><?xml version="1.0" encoding="utf-8"?>
<p:tagLst xmlns:a="http://schemas.openxmlformats.org/drawingml/2006/main" xmlns:r="http://schemas.openxmlformats.org/officeDocument/2006/relationships" xmlns:p="http://schemas.openxmlformats.org/presentationml/2006/main">
  <p:tag name="AIGCCREATORID" val="AIGC生成内容仅供参考-2024/4/5 18:37:49 -0"/>
  <p:tag name="TAG_CONTENT_TYPE" val="1标题1内容1图"/>
  <p:tag name="YOO_CHAPTER_ID" val="3"/>
  <p:tag name="YOO_CHATPAGE_TYPE" val="YOO_CHATPAGE_CONTENT"/>
  <p:tag name="YOO_SECTION_ID" val="1"/>
</p:tagLst>
</file>

<file path=ppt/tags/tag102.xml><?xml version="1.0" encoding="utf-8"?>
<p:tagLst xmlns:a="http://schemas.openxmlformats.org/drawingml/2006/main" xmlns:r="http://schemas.openxmlformats.org/officeDocument/2006/relationships" xmlns:p="http://schemas.openxmlformats.org/presentationml/2006/main">
  <p:tag name="KSO_WM_UNIT_FILL_FORE_SCHEMECOLOR_INDEX" val="8"/>
  <p:tag name="KSO_WM_UNIT_FILL_FORE_SCHEMECOLOR_INDEX_BRIGHTNESS" val="-0.05"/>
  <p:tag name="KSO_WM_UNIT_FILL_TYPE" val="1"/>
  <p:tag name="KSO_WM_UNIT_TEXT_FILL_FORE_SCHEMECOLOR_INDEX" val="2"/>
  <p:tag name="KSO_WM_UNIT_TEXT_FILL_FORE_SCHEMECOLOR_INDEX_BRIGHTNESS" val="0"/>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UNIT_TEXT_FILL_FORE_SCHEMECOLOR_INDEX" val="2"/>
  <p:tag name="KSO_WM_UNIT_TEXT_FILL_FORE_SCHEMECOLOR_INDEX_BRIGHTNESS" val="0"/>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5"/>
  <p:tag name="KSO_WM_UNIT_TEXT_FILL_FORE_SCHEMECOLOR_INDEX_BRIGHTNESS" val="0"/>
  <p:tag name="KSO_WM_UNIT_TEXT_FILL_TYPE" val="1"/>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PAGE_CONTENT"/>
</p:tagLst>
</file>

<file path=ppt/tags/tag107.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HATPER"/>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 name="TAG_CHATSHAPE_SUBTITLE_TYPE" val="TAG_CHATSHAPE_SUBTITLE_ENGLISH"/>
  <p:tag name="YOO_CHATSHAPE_TYPE" val="YOO_CHATSHAPE_SUBTITLE"/>
</p:tagLst>
</file>

<file path=ppt/tags/tag111.xml><?xml version="1.0" encoding="utf-8"?>
<p:tagLst xmlns:a="http://schemas.openxmlformats.org/drawingml/2006/main" xmlns:r="http://schemas.openxmlformats.org/officeDocument/2006/relationships" xmlns:p="http://schemas.openxmlformats.org/presentationml/2006/main">
  <p:tag name="YOO_CHATPAGE_CHATPER" val="2"/>
  <p:tag name="YOO_CHATSHAPE_TYPE" val="YOO_CHATSHAPE_NUM"/>
</p:tagLst>
</file>

<file path=ppt/tags/tag112.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1图"/>
  <p:tag name="YOO_CHAPTER_ID" val="2"/>
  <p:tag name="YOO_CHATPAGE_TYPE" val="YOO_CHATPAGE_CONTENT"/>
  <p:tag name="YOO_SECTION_ID" val="0"/>
</p:tagLst>
</file>

<file path=ppt/tags/tag113.xml><?xml version="1.0" encoding="utf-8"?>
<p:tagLst xmlns:a="http://schemas.openxmlformats.org/drawingml/2006/main" xmlns:r="http://schemas.openxmlformats.org/officeDocument/2006/relationships" xmlns:p="http://schemas.openxmlformats.org/presentationml/2006/main">
  <p:tag name="KSO_WM_UNIT_FILL_FORE_SCHEMECOLOR_INDEX" val="6"/>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14.xml><?xml version="1.0" encoding="utf-8"?>
<p:tagLst xmlns:a="http://schemas.openxmlformats.org/drawingml/2006/main" xmlns:r="http://schemas.openxmlformats.org/officeDocument/2006/relationships" xmlns:p="http://schemas.openxmlformats.org/presentationml/2006/main">
  <p:tag name="KSO_WM_UNIT_LINE_FILL_TYPE" val="2"/>
  <p:tag name="KSO_WM_UNIT_LINE_FORE_SCHEMECOLOR_INDEX" val="5"/>
  <p:tag name="KSO_WM_UNIT_LINE_FORE_SCHEMECOLOR_INDEX_BRIGHTNESS" val="0"/>
  <p:tag name="PA" val="v5.2.12"/>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16.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17.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18.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19.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1图"/>
  <p:tag name="YOO_CHAPTER_ID" val="2"/>
  <p:tag name="YOO_CHATPAGE_TYPE" val="YOO_CHATPAGE_CONTENT"/>
  <p:tag name="YOO_SECTION_ID" val="1"/>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121.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22.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23.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ISLIDE.ICON" val="#145664;#16955;"/>
  <p:tag name="TAG_CONTENT_TYPE" val="1标题1内容1图"/>
  <p:tag name="YOO_CHAPTER_ID" val="2"/>
  <p:tag name="YOO_CHATPAGE_TYPE" val="YOO_CHATPAGE_CONTENT"/>
  <p:tag name="YOO_SECTION_ID" val="2"/>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2"/>
  <p:tag name="KSO_WM_UNIT_TEXT_FILL_FORE_SCHEMECOLOR_INDEX_BRIGHTNESS" val="0"/>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26.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27.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HATPER"/>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 name="TAG_CHATSHAPE_SUBTITLE_TYPE" val="TAG_CHATSHAPE_SUBTITLE_ENGLISH"/>
  <p:tag name="YOO_CHATSHAPE_TYPE" val="YOO_CHATSHAPE_SUBTITLE"/>
</p:tagLst>
</file>

<file path=ppt/tags/tag131.xml><?xml version="1.0" encoding="utf-8"?>
<p:tagLst xmlns:a="http://schemas.openxmlformats.org/drawingml/2006/main" xmlns:r="http://schemas.openxmlformats.org/officeDocument/2006/relationships" xmlns:p="http://schemas.openxmlformats.org/presentationml/2006/main">
  <p:tag name="YOO_CHATPAGE_CHATPER" val="3"/>
  <p:tag name="YOO_CHATSHAPE_TYPE" val="YOO_CHATSHAPE_NUM"/>
</p:tagLst>
</file>

<file path=ppt/tags/tag132.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二级大纲4"/>
  <p:tag name="YOO_CHAPTER_ID" val="3"/>
  <p:tag name="YOO_CHATPAGE_TYPE" val="YOO_CHATPAGE_MULTCONTENT"/>
  <p:tag name="YOO_SECTION_ID" val="0"/>
</p:tagLst>
</file>

<file path=ppt/tags/tag133.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34.xml><?xml version="1.0" encoding="utf-8"?>
<p:tagLst xmlns:a="http://schemas.openxmlformats.org/drawingml/2006/main" xmlns:r="http://schemas.openxmlformats.org/officeDocument/2006/relationships" xmlns:p="http://schemas.openxmlformats.org/presentationml/2006/main">
  <p:tag name="TAG_CONTENT_GROUPINDEX" val="4"/>
  <p:tag name="YOO_CHATSHAPE_TYPE" val="YOO_CHATSHAPE_CHILDTITLE"/>
</p:tagLst>
</file>

<file path=ppt/tags/tag135.xml><?xml version="1.0" encoding="utf-8"?>
<p:tagLst xmlns:a="http://schemas.openxmlformats.org/drawingml/2006/main" xmlns:r="http://schemas.openxmlformats.org/officeDocument/2006/relationships" xmlns:p="http://schemas.openxmlformats.org/presentationml/2006/main">
  <p:tag name="TAG_CONTENT_GROUPINDEX" val="4"/>
  <p:tag name="YOO_CHATSHAPE_TYPE" val="YOO_CHATSHAPE_CHILDCONTENT"/>
</p:tagLst>
</file>

<file path=ppt/tags/tag136.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TITLE"/>
</p:tagLst>
</file>

<file path=ppt/tags/tag137.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CONTENT"/>
</p:tagLst>
</file>

<file path=ppt/tags/tag138.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TITLE"/>
</p:tagLst>
</file>

<file path=ppt/tags/tag139.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CONTENT"/>
</p:tagLst>
</file>

<file path=ppt/tags/tag140.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TITLE"/>
</p:tagLst>
</file>

<file path=ppt/tags/tag141.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CONTENT"/>
</p:tagLst>
</file>

<file path=ppt/tags/tag142.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1图"/>
  <p:tag name="YOO_CHAPTER_ID" val="3"/>
  <p:tag name="YOO_CHATPAGE_TYPE" val="YOO_CHATPAGE_CONTENT"/>
  <p:tag name="YOO_SECTION_ID" val="1"/>
</p:tagLst>
</file>

<file path=ppt/tags/tag143.xml><?xml version="1.0" encoding="utf-8"?>
<p:tagLst xmlns:a="http://schemas.openxmlformats.org/drawingml/2006/main" xmlns:r="http://schemas.openxmlformats.org/officeDocument/2006/relationships" xmlns:p="http://schemas.openxmlformats.org/presentationml/2006/main">
  <p:tag name="KSO_WM_UNIT_FILL_FORE_SCHEMECOLOR_INDEX" val="6"/>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44.xml><?xml version="1.0" encoding="utf-8"?>
<p:tagLst xmlns:a="http://schemas.openxmlformats.org/drawingml/2006/main" xmlns:r="http://schemas.openxmlformats.org/officeDocument/2006/relationships" xmlns:p="http://schemas.openxmlformats.org/presentationml/2006/main">
  <p:tag name="KSO_WM_UNIT_LINE_FILL_TYPE" val="2"/>
  <p:tag name="KSO_WM_UNIT_LINE_FORE_SCHEMECOLOR_INDEX" val="5"/>
  <p:tag name="KSO_WM_UNIT_LINE_FORE_SCHEMECOLOR_INDEX_BRIGHTNESS" val="0"/>
  <p:tag name="PA" val="v5.2.12"/>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 name="PA" val="v5.2.12"/>
  <p:tag name="YOO_CHATSHAPE_TYPE" val="YOO_CHATSHAPE_IMAGE"/>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48.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49.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50.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51.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二级大纲4"/>
  <p:tag name="YOO_CHAPTER_ID" val="3"/>
  <p:tag name="YOO_CHATPAGE_TYPE" val="YOO_CHATPAGE_MULTCONTENT"/>
  <p:tag name="YOO_SECTION_ID" val="2"/>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56.06937007874,&quot;left&quot;:32.85,&quot;top&quot;:139.55,&quot;width&quot;:869.5}"/>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56.06937007874,&quot;left&quot;:32.85,&quot;top&quot;:139.55,&quot;width&quot;:869.5}"/>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56.06937007874,&quot;left&quot;:32.85,&quot;top&quot;:139.55,&quot;width&quot;:869.5}"/>
</p:tagLst>
</file>

<file path=ppt/tags/tag155.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CONTENT"/>
  <p:tag name="KSO_WM_DIAGRAM_VIRTUALLY_FRAME" val="{&quot;height&quot;:356.06937007874,&quot;left&quot;:32.85,&quot;top&quot;:139.55,&quot;width&quot;:869.5}"/>
</p:tagLst>
</file>

<file path=ppt/tags/tag156.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CONTENT"/>
  <p:tag name="KSO_WM_DIAGRAM_VIRTUALLY_FRAME" val="{&quot;height&quot;:356.06937007874,&quot;left&quot;:32.85,&quot;top&quot;:139.55,&quot;width&quot;:869.5}"/>
</p:tagLst>
</file>

<file path=ppt/tags/tag157.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CONTENT"/>
  <p:tag name="KSO_WM_DIAGRAM_VIRTUALLY_FRAME" val="{&quot;height&quot;:356.06937007874,&quot;left&quot;:32.85,&quot;top&quot;:139.55,&quot;width&quot;:869.5}"/>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56.06937007874,&quot;left&quot;:32.85,&quot;top&quot;:139.55,&quot;width&quot;:869.5}"/>
</p:tagLst>
</file>

<file path=ppt/tags/tag160.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TITLE"/>
  <p:tag name="KSO_WM_DIAGRAM_VIRTUALLY_FRAME" val="{&quot;height&quot;:356.06937007874,&quot;left&quot;:32.85,&quot;top&quot;:139.55,&quot;width&quot;:869.5}"/>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56.06937007874,&quot;left&quot;:32.85,&quot;top&quot;:139.55,&quot;width&quot;:869.5}"/>
</p:tagLst>
</file>

<file path=ppt/tags/tag162.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TITLE"/>
  <p:tag name="KSO_WM_DIAGRAM_VIRTUALLY_FRAME" val="{&quot;height&quot;:356.06937007874,&quot;left&quot;:32.85,&quot;top&quot;:139.55,&quot;width&quot;:869.5}"/>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56.06937007874,&quot;left&quot;:32.85,&quot;top&quot;:139.55,&quot;width&quot;:869.5}"/>
</p:tagLst>
</file>

<file path=ppt/tags/tag164.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TITLE"/>
  <p:tag name="KSO_WM_DIAGRAM_VIRTUALLY_FRAME" val="{&quot;height&quot;:356.06937007874,&quot;left&quot;:32.85,&quot;top&quot;:139.55,&quot;width&quot;:869.5}"/>
</p:tagLst>
</file>

<file path=ppt/tags/tag165.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HATPER"/>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 name="TAG_CHATSHAPE_SUBTITLE_TYPE" val="TAG_CHATSHAPE_SUBTITLE_ENGLISH"/>
  <p:tag name="YOO_CHATSHAPE_TYPE" val="YOO_CHATSHAPE_SUBTITLE"/>
</p:tagLst>
</file>

<file path=ppt/tags/tag169.xml><?xml version="1.0" encoding="utf-8"?>
<p:tagLst xmlns:a="http://schemas.openxmlformats.org/drawingml/2006/main" xmlns:r="http://schemas.openxmlformats.org/officeDocument/2006/relationships" xmlns:p="http://schemas.openxmlformats.org/presentationml/2006/main">
  <p:tag name="YOO_CHATPAGE_CHATPER" val="4"/>
  <p:tag name="YOO_CHATSHAPE_TYPE" val="YOO_CHATSHAPE_NUM"/>
</p:tagLst>
</file>

<file path=ppt/tags/tag170.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二级大纲3"/>
  <p:tag name="YOO_CHAPTER_ID" val="4"/>
  <p:tag name="YOO_CHATPAGE_TYPE" val="YOO_CHATPAGE_MULTCONTENT"/>
  <p:tag name="YOO_SECTION_ID" val="0"/>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72.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CONTENT"/>
</p:tagLst>
</file>

<file path=ppt/tags/tag173.xml><?xml version="1.0" encoding="utf-8"?>
<p:tagLst xmlns:a="http://schemas.openxmlformats.org/drawingml/2006/main" xmlns:r="http://schemas.openxmlformats.org/officeDocument/2006/relationships" xmlns:p="http://schemas.openxmlformats.org/presentationml/2006/main">
  <p:tag name="TAG_CONTENT_GROUPINDEX" val="3"/>
  <p:tag name="YOO_CHATSHAPE_TYPE" val="YOO_CHATSHAPE_CHILDTITLE"/>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 name="TAG_CONTENT_GROUPINDEX" val="2"/>
  <p:tag name="YOO_CHATSHAPE_TYPE" val="YOO_CHATSHAPE_CHILDCONTENT"/>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 name="TAG_CONTENT_GROUPINDEX" val="2"/>
  <p:tag name="YOO_CHATSHAPE_TYPE" val="YOO_CHATSHAPE_CHILDTITLE"/>
</p:tagLst>
</file>

<file path=ppt/tags/tag176.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CONTENT"/>
</p:tagLst>
</file>

<file path=ppt/tags/tag177.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TITLE"/>
</p:tagLst>
</file>

<file path=ppt/tags/tag178.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1标题1内容1图"/>
  <p:tag name="YOO_CHAPTER_ID" val="4"/>
  <p:tag name="YOO_CHATPAGE_TYPE" val="YOO_CHATPAGE_CONTENT"/>
  <p:tag name="YOO_SECTION_ID" val="1"/>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81.xml><?xml version="1.0" encoding="utf-8"?>
<p:tagLst xmlns:a="http://schemas.openxmlformats.org/drawingml/2006/main" xmlns:r="http://schemas.openxmlformats.org/officeDocument/2006/relationships" xmlns:p="http://schemas.openxmlformats.org/presentationml/2006/main">
  <p:tag name="YOO_CHATSHAPE_TYPE" val="YOO_CHATPAGE_CONTENT"/>
</p:tagLst>
</file>

<file path=ppt/tags/tag182.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TAG_CONTENT_TYPE" val="二级大纲4"/>
  <p:tag name="YOO_CHAPTER_ID" val="4"/>
  <p:tag name="YOO_CHATPAGE_TYPE" val="YOO_CHATPAGE_MULTCONTENT"/>
  <p:tag name="YOO_SECTION_ID" val="2"/>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30.475748031496,&quot;left&quot;:87.63259842519685,&quot;top&quot;:116.98913385826772,&quot;width&quot;:786.6174015748031}"/>
</p:tagLst>
</file>

<file path=ppt/tags/tag185.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TITLE"/>
  <p:tag name="KSO_WM_DIAGRAM_VIRTUALLY_FRAME" val="{&quot;height&quot;:330.475748031496,&quot;left&quot;:87.63259842519685,&quot;top&quot;:116.98913385826772,&quot;width&quot;:786.6174015748031}"/>
</p:tagLst>
</file>

<file path=ppt/tags/tag186.xml><?xml version="1.0" encoding="utf-8"?>
<p:tagLst xmlns:a="http://schemas.openxmlformats.org/drawingml/2006/main" xmlns:r="http://schemas.openxmlformats.org/officeDocument/2006/relationships" xmlns:p="http://schemas.openxmlformats.org/presentationml/2006/main">
  <p:tag name="TAG_CONTENT_GROUPINDEX" val="2"/>
  <p:tag name="YOO_CHATSHAPE_TYPE" val="YOO_CHATSHAPE_CHILDCONTENT"/>
  <p:tag name="KSO_WM_DIAGRAM_VIRTUALLY_FRAME" val="{&quot;height&quot;:330.475748031496,&quot;left&quot;:87.63259842519685,&quot;top&quot;:116.98913385826772,&quot;width&quot;:786.6174015748031}"/>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30.475748031496,&quot;left&quot;:87.63259842519685,&quot;top&quot;:116.98913385826772,&quot;width&quot;:786.6174015748031}"/>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30.475748031496,&quot;left&quot;:87.63259842519685,&quot;top&quot;:116.98913385826772,&quot;width&quot;:786.6174015748031}"/>
</p:tagLst>
</file>

<file path=ppt/tags/tag189.xml><?xml version="1.0" encoding="utf-8"?>
<p:tagLst xmlns:a="http://schemas.openxmlformats.org/drawingml/2006/main" xmlns:r="http://schemas.openxmlformats.org/officeDocument/2006/relationships" xmlns:p="http://schemas.openxmlformats.org/presentationml/2006/main">
  <p:tag name="TAG_CONTENT_GROUPINDEX" val="1"/>
  <p:tag name="YOO_CHATSHAPE_TYPE" val="YOO_CHATSHAPE_CHILDCONTENT"/>
  <p:tag name="KSO_WM_DIAGRAM_VIRTUALLY_FRAME" val="{&quot;height&quot;:330.475748031496,&quot;left&quot;:87.63259842519685,&quot;top&quot;:116.98913385826772,&quot;width&quot;:786.6174015748031}"/>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30.475748031496,&quot;left&quot;:87.63259842519685,&quot;top&quot;:116.98913385826772,&quot;width&quot;:786.6174015748031}"/>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30.475748031496,&quot;left&quot;:87.63259842519685,&quot;top&quot;:116.98913385826772,&quot;width&quot;:786.6174015748031}"/>
</p:tagLst>
</file>

<file path=ppt/tags/tag192.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CHATPER"/>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 name="TAG_CHATSHAPE_SUBTITLE_TYPE" val="TAG_CHATSHAPE_SUBTITLE_ENGLISH"/>
  <p:tag name="YOO_CHATSHAPE_TYPE" val="YOO_CHATSHAPE_SUBTITLE"/>
</p:tagLst>
</file>

<file path=ppt/tags/tag196.xml><?xml version="1.0" encoding="utf-8"?>
<p:tagLst xmlns:a="http://schemas.openxmlformats.org/drawingml/2006/main" xmlns:r="http://schemas.openxmlformats.org/officeDocument/2006/relationships" xmlns:p="http://schemas.openxmlformats.org/presentationml/2006/main">
  <p:tag name="YOO_CHATPAGE_CHATPER" val="4"/>
  <p:tag name="YOO_CHATSHAPE_TYPE" val="YOO_CHATSHAPE_NUM"/>
</p:tagLst>
</file>

<file path=ppt/tags/tag197.xml><?xml version="1.0" encoding="utf-8"?>
<p:tagLst xmlns:a="http://schemas.openxmlformats.org/drawingml/2006/main" xmlns:r="http://schemas.openxmlformats.org/officeDocument/2006/relationships" xmlns:p="http://schemas.openxmlformats.org/presentationml/2006/main">
  <p:tag name="AIGCCREATORID" val="AIGC生成内容仅供参考-2024/4/9 13:13:56 -0"/>
  <p:tag name="YOO_CHATPAGE_TYPE" val="YOO_CHATPAGE_END"/>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TITLE"/>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 name="YOO_CHATSHAPE_TYPE" val="YOO_CHATSHAPE_SUBTITLE"/>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 name="YOO_CHATSHAPE_TYPE" val="YOO_CHATSHAPE_DATE"/>
</p:tagLst>
</file>

<file path=ppt/theme/theme1.xml><?xml version="1.0" encoding="utf-8"?>
<a:theme xmlns:a="http://schemas.openxmlformats.org/drawingml/2006/main" name="Office Theme">
  <a:themeElements>
    <a:clrScheme name="Office">
      <a:dk1>
        <a:srgbClr val="071D38"/>
      </a:dk1>
      <a:lt1>
        <a:srgbClr val="FFFFFF"/>
      </a:lt1>
      <a:dk2>
        <a:srgbClr val="FFFFFF"/>
      </a:dk2>
      <a:lt2>
        <a:srgbClr val="273649"/>
      </a:lt2>
      <a:accent1>
        <a:srgbClr val="3690FF"/>
      </a:accent1>
      <a:accent2>
        <a:srgbClr val="3BBAEB"/>
      </a:accent2>
      <a:accent3>
        <a:srgbClr val="396AFC"/>
      </a:accent3>
      <a:accent4>
        <a:srgbClr val="B2F7EF"/>
      </a:accent4>
      <a:accent5>
        <a:srgbClr val="48BFE3"/>
      </a:accent5>
      <a:accent6>
        <a:srgbClr val="F5EBC9"/>
      </a:accent6>
      <a:hlink>
        <a:srgbClr val="3690FF"/>
      </a:hlink>
      <a:folHlink>
        <a:srgbClr val="3BBAEB"/>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TotalTime>
  <Words>2627</Words>
  <Application>Microsoft Office PowerPoint</Application>
  <PresentationFormat>宽屏</PresentationFormat>
  <Paragraphs>212</Paragraphs>
  <Slides>26</Slides>
  <Notes>24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等线</vt:lpstr>
      <vt:lpstr>微软雅黑</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keywords>AIGC生成内容仅供参考-2024/4/9 13:13:56 -0</cp:keywords>
  <cp:lastModifiedBy>韵升 崔</cp:lastModifiedBy>
  <cp:revision>18</cp:revision>
  <cp:lastPrinted>2024-04-09T13:13:00Z</cp:lastPrinted>
  <dcterms:created xsi:type="dcterms:W3CDTF">2024-04-09T05:13:00Z</dcterms:created>
  <dcterms:modified xsi:type="dcterms:W3CDTF">2024-09-08T08:35:58Z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247884EAFE9042028E1F522B5C794EAD_13</vt:lpwstr>
  </property>
  <property fmtid="{D5CDD505-2E9C-101B-9397-08002B2CF9AE}" pid="3" name="KSOProductBuildVer">
    <vt:lpwstr>2052-12.1.0.16729</vt:lpwstr>
  </property>
</Properties>
</file>